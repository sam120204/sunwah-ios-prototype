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9b05d479714066" /><Relationship Type="http://schemas.openxmlformats.org/officeDocument/2006/relationships/extended-properties" Target="/docProps/app.xml" Id="R3c32c100a4cb4781" /><Relationship Type="http://schemas.openxmlformats.org/officeDocument/2006/relationships/officeDocument" Target="/ppt/presentation.xml" Id="Rc51b000a8aa74b5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eba080f83f14023"/>
  </p:sldMasterIdLst>
  <p:notesMasterIdLst>
    <p:notesMasterId xmlns:r="http://schemas.openxmlformats.org/officeDocument/2006/relationships" r:id="R7af0d9a785994c3e"/>
  </p:notesMasterIdLst>
  <p:sldIdLst>
    <p:sldId xmlns:r="http://schemas.openxmlformats.org/officeDocument/2006/relationships" id="256" r:id="R402f195f9c0b4340"/>
    <p:sldId xmlns:r="http://schemas.openxmlformats.org/officeDocument/2006/relationships" id="257" r:id="Re8e97005ad654e1a"/>
    <p:sldId xmlns:r="http://schemas.openxmlformats.org/officeDocument/2006/relationships" id="258" r:id="Rea400f71eca0469f"/>
    <p:sldId xmlns:r="http://schemas.openxmlformats.org/officeDocument/2006/relationships" id="259" r:id="Rd48e035fb8ba4b34"/>
    <p:sldId xmlns:r="http://schemas.openxmlformats.org/officeDocument/2006/relationships" id="260" r:id="R9f15f352d51541c1"/>
    <p:sldId xmlns:r="http://schemas.openxmlformats.org/officeDocument/2006/relationships" id="261" r:id="R12914ebfbee54df2"/>
    <p:sldId xmlns:r="http://schemas.openxmlformats.org/officeDocument/2006/relationships" id="262" r:id="R99c6483d683440fc"/>
    <p:sldId xmlns:r="http://schemas.openxmlformats.org/officeDocument/2006/relationships" id="263" r:id="R60c3bd1500c54f07"/>
    <p:sldId xmlns:r="http://schemas.openxmlformats.org/officeDocument/2006/relationships" id="264" r:id="R753e440caf34433d"/>
    <p:sldId xmlns:r="http://schemas.openxmlformats.org/officeDocument/2006/relationships" id="265" r:id="R61fedde7e5364eb1"/>
  </p:sldIdLst>
  <p:sldSz cx="12192000" cy="6858000"/>
  <p:notesSz cx="6858000" cy="9144000"/>
  <p:embeddedFontLst>
    <p:embeddedFont>
      <p:font typeface="Georgia"/>
      <p:regular xmlns:r="http://schemas.openxmlformats.org/officeDocument/2006/relationships" r:id="R9bb71b6f4f71400c"/>
      <p:bold xmlns:r="http://schemas.openxmlformats.org/officeDocument/2006/relationships" r:id="R1c833f1946e644b5"/>
      <p:italic xmlns:r="http://schemas.openxmlformats.org/officeDocument/2006/relationships" r:id="R675c3388b2d14e81"/>
      <p:boldItalic xmlns:r="http://schemas.openxmlformats.org/officeDocument/2006/relationships" r:id="R7eb8cb6c8bda4a99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0bef467b9e459d" /><Relationship Type="http://schemas.openxmlformats.org/officeDocument/2006/relationships/slideMaster" Target="/ppt/slideMasters/slideMaster1.xml" Id="R2eba080f83f14023" /><Relationship Type="http://schemas.openxmlformats.org/officeDocument/2006/relationships/notesMaster" Target="/ppt/notesMasters/notesMaster1.xml" Id="R7af0d9a785994c3e" /><Relationship Type="http://schemas.openxmlformats.org/officeDocument/2006/relationships/presProps" Target="/ppt/presProps.xml" Id="R70780b230d1e42b9" /><Relationship Type="http://schemas.openxmlformats.org/officeDocument/2006/relationships/viewProps" Target="/ppt/viewProps.xml" Id="Ra44a44f23a91440e" /><Relationship Type="http://schemas.openxmlformats.org/officeDocument/2006/relationships/tableStyles" Target="/ppt/tableStyles.xml" Id="Rdb8cc33c2245466e" /><Relationship Type="http://schemas.openxmlformats.org/officeDocument/2006/relationships/font" Target="/ppt/fonts/font.dat" Id="R9bb71b6f4f71400c" /><Relationship Type="http://schemas.openxmlformats.org/officeDocument/2006/relationships/font" Target="/ppt/fonts/font2.dat" Id="R1c833f1946e644b5" /><Relationship Type="http://schemas.openxmlformats.org/officeDocument/2006/relationships/font" Target="/ppt/fonts/font3.dat" Id="R675c3388b2d14e81" /><Relationship Type="http://schemas.openxmlformats.org/officeDocument/2006/relationships/font" Target="/ppt/fonts/font4.dat" Id="R7eb8cb6c8bda4a99" /><Relationship Type="http://schemas.openxmlformats.org/officeDocument/2006/relationships/slide" Target="/ppt/slides/slide1.xml" Id="R402f195f9c0b4340" /><Relationship Type="http://schemas.openxmlformats.org/officeDocument/2006/relationships/slide" Target="/ppt/slides/slide2.xml" Id="Re8e97005ad654e1a" /><Relationship Type="http://schemas.openxmlformats.org/officeDocument/2006/relationships/slide" Target="/ppt/slides/slide3.xml" Id="Rea400f71eca0469f" /><Relationship Type="http://schemas.openxmlformats.org/officeDocument/2006/relationships/slide" Target="/ppt/slides/slide4.xml" Id="Rd48e035fb8ba4b34" /><Relationship Type="http://schemas.openxmlformats.org/officeDocument/2006/relationships/slide" Target="/ppt/slides/slide5.xml" Id="R9f15f352d51541c1" /><Relationship Type="http://schemas.openxmlformats.org/officeDocument/2006/relationships/slide" Target="/ppt/slides/slide6.xml" Id="R12914ebfbee54df2" /><Relationship Type="http://schemas.openxmlformats.org/officeDocument/2006/relationships/slide" Target="/ppt/slides/slide7.xml" Id="R99c6483d683440fc" /><Relationship Type="http://schemas.openxmlformats.org/officeDocument/2006/relationships/slide" Target="/ppt/slides/slide8.xml" Id="R60c3bd1500c54f07" /><Relationship Type="http://schemas.openxmlformats.org/officeDocument/2006/relationships/slide" Target="/ppt/slides/slide9.xml" Id="R753e440caf34433d" /><Relationship Type="http://schemas.openxmlformats.org/officeDocument/2006/relationships/slide" Target="/ppt/slides/slide10.xml" Id="R61fedde7e5364e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c09792604f4f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88d7586b284190" /><Relationship Type="http://schemas.openxmlformats.org/officeDocument/2006/relationships/notesMaster" Target="/ppt/notesMasters/notesMaster1.xml" Id="R5c4999ede5864e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02c04d26cc4bfc" /><Relationship Type="http://schemas.openxmlformats.org/officeDocument/2006/relationships/notesMaster" Target="/ppt/notesMasters/notesMaster1.xml" Id="R3ee1ff1cb1814d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8c6e53e8a45e5" /><Relationship Type="http://schemas.openxmlformats.org/officeDocument/2006/relationships/notesMaster" Target="/ppt/notesMasters/notesMaster1.xml" Id="R8d8d9a17f8df4d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ff7581f3084b4c" /><Relationship Type="http://schemas.openxmlformats.org/officeDocument/2006/relationships/notesMaster" Target="/ppt/notesMasters/notesMaster1.xml" Id="R3a9b270dc98947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bbc41ddfd943b6" /><Relationship Type="http://schemas.openxmlformats.org/officeDocument/2006/relationships/notesMaster" Target="/ppt/notesMasters/notesMaster1.xml" Id="R315fcb1e467443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8a70c33320442c" /><Relationship Type="http://schemas.openxmlformats.org/officeDocument/2006/relationships/notesMaster" Target="/ppt/notesMasters/notesMaster1.xml" Id="R4f1b1cad3cb540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66f315bd8d4058" /><Relationship Type="http://schemas.openxmlformats.org/officeDocument/2006/relationships/notesMaster" Target="/ppt/notesMasters/notesMaster1.xml" Id="R737d03bb791641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15423cada142b7" /><Relationship Type="http://schemas.openxmlformats.org/officeDocument/2006/relationships/notesMaster" Target="/ppt/notesMasters/notesMaster1.xml" Id="Ree849773bdb041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b21f72780436d" /><Relationship Type="http://schemas.openxmlformats.org/officeDocument/2006/relationships/notesMaster" Target="/ppt/notesMasters/notesMaster1.xml" Id="Rec404c41adc64f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ff92bd3d0444a3" /><Relationship Type="http://schemas.openxmlformats.org/officeDocument/2006/relationships/notesMaster" Target="/ppt/notesMasters/notesMaster1.xml" Id="Rccce5fa8383c4b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373db70a246f0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fe401a01c4fef" /><Relationship Type="http://schemas.openxmlformats.org/officeDocument/2006/relationships/slideLayout" Target="/ppt/slideLayouts/slideLayout1.xml" Id="R9ebe3e18681246d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E2F93B6-F1A2-418A-9046-7293889E3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C1845EB-109E-4B7D-AC99-BF14BAE5BAA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har char=""/>
              <a:defRPr sz="32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1pPr>
            <a:lvl2pPr algn="l">
              <a:spcBef>
                <a:spcPts val="1134"/>
              </a:spcBef>
              <a:buChar char=""/>
              <a:defRPr sz="24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2pPr>
            <a:lvl3pPr algn="l">
              <a:spcBef>
                <a:spcPts val="850"/>
              </a:spcBef>
              <a:buChar char="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3pPr>
            <a:lvl4pPr algn="l">
              <a:spcBef>
                <a:spcPts val="567"/>
              </a:spcBef>
              <a:buChar char="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4pPr>
            <a:lvl5pPr algn="l">
              <a:spcBef>
                <a:spcPts val="283"/>
              </a:spcBef>
              <a:buChar char="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5pPr>
            <a:lvl6pPr algn="l">
              <a:spcBef>
                <a:spcPts val="283"/>
              </a:spcBef>
              <a:buChar char="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6pPr>
            <a:lvl7pPr algn="l">
              <a:spcBef>
                <a:spcPts val="283"/>
              </a:spcBef>
              <a:buChar char="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har char=""/>
            </a:pPr>
            <a:r>
              <a:rPr sz="32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har char=""/>
            </a:pPr>
            <a:r>
              <a:rPr sz="24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har char="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be3e18681246d9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67a716d5645de" /><Relationship Type="http://schemas.openxmlformats.org/officeDocument/2006/relationships/image" Target="/ppt/media/image.png" Id="Rdc44c4c9c16448ac" /><Relationship Type="http://schemas.openxmlformats.org/officeDocument/2006/relationships/notesSlide" Target="/ppt/notesSlides/notesSlide1.xml" Id="R1c86260723b844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68788f85944d8" /><Relationship Type="http://schemas.openxmlformats.org/officeDocument/2006/relationships/image" Target="/ppt/media/image2.png" Id="R6030a4a55e684761" /><Relationship Type="http://schemas.openxmlformats.org/officeDocument/2006/relationships/image" Target="/ppt/media/image3.png" Id="R7f46e7a689764f5b" /><Relationship Type="http://schemas.openxmlformats.org/officeDocument/2006/relationships/image" Target="/ppt/media/image4.png" Id="Rf6abec63f94d4d56" /><Relationship Type="http://schemas.openxmlformats.org/officeDocument/2006/relationships/image" Target="/ppt/media/image5.png" Id="R6121d1cd418140bc" /><Relationship Type="http://schemas.openxmlformats.org/officeDocument/2006/relationships/notesSlide" Target="/ppt/notesSlides/notesSlide2.xml" Id="R4acefc837c644d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cc34f6f1f4af6" /><Relationship Type="http://schemas.openxmlformats.org/officeDocument/2006/relationships/notesSlide" Target="/ppt/notesSlides/notesSlide3.xml" Id="R5a9cfa1107bd4f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fd307661044d5" /><Relationship Type="http://schemas.openxmlformats.org/officeDocument/2006/relationships/image" Target="/ppt/media/image6.png" Id="Ree0ad3c06f434f56" /><Relationship Type="http://schemas.openxmlformats.org/officeDocument/2006/relationships/image" Target="/ppt/media/image7.png" Id="Raf84501afcac4424" /><Relationship Type="http://schemas.openxmlformats.org/officeDocument/2006/relationships/notesSlide" Target="/ppt/notesSlides/notesSlide4.xml" Id="R5c263ee74ee64e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f71dac10d4f3a" /><Relationship Type="http://schemas.openxmlformats.org/officeDocument/2006/relationships/image" Target="/ppt/media/image8.png" Id="R883e95a921874da0" /><Relationship Type="http://schemas.openxmlformats.org/officeDocument/2006/relationships/image" Target="/ppt/media/image9.png" Id="Reb066a78e39e4e70" /><Relationship Type="http://schemas.openxmlformats.org/officeDocument/2006/relationships/image" Target="/ppt/media/image10.png" Id="Ra33cae951f7b42df" /><Relationship Type="http://schemas.openxmlformats.org/officeDocument/2006/relationships/image" Target="/ppt/media/image11.png" Id="Re2d840b7eb6a425b" /><Relationship Type="http://schemas.openxmlformats.org/officeDocument/2006/relationships/image" Target="/ppt/media/image12.png" Id="Rd5830baa1b4d428e" /><Relationship Type="http://schemas.openxmlformats.org/officeDocument/2006/relationships/image" Target="/ppt/media/image13.png" Id="R5a7a90a6c8fa4219" /><Relationship Type="http://schemas.openxmlformats.org/officeDocument/2006/relationships/notesSlide" Target="/ppt/notesSlides/notesSlide5.xml" Id="R389c41e202a74a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70f193781446f" /><Relationship Type="http://schemas.openxmlformats.org/officeDocument/2006/relationships/image" Target="/ppt/media/image3.png" Id="Re6708d9b7930426e" /><Relationship Type="http://schemas.openxmlformats.org/officeDocument/2006/relationships/image" Target="/ppt/media/image14.png" Id="Ra6669bafb14f489a" /><Relationship Type="http://schemas.openxmlformats.org/officeDocument/2006/relationships/notesSlide" Target="/ppt/notesSlides/notesSlide6.xml" Id="Reb7c92a9c74e4b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6d632e2884676" /><Relationship Type="http://schemas.openxmlformats.org/officeDocument/2006/relationships/image" Target="/ppt/media/image15.png" Id="Rf04b1d69139c4f99" /><Relationship Type="http://schemas.openxmlformats.org/officeDocument/2006/relationships/image" Target="/ppt/media/image16.png" Id="Rec50bdc0f6b641ac" /><Relationship Type="http://schemas.openxmlformats.org/officeDocument/2006/relationships/image" Target="/ppt/media/image17.png" Id="R30e373102e304de6" /><Relationship Type="http://schemas.openxmlformats.org/officeDocument/2006/relationships/image" Target="/ppt/media/image18.png" Id="R13efc150896945cb" /><Relationship Type="http://schemas.openxmlformats.org/officeDocument/2006/relationships/image" Target="/ppt/media/image19.png" Id="R8fdfe30565354b48" /><Relationship Type="http://schemas.openxmlformats.org/officeDocument/2006/relationships/image" Target="/ppt/media/image20.png" Id="R2881d4d05a9c4842" /><Relationship Type="http://schemas.openxmlformats.org/officeDocument/2006/relationships/notesSlide" Target="/ppt/notesSlides/notesSlide7.xml" Id="R57e58718155f4c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94d23e6bf4871" /><Relationship Type="http://schemas.openxmlformats.org/officeDocument/2006/relationships/image" Target="/ppt/media/image21.png" Id="Ra7326be6238241d9" /><Relationship Type="http://schemas.openxmlformats.org/officeDocument/2006/relationships/image" Target="/ppt/media/image22.png" Id="R1cc5a016680a4208" /><Relationship Type="http://schemas.openxmlformats.org/officeDocument/2006/relationships/image" Target="/ppt/media/image23.png" Id="R71472a24113a46fb" /><Relationship Type="http://schemas.openxmlformats.org/officeDocument/2006/relationships/image" Target="/ppt/media/image24.png" Id="Rd8debbed78be450b" /><Relationship Type="http://schemas.openxmlformats.org/officeDocument/2006/relationships/image" Target="/ppt/media/image25.png" Id="R55b1d8be5de74f27" /><Relationship Type="http://schemas.openxmlformats.org/officeDocument/2006/relationships/notesSlide" Target="/ppt/notesSlides/notesSlide8.xml" Id="Rbdcfeb41e5594b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0d91bf98e4e58" /><Relationship Type="http://schemas.openxmlformats.org/officeDocument/2006/relationships/image" Target="/ppt/media/image26.png" Id="Rf71a426f8eef4ae1" /><Relationship Type="http://schemas.openxmlformats.org/officeDocument/2006/relationships/image" Target="/ppt/media/image27.png" Id="R8b62294e2d774e9a" /><Relationship Type="http://schemas.openxmlformats.org/officeDocument/2006/relationships/image" Target="/ppt/media/image28.png" Id="R5e07c36df2914602" /><Relationship Type="http://schemas.openxmlformats.org/officeDocument/2006/relationships/image" Target="/ppt/media/image29.png" Id="Rcd992a8f13d54d40" /><Relationship Type="http://schemas.openxmlformats.org/officeDocument/2006/relationships/image" Target="/ppt/media/image30.png" Id="R9ad9558b99564ae0" /><Relationship Type="http://schemas.openxmlformats.org/officeDocument/2006/relationships/notesSlide" Target="/ppt/notesSlides/notesSlide9.xml" Id="R7c8945018b9540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b1a5d94b24a8c" /><Relationship Type="http://schemas.openxmlformats.org/officeDocument/2006/relationships/image" Target="/ppt/media/image31.png" Id="R3bb9b9ac71614886" /><Relationship Type="http://schemas.openxmlformats.org/officeDocument/2006/relationships/image" Target="/ppt/media/image32.png" Id="Rf6af56621ede4f11" /><Relationship Type="http://schemas.openxmlformats.org/officeDocument/2006/relationships/image" Target="/ppt/media/image33.png" Id="Rfebeb2c676174e0d" /><Relationship Type="http://schemas.openxmlformats.org/officeDocument/2006/relationships/image" Target="/ppt/media/image34.png" Id="R7c33131bc17345fe" /><Relationship Type="http://schemas.openxmlformats.org/officeDocument/2006/relationships/image" Target="/ppt/media/image35.png" Id="R9c55201757a041b9" /><Relationship Type="http://schemas.openxmlformats.org/officeDocument/2006/relationships/notesSlide" Target="/ppt/notesSlides/notesSlide10.xml" Id="R3004f34035b841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4c4c9c16448ac"/>
          <a:stretch xmlns:a="http://schemas.openxmlformats.org/drawingml/2006/main"/>
        </p:blipFill>
        <p:spPr>
          <a:xfrm xmlns:a="http://schemas.openxmlformats.org/drawingml/2006/main">
            <a:off x="1254240" y="663120"/>
            <a:ext cx="10934280" cy="61534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1" name="Text 0">
            <a:extLst xmlns:a="http://schemas.openxmlformats.org/drawingml/2006/main">
              <a:ext uri="{FF2B5EF4-FFF2-40B4-BE49-F238E27FC236}">
                <a16:creationId xmlns:a16="http://schemas.microsoft.com/office/drawing/2014/main" id="{57D16872-0B85-44BD-98A2-A0A48D2B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80"/>
            <a:ext cx="28342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SUNWAH  FINTECH</a:t>
            </a:r>
          </a:p>
        </p:txBody>
      </p:sp>
      <p:sp>
        <p:nvSpPr>
          <p:cNvPr id="12" name="Text 1">
            <a:extLst xmlns:a="http://schemas.openxmlformats.org/drawingml/2006/main">
              <a:ext uri="{FF2B5EF4-FFF2-40B4-BE49-F238E27FC236}">
                <a16:creationId xmlns:a16="http://schemas.microsoft.com/office/drawing/2014/main" id="{48E2753C-EC9B-4345-8FBB-A8CD220E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80" y="1181160"/>
            <a:ext cx="7223400" cy="131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54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SUNWAH Fintech M2</a:t>
            </a:r>
          </a:p>
        </p:txBody>
      </p:sp>
      <p:sp>
        <p:nvSpPr>
          <p:cNvPr id="13" name="Shape 2">
            <a:extLst xmlns:a="http://schemas.openxmlformats.org/drawingml/2006/main">
              <a:ext uri="{FF2B5EF4-FFF2-40B4-BE49-F238E27FC236}">
                <a16:creationId xmlns:a16="http://schemas.microsoft.com/office/drawing/2014/main" id="{72A412CD-63D7-4C3F-8817-5B897FF4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822600" cy="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960" rIns="90000" bIns="-3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Shape 3">
            <a:extLst xmlns:a="http://schemas.openxmlformats.org/drawingml/2006/main">
              <a:ext uri="{FF2B5EF4-FFF2-40B4-BE49-F238E27FC236}">
                <a16:creationId xmlns:a16="http://schemas.microsoft.com/office/drawing/2014/main" id="{BEABEFD8-57F3-4131-891A-5AA8272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61200"/>
            <a:ext cx="6309360" cy="36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Text 4">
            <a:extLst xmlns:a="http://schemas.openxmlformats.org/drawingml/2006/main">
              <a:ext uri="{FF2B5EF4-FFF2-40B4-BE49-F238E27FC236}">
                <a16:creationId xmlns:a16="http://schemas.microsoft.com/office/drawing/2014/main" id="{7F113B6F-6ECE-420E-AC3D-2C9F1907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27320"/>
            <a:ext cx="5394600" cy="32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Functional Acceptance Walkthrough</a:t>
            </a:r>
          </a:p>
        </p:txBody>
      </p:sp>
      <p:sp>
        <p:nvSpPr>
          <p:cNvPr id="16" name="Text 5">
            <a:extLst xmlns:a="http://schemas.openxmlformats.org/drawingml/2006/main">
              <a:ext uri="{FF2B5EF4-FFF2-40B4-BE49-F238E27FC236}">
                <a16:creationId xmlns:a16="http://schemas.microsoft.com/office/drawing/2014/main" id="{AAA10493-C65A-41A2-A8C8-E6FDF70D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680"/>
            <a:ext cx="720504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2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Documentation, presentation and video share one Module → User Story → Walkthrough → Acceptance Criteria evidence chain.</a:t>
            </a: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F81FA320-6B6D-4ED1-9A06-E34C2E72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" name="Text 8">
            <a:extLst xmlns:a="http://schemas.openxmlformats.org/drawingml/2006/main">
              <a:ext uri="{FF2B5EF4-FFF2-40B4-BE49-F238E27FC236}">
                <a16:creationId xmlns:a16="http://schemas.microsoft.com/office/drawing/2014/main" id="{78DA3F41-22E9-49C6-837C-A1DA5AD3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Live Cloud</a:t>
            </a:r>
          </a:p>
        </p:txBody>
      </p:sp>
      <p:sp>
        <p:nvSpPr>
          <p:cNvPr id="19" name="Shape 9">
            <a:extLst xmlns:a="http://schemas.openxmlformats.org/drawingml/2006/main">
              <a:ext uri="{FF2B5EF4-FFF2-40B4-BE49-F238E27FC236}">
                <a16:creationId xmlns:a16="http://schemas.microsoft.com/office/drawing/2014/main" id="{9588028E-6016-4869-B36E-F6FBD6A3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Text 11">
            <a:extLst xmlns:a="http://schemas.openxmlformats.org/drawingml/2006/main">
              <a:ext uri="{FF2B5EF4-FFF2-40B4-BE49-F238E27FC236}">
                <a16:creationId xmlns:a16="http://schemas.microsoft.com/office/drawing/2014/main" id="{BA9114FE-5129-460F-94B1-9F47AAE8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24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11 Stories</a:t>
            </a:r>
          </a:p>
        </p:txBody>
      </p:sp>
      <p:sp>
        <p:nvSpPr>
          <p:cNvPr id="21" name="Shape 12">
            <a:extLst xmlns:a="http://schemas.openxmlformats.org/drawingml/2006/main">
              <a:ext uri="{FF2B5EF4-FFF2-40B4-BE49-F238E27FC236}">
                <a16:creationId xmlns:a16="http://schemas.microsoft.com/office/drawing/2014/main" id="{1A9C86E1-6A1F-43D8-AB98-44E5D219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DED22C94-0F3C-45B1-AFFD-05EB43BD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76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iOS App</a:t>
            </a:r>
          </a:p>
        </p:txBody>
      </p:sp>
      <p:sp>
        <p:nvSpPr>
          <p:cNvPr id="23" name="Shape 15">
            <a:extLst xmlns:a="http://schemas.openxmlformats.org/drawingml/2006/main">
              <a:ext uri="{FF2B5EF4-FFF2-40B4-BE49-F238E27FC236}">
                <a16:creationId xmlns:a16="http://schemas.microsoft.com/office/drawing/2014/main" id="{9377F10E-E9EE-4D91-A3E9-F92174FD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3E43427E-8E1A-4BA0-AF6D-C6931F1A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64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Web Admin</a:t>
            </a:r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0DB6974A-E333-4193-AC2B-E97E45B9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2C47BC53-D7A3-4F81-B75B-BA643E06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52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AC Traceable</a:t>
            </a:r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88CF46AB-AFAE-4977-9478-081DA9A3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8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3C181BDB-4AE2-41E6-A00C-6C2B11CA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July 2026</a:t>
            </a:r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C03860DD-E9C8-4D29-A37C-F0ACF5EF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35920"/>
            <a:ext cx="10972800" cy="36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D4187682-ACE5-43C6-8123-516D45A2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0"/>
            <a:ext cx="420588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SUNWAH FINTECH · M2 Functional Acceptance Walkthrough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3BB1C9EF-4D14-44E3-8EEE-0D351A75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82440"/>
            <a:ext cx="77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20076643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hape 0">
            <a:extLst xmlns:a="http://schemas.openxmlformats.org/drawingml/2006/main">
              <a:ext uri="{FF2B5EF4-FFF2-40B4-BE49-F238E27FC236}">
                <a16:creationId xmlns:a16="http://schemas.microsoft.com/office/drawing/2014/main" id="{C896F6FD-67F6-4FE3-8BBC-63E9AB48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" name="Shape 1">
            <a:extLst xmlns:a="http://schemas.openxmlformats.org/drawingml/2006/main">
              <a:ext uri="{FF2B5EF4-FFF2-40B4-BE49-F238E27FC236}">
                <a16:creationId xmlns:a16="http://schemas.microsoft.com/office/drawing/2014/main" id="{7E2BCB3D-44E9-4EE9-88B1-8CD7249D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4" name="Text 2">
            <a:extLst xmlns:a="http://schemas.openxmlformats.org/drawingml/2006/main">
              <a:ext uri="{FF2B5EF4-FFF2-40B4-BE49-F238E27FC236}">
                <a16:creationId xmlns:a16="http://schemas.microsoft.com/office/drawing/2014/main" id="{E7490D64-93B8-491B-A293-8C78B5A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35" name="Shape 3">
            <a:extLst xmlns:a="http://schemas.openxmlformats.org/drawingml/2006/main">
              <a:ext uri="{FF2B5EF4-FFF2-40B4-BE49-F238E27FC236}">
                <a16:creationId xmlns:a16="http://schemas.microsoft.com/office/drawing/2014/main" id="{687D323C-CFA0-4C20-AEE7-B8C93010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" name="Shape 4">
            <a:extLst xmlns:a="http://schemas.openxmlformats.org/drawingml/2006/main">
              <a:ext uri="{FF2B5EF4-FFF2-40B4-BE49-F238E27FC236}">
                <a16:creationId xmlns:a16="http://schemas.microsoft.com/office/drawing/2014/main" id="{CFCBF6C1-087E-4F16-9976-279F3452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" name="Shape 5">
            <a:extLst xmlns:a="http://schemas.openxmlformats.org/drawingml/2006/main">
              <a:ext uri="{FF2B5EF4-FFF2-40B4-BE49-F238E27FC236}">
                <a16:creationId xmlns:a16="http://schemas.microsoft.com/office/drawing/2014/main" id="{47AC0D3B-89C3-4985-81FE-DB1BE22C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8" name="Text 6">
            <a:extLst xmlns:a="http://schemas.openxmlformats.org/drawingml/2006/main">
              <a:ext uri="{FF2B5EF4-FFF2-40B4-BE49-F238E27FC236}">
                <a16:creationId xmlns:a16="http://schemas.microsoft.com/office/drawing/2014/main" id="{A5628ABC-1E2D-4B2B-87E1-75F6D80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72C46C9B-5759-40D0-ADC3-0376DEC6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FCF37765-245D-43F0-9625-F9452BCE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1" name="Text 9">
            <a:extLst xmlns:a="http://schemas.openxmlformats.org/drawingml/2006/main">
              <a:ext uri="{FF2B5EF4-FFF2-40B4-BE49-F238E27FC236}">
                <a16:creationId xmlns:a16="http://schemas.microsoft.com/office/drawing/2014/main" id="{285B3013-784D-4510-9295-AA2E62CD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42" name="Text 10">
            <a:extLst xmlns:a="http://schemas.openxmlformats.org/drawingml/2006/main">
              <a:ext uri="{FF2B5EF4-FFF2-40B4-BE49-F238E27FC236}">
                <a16:creationId xmlns:a16="http://schemas.microsoft.com/office/drawing/2014/main" id="{B10CDBF4-09D1-4709-AA00-CEA08766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3" name="Text 11">
            <a:extLst xmlns:a="http://schemas.openxmlformats.org/drawingml/2006/main">
              <a:ext uri="{FF2B5EF4-FFF2-40B4-BE49-F238E27FC236}">
                <a16:creationId xmlns:a16="http://schemas.microsoft.com/office/drawing/2014/main" id="{B80E9585-0C07-4B3C-9877-1F906C6C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44" name="Text 12">
            <a:extLst xmlns:a="http://schemas.openxmlformats.org/drawingml/2006/main">
              <a:ext uri="{FF2B5EF4-FFF2-40B4-BE49-F238E27FC236}">
                <a16:creationId xmlns:a16="http://schemas.microsoft.com/office/drawing/2014/main" id="{94298E25-937D-4099-A495-E85ED7BC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5" name="Text 13">
            <a:extLst xmlns:a="http://schemas.openxmlformats.org/drawingml/2006/main">
              <a:ext uri="{FF2B5EF4-FFF2-40B4-BE49-F238E27FC236}">
                <a16:creationId xmlns:a16="http://schemas.microsoft.com/office/drawing/2014/main" id="{CDFC0916-211D-40FF-85E6-99F37BE2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8838C39E-1722-4954-B900-892874F8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7" name="Text 21">
            <a:extLst xmlns:a="http://schemas.openxmlformats.org/drawingml/2006/main">
              <a:ext uri="{FF2B5EF4-FFF2-40B4-BE49-F238E27FC236}">
                <a16:creationId xmlns:a16="http://schemas.microsoft.com/office/drawing/2014/main" id="{DC3D779D-FF59-4EBB-A619-81BD940B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M2 Acceptance Walkthrough Structure</a:t>
            </a:r>
          </a:p>
        </p:txBody>
      </p:sp>
      <p:sp>
        <p:nvSpPr>
          <p:cNvPr id="48" name="Text 22">
            <a:extLst xmlns:a="http://schemas.openxmlformats.org/drawingml/2006/main">
              <a:ext uri="{FF2B5EF4-FFF2-40B4-BE49-F238E27FC236}">
                <a16:creationId xmlns:a16="http://schemas.microsoft.com/office/drawing/2014/main" id="{2760ACF2-843D-4046-A702-DA28862E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Four modules · eleven User Stories · one shared acceptance evidence chain</a:t>
            </a:r>
          </a:p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91C5BE88-A118-4428-9166-6477ED9E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" name="Shape 24">
            <a:extLst xmlns:a="http://schemas.openxmlformats.org/drawingml/2006/main">
              <a:ext uri="{FF2B5EF4-FFF2-40B4-BE49-F238E27FC236}">
                <a16:creationId xmlns:a16="http://schemas.microsoft.com/office/drawing/2014/main" id="{ECE2C4AC-F9CF-43AC-A7E8-D5A3A08F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" name="Shape 25">
            <a:extLst xmlns:a="http://schemas.openxmlformats.org/drawingml/2006/main">
              <a:ext uri="{FF2B5EF4-FFF2-40B4-BE49-F238E27FC236}">
                <a16:creationId xmlns:a16="http://schemas.microsoft.com/office/drawing/2014/main" id="{B38E8C3F-F733-4B89-8A21-BF71FFAB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4101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2" name="Text 26">
            <a:extLst xmlns:a="http://schemas.openxmlformats.org/drawingml/2006/main">
              <a:ext uri="{FF2B5EF4-FFF2-40B4-BE49-F238E27FC236}">
                <a16:creationId xmlns:a16="http://schemas.microsoft.com/office/drawing/2014/main" id="{45471BE9-3B85-4CE7-8D1F-6989B63B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53" name="Text 27">
            <a:extLst xmlns:a="http://schemas.openxmlformats.org/drawingml/2006/main">
              <a:ext uri="{FF2B5EF4-FFF2-40B4-BE49-F238E27FC236}">
                <a16:creationId xmlns:a16="http://schemas.microsoft.com/office/drawing/2014/main" id="{18F0A4C7-6E3C-49A3-A6B8-D6494506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02 / 10</a:t>
            </a:r>
          </a:p>
        </p:txBody>
      </p:sp>
      <p:sp>
        <p:nvSpPr>
          <p:cNvPr id="54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138F70-31C2-4941-97D8-EAA36357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120" y="156672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>
            <a:solidFill>
              <a:srgbClr val="DCE3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5" name="TextBox 48">
            <a:extLst xmlns:a="http://schemas.openxmlformats.org/drawingml/2006/main">
              <a:ext uri="{FF2B5EF4-FFF2-40B4-BE49-F238E27FC236}">
                <a16:creationId xmlns:a16="http://schemas.microsoft.com/office/drawing/2014/main" id="{20183EFB-D0A2-4EDC-8223-954E1500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640" y="5931360"/>
            <a:ext cx="3291480" cy="22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Representative Login and Market views</a:t>
            </a:r>
          </a:p>
        </p:txBody>
      </p:sp>
      <p:pic>
        <p:nvPicPr>
          <p:cNvPr id="113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0a4a55e684761"/>
          <a:stretch xmlns:a="http://schemas.openxmlformats.org/drawingml/2006/main"/>
        </p:blipFill>
        <p:spPr>
          <a:xfrm xmlns:a="http://schemas.openxmlformats.org/drawingml/2006/main" rot="0" flipH="0" flipV="0">
            <a:off x="9639720" y="1677240"/>
            <a:ext cx="195084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14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e7a689764f5b"/>
          <a:stretch xmlns:a="http://schemas.openxmlformats.org/drawingml/2006/main"/>
        </p:blipFill>
        <p:spPr>
          <a:xfrm xmlns:a="http://schemas.openxmlformats.org/drawingml/2006/main" rot="0" flipH="0" flipV="0">
            <a:off x="7378200" y="1677960"/>
            <a:ext cx="1951200" cy="4242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1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0886775C-CB52-4717-9725-F9C59255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320" y="2814480"/>
            <a:ext cx="2411640" cy="899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3" name="TextBox 35">
            <a:extLst xmlns:a="http://schemas.openxmlformats.org/drawingml/2006/main">
              <a:ext uri="{FF2B5EF4-FFF2-40B4-BE49-F238E27FC236}">
                <a16:creationId xmlns:a16="http://schemas.microsoft.com/office/drawing/2014/main" id="{17444C6B-A045-4733-8F21-F0ADA0AA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2873160"/>
            <a:ext cx="41112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4" name="TextBox 36">
            <a:extLst xmlns:a="http://schemas.openxmlformats.org/drawingml/2006/main">
              <a:ext uri="{FF2B5EF4-FFF2-40B4-BE49-F238E27FC236}">
                <a16:creationId xmlns:a16="http://schemas.microsoft.com/office/drawing/2014/main" id="{BDED6508-C4C3-4D32-9D27-E0C974B1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3117600"/>
            <a:ext cx="2148480" cy="30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65" name="TextBox 37">
            <a:extLst xmlns:a="http://schemas.openxmlformats.org/drawingml/2006/main">
              <a:ext uri="{FF2B5EF4-FFF2-40B4-BE49-F238E27FC236}">
                <a16:creationId xmlns:a16="http://schemas.microsoft.com/office/drawing/2014/main" id="{16539A51-F9CC-44DA-96CD-98143C0D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3411360"/>
            <a:ext cx="2148480" cy="2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4 User Stories · Slides 06–10</a:t>
            </a:r>
          </a:p>
        </p:txBody>
      </p:sp>
      <p:sp>
        <p:nvSpPr>
          <p:cNvPr id="67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04D07593-E193-4947-A482-A772E3A8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320" y="3990960"/>
            <a:ext cx="2411640" cy="899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9" name="TextBox 43">
            <a:extLst xmlns:a="http://schemas.openxmlformats.org/drawingml/2006/main">
              <a:ext uri="{FF2B5EF4-FFF2-40B4-BE49-F238E27FC236}">
                <a16:creationId xmlns:a16="http://schemas.microsoft.com/office/drawing/2014/main" id="{68EA3979-53F3-40D4-92FF-5A23A154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4049640"/>
            <a:ext cx="41112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70" name="TextBox 44">
            <a:extLst xmlns:a="http://schemas.openxmlformats.org/drawingml/2006/main">
              <a:ext uri="{FF2B5EF4-FFF2-40B4-BE49-F238E27FC236}">
                <a16:creationId xmlns:a16="http://schemas.microsoft.com/office/drawing/2014/main" id="{8911D9E3-F4DC-4186-B6A7-06150460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4294080"/>
            <a:ext cx="2148480" cy="30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71" name="TextBox 45">
            <a:extLst xmlns:a="http://schemas.openxmlformats.org/drawingml/2006/main">
              <a:ext uri="{FF2B5EF4-FFF2-40B4-BE49-F238E27FC236}">
                <a16:creationId xmlns:a16="http://schemas.microsoft.com/office/drawing/2014/main" id="{1E450B33-F347-4E87-A5CE-58CDB2A6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4587840"/>
            <a:ext cx="2148480" cy="2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1 User Story · Full build</a:t>
            </a:r>
          </a:p>
        </p:txBody>
      </p:sp>
      <p:sp>
        <p:nvSpPr>
          <p:cNvPr id="73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060B25CF-B67D-41DD-A9DB-A20861F4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2080" y="2814480"/>
            <a:ext cx="2411640" cy="899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5" name="TextBox 31">
            <a:extLst xmlns:a="http://schemas.openxmlformats.org/drawingml/2006/main">
              <a:ext uri="{FF2B5EF4-FFF2-40B4-BE49-F238E27FC236}">
                <a16:creationId xmlns:a16="http://schemas.microsoft.com/office/drawing/2014/main" id="{36BBE256-2A91-4BA5-BA75-F3B37A2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2887200"/>
            <a:ext cx="41112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6" name="TextBox 32">
            <a:extLst xmlns:a="http://schemas.openxmlformats.org/drawingml/2006/main">
              <a:ext uri="{FF2B5EF4-FFF2-40B4-BE49-F238E27FC236}">
                <a16:creationId xmlns:a16="http://schemas.microsoft.com/office/drawing/2014/main" id="{FCDD3F68-59AC-486A-9CC4-02EE8495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3131640"/>
            <a:ext cx="2148480" cy="30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77" name="TextBox 33">
            <a:extLst xmlns:a="http://schemas.openxmlformats.org/drawingml/2006/main">
              <a:ext uri="{FF2B5EF4-FFF2-40B4-BE49-F238E27FC236}">
                <a16:creationId xmlns:a16="http://schemas.microsoft.com/office/drawing/2014/main" id="{FF36333A-A79B-4A82-B48C-71B1ECDA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3425400"/>
            <a:ext cx="2148480" cy="2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1 User Story · Slides 04–05</a:t>
            </a:r>
          </a:p>
        </p:txBody>
      </p:sp>
      <p:sp>
        <p:nvSpPr>
          <p:cNvPr id="7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6502013F-67EA-4165-A797-3ADF3EBE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2080" y="3990960"/>
            <a:ext cx="2411640" cy="899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1" name="TextBox 39">
            <a:extLst xmlns:a="http://schemas.openxmlformats.org/drawingml/2006/main">
              <a:ext uri="{FF2B5EF4-FFF2-40B4-BE49-F238E27FC236}">
                <a16:creationId xmlns:a16="http://schemas.microsoft.com/office/drawing/2014/main" id="{445C89D3-B02E-49F9-A77A-E3AC8CC6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4049640"/>
            <a:ext cx="41112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2" name="TextBox 40">
            <a:extLst xmlns:a="http://schemas.openxmlformats.org/drawingml/2006/main">
              <a:ext uri="{FF2B5EF4-FFF2-40B4-BE49-F238E27FC236}">
                <a16:creationId xmlns:a16="http://schemas.microsoft.com/office/drawing/2014/main" id="{A5EA359A-FF97-4E43-BBD2-481B553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4294080"/>
            <a:ext cx="2148480" cy="30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83" name="TextBox 41">
            <a:extLst xmlns:a="http://schemas.openxmlformats.org/drawingml/2006/main">
              <a:ext uri="{FF2B5EF4-FFF2-40B4-BE49-F238E27FC236}">
                <a16:creationId xmlns:a16="http://schemas.microsoft.com/office/drawing/2014/main" id="{2BEEF5E3-BE05-46F7-9506-F007320E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4587840"/>
            <a:ext cx="2148480" cy="2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5 User Stories · Full build</a:t>
            </a:r>
          </a:p>
        </p:txBody>
      </p:sp>
      <p:sp>
        <p:nvSpPr>
          <p:cNvPr id="84" name="TextBox 189">
            <a:extLst xmlns:a="http://schemas.openxmlformats.org/drawingml/2006/main">
              <a:ext uri="{FF2B5EF4-FFF2-40B4-BE49-F238E27FC236}">
                <a16:creationId xmlns:a16="http://schemas.microsoft.com/office/drawing/2014/main" id="{FD6E9260-D4C0-4ED9-940A-9CF8C0F4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879520"/>
            <a:ext cx="5668920" cy="22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This review build completes the front overview, Login module and Market module for layout approval.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bec63f94d4d5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8160" y="1677924"/>
            <a:ext cx="1951196" cy="4242626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1d1cd418140b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39681" y="1677257"/>
            <a:ext cx="1950815" cy="4244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Shape 0">
            <a:extLst xmlns:a="http://schemas.openxmlformats.org/drawingml/2006/main">
              <a:ext uri="{FF2B5EF4-FFF2-40B4-BE49-F238E27FC236}">
                <a16:creationId xmlns:a16="http://schemas.microsoft.com/office/drawing/2014/main" id="{2FE81520-AFC8-49B4-BC3B-D9AA3603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6" name="Shape 1">
            <a:extLst xmlns:a="http://schemas.openxmlformats.org/drawingml/2006/main">
              <a:ext uri="{FF2B5EF4-FFF2-40B4-BE49-F238E27FC236}">
                <a16:creationId xmlns:a16="http://schemas.microsoft.com/office/drawing/2014/main" id="{3FE92C5A-AFE2-4F69-B303-3AC6552E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7" name="Text 2">
            <a:extLst xmlns:a="http://schemas.openxmlformats.org/drawingml/2006/main">
              <a:ext uri="{FF2B5EF4-FFF2-40B4-BE49-F238E27FC236}">
                <a16:creationId xmlns:a16="http://schemas.microsoft.com/office/drawing/2014/main" id="{8C6B6706-67C6-4AF2-BB80-84160B0E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88" name="Shape 3">
            <a:extLst xmlns:a="http://schemas.openxmlformats.org/drawingml/2006/main">
              <a:ext uri="{FF2B5EF4-FFF2-40B4-BE49-F238E27FC236}">
                <a16:creationId xmlns:a16="http://schemas.microsoft.com/office/drawing/2014/main" id="{3A618154-365B-472E-9882-7390EF8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9" name="Shape 4">
            <a:extLst xmlns:a="http://schemas.openxmlformats.org/drawingml/2006/main">
              <a:ext uri="{FF2B5EF4-FFF2-40B4-BE49-F238E27FC236}">
                <a16:creationId xmlns:a16="http://schemas.microsoft.com/office/drawing/2014/main" id="{DA11D92A-5BB1-4BBC-A05E-F4C3D378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0" name="Shape 5">
            <a:extLst xmlns:a="http://schemas.openxmlformats.org/drawingml/2006/main">
              <a:ext uri="{FF2B5EF4-FFF2-40B4-BE49-F238E27FC236}">
                <a16:creationId xmlns:a16="http://schemas.microsoft.com/office/drawing/2014/main" id="{19ADE90E-B73C-41E6-A67B-BB618A47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1" name="Text 6">
            <a:extLst xmlns:a="http://schemas.openxmlformats.org/drawingml/2006/main">
              <a:ext uri="{FF2B5EF4-FFF2-40B4-BE49-F238E27FC236}">
                <a16:creationId xmlns:a16="http://schemas.microsoft.com/office/drawing/2014/main" id="{E68E571A-7DDD-4532-AED6-70876E50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2" name="Text 7">
            <a:extLst xmlns:a="http://schemas.openxmlformats.org/drawingml/2006/main">
              <a:ext uri="{FF2B5EF4-FFF2-40B4-BE49-F238E27FC236}">
                <a16:creationId xmlns:a16="http://schemas.microsoft.com/office/drawing/2014/main" id="{8F946669-B48C-42A0-A8A5-E3A5786E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93" name="Text 8">
            <a:extLst xmlns:a="http://schemas.openxmlformats.org/drawingml/2006/main">
              <a:ext uri="{FF2B5EF4-FFF2-40B4-BE49-F238E27FC236}">
                <a16:creationId xmlns:a16="http://schemas.microsoft.com/office/drawing/2014/main" id="{455EE351-7A3B-4559-B571-A05E1287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4" name="Text 9">
            <a:extLst xmlns:a="http://schemas.openxmlformats.org/drawingml/2006/main">
              <a:ext uri="{FF2B5EF4-FFF2-40B4-BE49-F238E27FC236}">
                <a16:creationId xmlns:a16="http://schemas.microsoft.com/office/drawing/2014/main" id="{D57DFDD9-ED12-4F05-8FE2-6229A653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95" name="Text 10">
            <a:extLst xmlns:a="http://schemas.openxmlformats.org/drawingml/2006/main">
              <a:ext uri="{FF2B5EF4-FFF2-40B4-BE49-F238E27FC236}">
                <a16:creationId xmlns:a16="http://schemas.microsoft.com/office/drawing/2014/main" id="{4F9B0740-312A-4ECE-9BCA-2F01AE0D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6" name="Text 11">
            <a:extLst xmlns:a="http://schemas.openxmlformats.org/drawingml/2006/main">
              <a:ext uri="{FF2B5EF4-FFF2-40B4-BE49-F238E27FC236}">
                <a16:creationId xmlns:a16="http://schemas.microsoft.com/office/drawing/2014/main" id="{19206643-8107-4961-A76D-4720A9C2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97" name="Text 12">
            <a:extLst xmlns:a="http://schemas.openxmlformats.org/drawingml/2006/main">
              <a:ext uri="{FF2B5EF4-FFF2-40B4-BE49-F238E27FC236}">
                <a16:creationId xmlns:a16="http://schemas.microsoft.com/office/drawing/2014/main" id="{9F467763-35E6-4A76-A750-758BF5DF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98" name="Text 13">
            <a:extLst xmlns:a="http://schemas.openxmlformats.org/drawingml/2006/main">
              <a:ext uri="{FF2B5EF4-FFF2-40B4-BE49-F238E27FC236}">
                <a16:creationId xmlns:a16="http://schemas.microsoft.com/office/drawing/2014/main" id="{7CBDC353-9EDB-4139-B4E8-8E27DD40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99" name="Shape 20">
            <a:extLst xmlns:a="http://schemas.openxmlformats.org/drawingml/2006/main">
              <a:ext uri="{FF2B5EF4-FFF2-40B4-BE49-F238E27FC236}">
                <a16:creationId xmlns:a16="http://schemas.microsoft.com/office/drawing/2014/main" id="{97F94BA6-60DE-44A0-8418-4C82AF3C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" name="Text 21">
            <a:extLst xmlns:a="http://schemas.openxmlformats.org/drawingml/2006/main">
              <a:ext uri="{FF2B5EF4-FFF2-40B4-BE49-F238E27FC236}">
                <a16:creationId xmlns:a16="http://schemas.microsoft.com/office/drawing/2014/main" id="{28BDB725-4F40-4647-BB1B-1283BE78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One Structure, Three Complementary Deliverables</a:t>
            </a:r>
          </a:p>
        </p:txBody>
      </p:sp>
      <p:sp>
        <p:nvSpPr>
          <p:cNvPr id="101" name="Text 22">
            <a:extLst xmlns:a="http://schemas.openxmlformats.org/drawingml/2006/main">
              <a:ext uri="{FF2B5EF4-FFF2-40B4-BE49-F238E27FC236}">
                <a16:creationId xmlns:a16="http://schemas.microsoft.com/office/drawing/2014/main" id="{7F65B7C2-5220-4EC9-8F0B-CF2AAF26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Each format uses the same Module → User Story → Walkthrough → AC index</a:t>
            </a:r>
          </a:p>
        </p:txBody>
      </p:sp>
      <p:sp>
        <p:nvSpPr>
          <p:cNvPr id="102" name="Shape 23">
            <a:extLst xmlns:a="http://schemas.openxmlformats.org/drawingml/2006/main">
              <a:ext uri="{FF2B5EF4-FFF2-40B4-BE49-F238E27FC236}">
                <a16:creationId xmlns:a16="http://schemas.microsoft.com/office/drawing/2014/main" id="{89FCF433-F75E-442C-8500-370D5E1A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3" name="Shape 24">
            <a:extLst xmlns:a="http://schemas.openxmlformats.org/drawingml/2006/main">
              <a:ext uri="{FF2B5EF4-FFF2-40B4-BE49-F238E27FC236}">
                <a16:creationId xmlns:a16="http://schemas.microsoft.com/office/drawing/2014/main" id="{4B79F6DE-637D-47C5-BB11-C4FB6FF2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4" name="Shape 25">
            <a:extLst xmlns:a="http://schemas.openxmlformats.org/drawingml/2006/main">
              <a:ext uri="{FF2B5EF4-FFF2-40B4-BE49-F238E27FC236}">
                <a16:creationId xmlns:a16="http://schemas.microsoft.com/office/drawing/2014/main" id="{9B5E90EB-7B9F-4D88-ACBB-FC6DDA3F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5" name="Text 26">
            <a:extLst xmlns:a="http://schemas.openxmlformats.org/drawingml/2006/main">
              <a:ext uri="{FF2B5EF4-FFF2-40B4-BE49-F238E27FC236}">
                <a16:creationId xmlns:a16="http://schemas.microsoft.com/office/drawing/2014/main" id="{F0DF666C-28D7-443D-903B-1F0CCA4B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106" name="Text 27">
            <a:extLst xmlns:a="http://schemas.openxmlformats.org/drawingml/2006/main">
              <a:ext uri="{FF2B5EF4-FFF2-40B4-BE49-F238E27FC236}">
                <a16:creationId xmlns:a16="http://schemas.microsoft.com/office/drawing/2014/main" id="{722CD94E-58CB-4EB8-BF67-0F2B433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03 / 10</a:t>
            </a:r>
          </a:p>
        </p:txBody>
      </p:sp>
      <p:sp>
        <p:nvSpPr>
          <p:cNvPr id="10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D1A6B85-3614-4231-B51C-EB8DD05D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50876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>
            <a:solidFill>
              <a:srgbClr val="DCE3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8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69D5E158-4244-4DCA-B58C-50DE182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00" y="2331720"/>
            <a:ext cx="2486880" cy="1965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9" name="TextBox 31">
            <a:extLst xmlns:a="http://schemas.openxmlformats.org/drawingml/2006/main">
              <a:ext uri="{FF2B5EF4-FFF2-40B4-BE49-F238E27FC236}">
                <a16:creationId xmlns:a16="http://schemas.microsoft.com/office/drawing/2014/main" id="{2FC3CD59-4C10-4282-B65D-5C26E5ED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20" y="2523600"/>
            <a:ext cx="4111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0" name="TextBox 32">
            <a:extLst xmlns:a="http://schemas.openxmlformats.org/drawingml/2006/main">
              <a:ext uri="{FF2B5EF4-FFF2-40B4-BE49-F238E27FC236}">
                <a16:creationId xmlns:a16="http://schemas.microsoft.com/office/drawing/2014/main" id="{204A8284-CB44-421C-8DF5-574E93EE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20" y="2880360"/>
            <a:ext cx="21027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DOCUMENTATION</a:t>
            </a:r>
          </a:p>
        </p:txBody>
      </p:sp>
      <p:sp>
        <p:nvSpPr>
          <p:cNvPr id="111" name="TextBox 33">
            <a:extLst xmlns:a="http://schemas.openxmlformats.org/drawingml/2006/main">
              <a:ext uri="{FF2B5EF4-FFF2-40B4-BE49-F238E27FC236}">
                <a16:creationId xmlns:a16="http://schemas.microsoft.com/office/drawing/2014/main" id="{DBE48D3B-3F02-4356-AF4B-8DDC4AB6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20" y="3456360"/>
            <a:ext cx="2102760" cy="650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Defines scope, ordered walkthrough steps and the authoritative Acceptance Criteria for every User Story.</a:t>
            </a:r>
          </a:p>
        </p:txBody>
      </p:sp>
      <p:cxnSp>
        <p:nvCxnSpPr>
          <p:cNvPr id="183" name="Connector 34"/>
          <p:cNvCxnSpPr/>
          <p:nvPr/>
        </p:nvCxnSpPr>
        <p:spPr>
          <a:xfrm xmlns:a="http://schemas.openxmlformats.org/drawingml/2006/main">
            <a:off x="4690800" y="3309840"/>
            <a:ext cx="567360" cy="36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6687C"/>
            </a:solidFill>
          </a:ln>
        </p:spPr>
      </p:cxnSp>
      <p:sp>
        <p:nvSpPr>
          <p:cNvPr id="113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689D398C-4D89-44C3-B6C2-54EE39F5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880" y="2331720"/>
            <a:ext cx="2486880" cy="1965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64B3A06A-D23F-462A-AFCE-65092CE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400" y="2523600"/>
            <a:ext cx="4111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5" name="TextBox 37">
            <a:extLst xmlns:a="http://schemas.openxmlformats.org/drawingml/2006/main">
              <a:ext uri="{FF2B5EF4-FFF2-40B4-BE49-F238E27FC236}">
                <a16:creationId xmlns:a16="http://schemas.microsoft.com/office/drawing/2014/main" id="{41B26CDE-4DEC-42E3-844C-D27ADAC6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400" y="2880360"/>
            <a:ext cx="21027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PRESENTATION</a:t>
            </a:r>
          </a:p>
        </p:txBody>
      </p:sp>
      <p:sp>
        <p:nvSpPr>
          <p:cNvPr id="116" name="TextBox 38">
            <a:extLst xmlns:a="http://schemas.openxmlformats.org/drawingml/2006/main">
              <a:ext uri="{FF2B5EF4-FFF2-40B4-BE49-F238E27FC236}">
                <a16:creationId xmlns:a16="http://schemas.microsoft.com/office/drawing/2014/main" id="{E224B7B1-AE6D-4F03-94B8-7EBE4C4F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400" y="3456360"/>
            <a:ext cx="2102760" cy="52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Guides the acceptance meeting with concise screenshot evidence and step-by-step AC mapping.</a:t>
            </a:r>
          </a:p>
        </p:txBody>
      </p:sp>
      <p:cxnSp>
        <p:nvCxnSpPr>
          <p:cNvPr id="188" name="Connector 39"/>
          <p:cNvCxnSpPr/>
          <p:nvPr/>
        </p:nvCxnSpPr>
        <p:spPr>
          <a:xfrm xmlns:a="http://schemas.openxmlformats.org/drawingml/2006/main">
            <a:off x="7845480" y="3309840"/>
            <a:ext cx="567360" cy="36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6687C"/>
            </a:solidFill>
          </a:ln>
        </p:spPr>
      </p:cxnSp>
      <p:sp>
        <p:nvSpPr>
          <p:cNvPr id="118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D0D925B9-854E-41B6-8305-E7BAB796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560" y="2331720"/>
            <a:ext cx="2486880" cy="1965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9" name="TextBox 41">
            <a:extLst xmlns:a="http://schemas.openxmlformats.org/drawingml/2006/main">
              <a:ext uri="{FF2B5EF4-FFF2-40B4-BE49-F238E27FC236}">
                <a16:creationId xmlns:a16="http://schemas.microsoft.com/office/drawing/2014/main" id="{C4F8707F-67D5-4FFB-A1A4-BDB8D27A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80" y="2523600"/>
            <a:ext cx="4111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0" name="TextBox 42">
            <a:extLst xmlns:a="http://schemas.openxmlformats.org/drawingml/2006/main">
              <a:ext uri="{FF2B5EF4-FFF2-40B4-BE49-F238E27FC236}">
                <a16:creationId xmlns:a16="http://schemas.microsoft.com/office/drawing/2014/main" id="{6849B58A-6B87-4519-A035-C5FC514F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80" y="2880360"/>
            <a:ext cx="21027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VIDEO</a:t>
            </a:r>
          </a:p>
        </p:txBody>
      </p:sp>
      <p:sp>
        <p:nvSpPr>
          <p:cNvPr id="121" name="TextBox 43">
            <a:extLst xmlns:a="http://schemas.openxmlformats.org/drawingml/2006/main">
              <a:ext uri="{FF2B5EF4-FFF2-40B4-BE49-F238E27FC236}">
                <a16:creationId xmlns:a16="http://schemas.microsoft.com/office/drawing/2014/main" id="{3D0F8EAD-9EB7-4928-9DB5-0FF6243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80" y="3456360"/>
            <a:ext cx="2102760" cy="650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Shows the complete interaction continuously, with one recording aligned to each User Story walkthrough.</a:t>
            </a:r>
          </a:p>
        </p:txBody>
      </p:sp>
      <p:sp>
        <p:nvSpPr>
          <p:cNvPr id="122" name="TextBox 44">
            <a:extLst xmlns:a="http://schemas.openxmlformats.org/drawingml/2006/main">
              <a:ext uri="{FF2B5EF4-FFF2-40B4-BE49-F238E27FC236}">
                <a16:creationId xmlns:a16="http://schemas.microsoft.com/office/drawing/2014/main" id="{C07C545A-BFB5-46E3-A754-5AE0B8C5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00" y="4892040"/>
            <a:ext cx="90522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Document defines what must be proven · Video proves the interaction · PPT lets reviewers locate the evidence and AC quickly</a:t>
            </a:r>
          </a:p>
        </p:txBody>
      </p:sp>
    </p:spTree>
    <p:extLst>
      <p:ext uri="{BB962C8B-B14F-4D97-AF65-F5344CB8AC3E}">
        <p14:creationId xmlns:p14="http://schemas.microsoft.com/office/powerpoint/2010/main" val="1393643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Shape 0">
            <a:extLst xmlns:a="http://schemas.openxmlformats.org/drawingml/2006/main">
              <a:ext uri="{FF2B5EF4-FFF2-40B4-BE49-F238E27FC236}">
                <a16:creationId xmlns:a16="http://schemas.microsoft.com/office/drawing/2014/main" id="{1455E8AB-83C9-4953-AB13-025DD4FF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4" name="Shape 1">
            <a:extLst xmlns:a="http://schemas.openxmlformats.org/drawingml/2006/main">
              <a:ext uri="{FF2B5EF4-FFF2-40B4-BE49-F238E27FC236}">
                <a16:creationId xmlns:a16="http://schemas.microsoft.com/office/drawing/2014/main" id="{28BACA8B-CDF4-4642-B0AF-35F20099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5" name="Text 2">
            <a:extLst xmlns:a="http://schemas.openxmlformats.org/drawingml/2006/main">
              <a:ext uri="{FF2B5EF4-FFF2-40B4-BE49-F238E27FC236}">
                <a16:creationId xmlns:a16="http://schemas.microsoft.com/office/drawing/2014/main" id="{B19E6359-AC0B-4980-9FA4-2EE3763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126" name="Shape 3">
            <a:extLst xmlns:a="http://schemas.openxmlformats.org/drawingml/2006/main">
              <a:ext uri="{FF2B5EF4-FFF2-40B4-BE49-F238E27FC236}">
                <a16:creationId xmlns:a16="http://schemas.microsoft.com/office/drawing/2014/main" id="{76FD58E2-EDB4-4706-B0FD-6E356DEC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7" name="Shape 4">
            <a:extLst xmlns:a="http://schemas.openxmlformats.org/drawingml/2006/main">
              <a:ext uri="{FF2B5EF4-FFF2-40B4-BE49-F238E27FC236}">
                <a16:creationId xmlns:a16="http://schemas.microsoft.com/office/drawing/2014/main" id="{B92BE7EE-44C5-4091-ACFF-B823330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8" name="Shape 5">
            <a:extLst xmlns:a="http://schemas.openxmlformats.org/drawingml/2006/main">
              <a:ext uri="{FF2B5EF4-FFF2-40B4-BE49-F238E27FC236}">
                <a16:creationId xmlns:a16="http://schemas.microsoft.com/office/drawing/2014/main" id="{8EEACC72-6322-45C1-B54F-E7B17628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9" name="Text 6">
            <a:extLst xmlns:a="http://schemas.openxmlformats.org/drawingml/2006/main">
              <a:ext uri="{FF2B5EF4-FFF2-40B4-BE49-F238E27FC236}">
                <a16:creationId xmlns:a16="http://schemas.microsoft.com/office/drawing/2014/main" id="{66ECE71D-C6B2-4051-B7CB-4A1B03ED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0" name="Text 7">
            <a:extLst xmlns:a="http://schemas.openxmlformats.org/drawingml/2006/main">
              <a:ext uri="{FF2B5EF4-FFF2-40B4-BE49-F238E27FC236}">
                <a16:creationId xmlns:a16="http://schemas.microsoft.com/office/drawing/2014/main" id="{DB09D7AC-9B7A-4B83-B7A1-FA2B0F99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131" name="Text 8">
            <a:extLst xmlns:a="http://schemas.openxmlformats.org/drawingml/2006/main">
              <a:ext uri="{FF2B5EF4-FFF2-40B4-BE49-F238E27FC236}">
                <a16:creationId xmlns:a16="http://schemas.microsoft.com/office/drawing/2014/main" id="{2B269C46-76F2-4DF4-8F68-2353519B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2" name="Text 9">
            <a:extLst xmlns:a="http://schemas.openxmlformats.org/drawingml/2006/main">
              <a:ext uri="{FF2B5EF4-FFF2-40B4-BE49-F238E27FC236}">
                <a16:creationId xmlns:a16="http://schemas.microsoft.com/office/drawing/2014/main" id="{E4DBE081-B4DE-472E-B0EF-727AE3DE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133" name="Text 10">
            <a:extLst xmlns:a="http://schemas.openxmlformats.org/drawingml/2006/main">
              <a:ext uri="{FF2B5EF4-FFF2-40B4-BE49-F238E27FC236}">
                <a16:creationId xmlns:a16="http://schemas.microsoft.com/office/drawing/2014/main" id="{A2995FF9-BF7C-4171-9C27-F6997BDA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4" name="Text 11">
            <a:extLst xmlns:a="http://schemas.openxmlformats.org/drawingml/2006/main">
              <a:ext uri="{FF2B5EF4-FFF2-40B4-BE49-F238E27FC236}">
                <a16:creationId xmlns:a16="http://schemas.microsoft.com/office/drawing/2014/main" id="{919E9A2D-146F-44A7-B419-7FC4762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135" name="Text 12">
            <a:extLst xmlns:a="http://schemas.openxmlformats.org/drawingml/2006/main">
              <a:ext uri="{FF2B5EF4-FFF2-40B4-BE49-F238E27FC236}">
                <a16:creationId xmlns:a16="http://schemas.microsoft.com/office/drawing/2014/main" id="{3EB12882-4C34-4BB6-B455-AB5BE9B1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36" name="Text 13">
            <a:extLst xmlns:a="http://schemas.openxmlformats.org/drawingml/2006/main">
              <a:ext uri="{FF2B5EF4-FFF2-40B4-BE49-F238E27FC236}">
                <a16:creationId xmlns:a16="http://schemas.microsoft.com/office/drawing/2014/main" id="{E8762763-6892-434C-AF2E-7D98F76E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137" name="Shape 20">
            <a:extLst xmlns:a="http://schemas.openxmlformats.org/drawingml/2006/main">
              <a:ext uri="{FF2B5EF4-FFF2-40B4-BE49-F238E27FC236}">
                <a16:creationId xmlns:a16="http://schemas.microsoft.com/office/drawing/2014/main" id="{A9A031AB-E775-46BD-9FC9-A1B870C2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8" name="Text 21">
            <a:extLst xmlns:a="http://schemas.openxmlformats.org/drawingml/2006/main">
              <a:ext uri="{FF2B5EF4-FFF2-40B4-BE49-F238E27FC236}">
                <a16:creationId xmlns:a16="http://schemas.microsoft.com/office/drawing/2014/main" id="{035A9C2A-FADF-4998-998D-8B04F76B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01  Login / Register</a:t>
            </a:r>
          </a:p>
        </p:txBody>
      </p:sp>
      <p:sp>
        <p:nvSpPr>
          <p:cNvPr id="139" name="Text 22">
            <a:extLst xmlns:a="http://schemas.openxmlformats.org/drawingml/2006/main">
              <a:ext uri="{FF2B5EF4-FFF2-40B4-BE49-F238E27FC236}">
                <a16:creationId xmlns:a16="http://schemas.microsoft.com/office/drawing/2014/main" id="{07D78389-16E5-4BB6-B3CD-D499FCB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Two accepted authentication paths converge on the same Markets landing</a:t>
            </a:r>
          </a:p>
        </p:txBody>
      </p:sp>
      <p:sp>
        <p:nvSpPr>
          <p:cNvPr id="140" name="Shape 23">
            <a:extLst xmlns:a="http://schemas.openxmlformats.org/drawingml/2006/main">
              <a:ext uri="{FF2B5EF4-FFF2-40B4-BE49-F238E27FC236}">
                <a16:creationId xmlns:a16="http://schemas.microsoft.com/office/drawing/2014/main" id="{72A313DE-A3BD-491D-9F62-F28A4F1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1" name="Shape 24">
            <a:extLst xmlns:a="http://schemas.openxmlformats.org/drawingml/2006/main">
              <a:ext uri="{FF2B5EF4-FFF2-40B4-BE49-F238E27FC236}">
                <a16:creationId xmlns:a16="http://schemas.microsoft.com/office/drawing/2014/main" id="{FEF91CB8-BC70-4625-A815-D0E23321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2" name="Shape 25">
            <a:extLst xmlns:a="http://schemas.openxmlformats.org/drawingml/2006/main">
              <a:ext uri="{FF2B5EF4-FFF2-40B4-BE49-F238E27FC236}">
                <a16:creationId xmlns:a16="http://schemas.microsoft.com/office/drawing/2014/main" id="{E9EF2597-E56B-465E-ADE7-5F0E6E89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3" name="Text 26">
            <a:extLst xmlns:a="http://schemas.openxmlformats.org/drawingml/2006/main">
              <a:ext uri="{FF2B5EF4-FFF2-40B4-BE49-F238E27FC236}">
                <a16:creationId xmlns:a16="http://schemas.microsoft.com/office/drawing/2014/main" id="{16E1C6B3-332D-4D36-B126-9DCE0474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144" name="Text 27">
            <a:extLst xmlns:a="http://schemas.openxmlformats.org/drawingml/2006/main">
              <a:ext uri="{FF2B5EF4-FFF2-40B4-BE49-F238E27FC236}">
                <a16:creationId xmlns:a16="http://schemas.microsoft.com/office/drawing/2014/main" id="{6D036ECE-3735-4C45-923D-FD691180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04 / 10</a:t>
            </a:r>
          </a:p>
        </p:txBody>
      </p:sp>
      <p:sp>
        <p:nvSpPr>
          <p:cNvPr id="145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D68B135-D685-4B72-B1F6-2ED83E55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8140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00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ad3c06f434f56"/>
          <a:stretch xmlns:a="http://schemas.openxmlformats.org/drawingml/2006/main"/>
        </p:blipFill>
        <p:spPr>
          <a:xfrm xmlns:a="http://schemas.openxmlformats.org/drawingml/2006/main">
            <a:off x="2615400" y="1645200"/>
            <a:ext cx="195084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58" name="TextBox 55">
            <a:extLst xmlns:a="http://schemas.openxmlformats.org/drawingml/2006/main">
              <a:ext uri="{FF2B5EF4-FFF2-40B4-BE49-F238E27FC236}">
                <a16:creationId xmlns:a16="http://schemas.microsoft.com/office/drawing/2014/main" id="{B92B6F28-EBEA-4412-BE1C-001410E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581150"/>
            <a:ext cx="4953000" cy="28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MERMAID SOURCE</a:t>
            </a:r>
          </a:p>
        </p:txBody>
      </p:sp>
      <p:sp>
        <p:nvSpPr>
          <p:cNvPr id="159" name="TextBox 56">
            <a:extLst xmlns:a="http://schemas.openxmlformats.org/drawingml/2006/main">
              <a:ext uri="{FF2B5EF4-FFF2-40B4-BE49-F238E27FC236}">
                <a16:creationId xmlns:a16="http://schemas.microsoft.com/office/drawing/2014/main" id="{DCE66E15-AD82-42CE-B304-4302BA04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224028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0" name="TextBox 57">
            <a:extLst xmlns:a="http://schemas.openxmlformats.org/drawingml/2006/main">
              <a:ext uri="{FF2B5EF4-FFF2-40B4-BE49-F238E27FC236}">
                <a16:creationId xmlns:a16="http://schemas.microsoft.com/office/drawing/2014/main" id="{C9CE6808-8CFD-4A35-A904-ABD340F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1952625"/>
            <a:ext cx="52197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3000"/>
              </a:lnSpc>
              <a:buNone/>
            </a:pPr>
            <a:r>
              <a:rPr sz="1088">
                <a:solidFill>
                  <a:srgbClr val="0A1F3E"/>
                </a:solidFill>
                <a:latin typeface="Menlo"/>
                <a:ea typeface="Menlo"/>
                <a:cs typeface="Menlo"/>
              </a:rPr>
              <a:t>flowchart LR
  A[Open Login] --&gt; B{Choose path}
  B --&gt;|New account| C[Create Account]
  C --&gt; D[Verify Email]
  B --&gt;|Existing user| E[Email / Password]
  D --&gt; F[Markets]
  E --&gt; F</a:t>
            </a:r>
          </a:p>
        </p:txBody>
      </p:sp>
      <p:sp>
        <p:nvSpPr>
          <p:cNvPr id="161" name="TextBox 58">
            <a:extLst xmlns:a="http://schemas.openxmlformats.org/drawingml/2006/main">
              <a:ext uri="{FF2B5EF4-FFF2-40B4-BE49-F238E27FC236}">
                <a16:creationId xmlns:a16="http://schemas.microsoft.com/office/drawing/2014/main" id="{C2100ED2-09F6-4C1F-8B7D-740FE64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263340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2" name="TextBox 59">
            <a:extLst xmlns:a="http://schemas.openxmlformats.org/drawingml/2006/main">
              <a:ext uri="{FF2B5EF4-FFF2-40B4-BE49-F238E27FC236}">
                <a16:creationId xmlns:a16="http://schemas.microsoft.com/office/drawing/2014/main" id="{83A2C774-AAB8-4A4A-926F-6812C40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263340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3" name="TextBox 60">
            <a:extLst xmlns:a="http://schemas.openxmlformats.org/drawingml/2006/main">
              <a:ext uri="{FF2B5EF4-FFF2-40B4-BE49-F238E27FC236}">
                <a16:creationId xmlns:a16="http://schemas.microsoft.com/office/drawing/2014/main" id="{253CDB11-5DE6-48C2-A179-63607554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302652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4" name="TextBox 61">
            <a:extLst xmlns:a="http://schemas.openxmlformats.org/drawingml/2006/main">
              <a:ext uri="{FF2B5EF4-FFF2-40B4-BE49-F238E27FC236}">
                <a16:creationId xmlns:a16="http://schemas.microsoft.com/office/drawing/2014/main" id="{21A2DFB5-EFBB-4A84-9229-CD8563FC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302652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5" name="TextBox 62">
            <a:extLst xmlns:a="http://schemas.openxmlformats.org/drawingml/2006/main">
              <a:ext uri="{FF2B5EF4-FFF2-40B4-BE49-F238E27FC236}">
                <a16:creationId xmlns:a16="http://schemas.microsoft.com/office/drawing/2014/main" id="{8EDE26DA-D1B4-420D-B3C2-7C5466E6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341964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6" name="TextBox 63">
            <a:extLst xmlns:a="http://schemas.openxmlformats.org/drawingml/2006/main">
              <a:ext uri="{FF2B5EF4-FFF2-40B4-BE49-F238E27FC236}">
                <a16:creationId xmlns:a16="http://schemas.microsoft.com/office/drawing/2014/main" id="{6A61C068-9710-4AE9-A61A-F962C3DF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341964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7" name="TextBox 64">
            <a:extLst xmlns:a="http://schemas.openxmlformats.org/drawingml/2006/main">
              <a:ext uri="{FF2B5EF4-FFF2-40B4-BE49-F238E27FC236}">
                <a16:creationId xmlns:a16="http://schemas.microsoft.com/office/drawing/2014/main" id="{D68C5E2A-BEAB-41AA-8B24-2AF2792D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381312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8" name="TextBox 65">
            <a:extLst xmlns:a="http://schemas.openxmlformats.org/drawingml/2006/main">
              <a:ext uri="{FF2B5EF4-FFF2-40B4-BE49-F238E27FC236}">
                <a16:creationId xmlns:a16="http://schemas.microsoft.com/office/drawing/2014/main" id="{FEA1A94E-C2F7-4DA4-B920-5A44BDD3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381312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9" name="TextBox 66">
            <a:extLst xmlns:a="http://schemas.openxmlformats.org/drawingml/2006/main">
              <a:ext uri="{FF2B5EF4-FFF2-40B4-BE49-F238E27FC236}">
                <a16:creationId xmlns:a16="http://schemas.microsoft.com/office/drawing/2014/main" id="{3A448F9E-4083-4594-9EC2-3C2340F2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420624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0" name="TextBox 67">
            <a:extLst xmlns:a="http://schemas.openxmlformats.org/drawingml/2006/main">
              <a:ext uri="{FF2B5EF4-FFF2-40B4-BE49-F238E27FC236}">
                <a16:creationId xmlns:a16="http://schemas.microsoft.com/office/drawing/2014/main" id="{A4DB46B3-AD1F-4CA0-9346-6EF11616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420624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1" name="TextBox 68">
            <a:extLst xmlns:a="http://schemas.openxmlformats.org/drawingml/2006/main">
              <a:ext uri="{FF2B5EF4-FFF2-40B4-BE49-F238E27FC236}">
                <a16:creationId xmlns:a16="http://schemas.microsoft.com/office/drawing/2014/main" id="{2D514B90-3F2D-4DDA-8990-31B537D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459936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2" name="TextBox 69">
            <a:extLst xmlns:a="http://schemas.openxmlformats.org/drawingml/2006/main">
              <a:ext uri="{FF2B5EF4-FFF2-40B4-BE49-F238E27FC236}">
                <a16:creationId xmlns:a16="http://schemas.microsoft.com/office/drawing/2014/main" id="{F5A95A83-6920-4C33-82E9-0F6DB210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459936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3" name="TextBox 70">
            <a:extLst xmlns:a="http://schemas.openxmlformats.org/drawingml/2006/main">
              <a:ext uri="{FF2B5EF4-FFF2-40B4-BE49-F238E27FC236}">
                <a16:creationId xmlns:a16="http://schemas.microsoft.com/office/drawing/2014/main" id="{B3FE5E30-5868-432E-8789-030903FD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499248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4" name="TextBox 71">
            <a:extLst xmlns:a="http://schemas.openxmlformats.org/drawingml/2006/main">
              <a:ext uri="{FF2B5EF4-FFF2-40B4-BE49-F238E27FC236}">
                <a16:creationId xmlns:a16="http://schemas.microsoft.com/office/drawing/2014/main" id="{C828CB6C-CC5A-4636-B35F-BC9FEBE3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499248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4501afcac442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800064" y="1645158"/>
            <a:ext cx="1950815" cy="4244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3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4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F4926F4-A3C9-4367-9097-68BE17C7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8140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35" name="Shape 0">
            <a:extLst xmlns:a="http://schemas.openxmlformats.org/drawingml/2006/main">
              <a:ext uri="{FF2B5EF4-FFF2-40B4-BE49-F238E27FC236}">
                <a16:creationId xmlns:a16="http://schemas.microsoft.com/office/drawing/2014/main" id="{58800593-E315-4392-90ED-9B511E0B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36" name="Shape 1">
            <a:extLst xmlns:a="http://schemas.openxmlformats.org/drawingml/2006/main">
              <a:ext uri="{FF2B5EF4-FFF2-40B4-BE49-F238E27FC236}">
                <a16:creationId xmlns:a16="http://schemas.microsoft.com/office/drawing/2014/main" id="{268CA5E9-DB58-4321-BE0D-2F5125CB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37" name="Text 2">
            <a:extLst xmlns:a="http://schemas.openxmlformats.org/drawingml/2006/main">
              <a:ext uri="{FF2B5EF4-FFF2-40B4-BE49-F238E27FC236}">
                <a16:creationId xmlns:a16="http://schemas.microsoft.com/office/drawing/2014/main" id="{2B7CBCDF-3CE8-4BFA-B1AA-8AB1C510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838" name="Shape 3">
            <a:extLst xmlns:a="http://schemas.openxmlformats.org/drawingml/2006/main">
              <a:ext uri="{FF2B5EF4-FFF2-40B4-BE49-F238E27FC236}">
                <a16:creationId xmlns:a16="http://schemas.microsoft.com/office/drawing/2014/main" id="{86BCB49D-C086-4043-A0B1-859F942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39" name="Shape 4">
            <a:extLst xmlns:a="http://schemas.openxmlformats.org/drawingml/2006/main">
              <a:ext uri="{FF2B5EF4-FFF2-40B4-BE49-F238E27FC236}">
                <a16:creationId xmlns:a16="http://schemas.microsoft.com/office/drawing/2014/main" id="{7C0A5A3C-8425-4097-8844-EFC8FA3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1481042" cy="667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40" name="Shape 5">
            <a:extLst xmlns:a="http://schemas.openxmlformats.org/drawingml/2006/main">
              <a:ext uri="{FF2B5EF4-FFF2-40B4-BE49-F238E27FC236}">
                <a16:creationId xmlns:a16="http://schemas.microsoft.com/office/drawing/2014/main" id="{68C44314-3823-402B-81C0-1834BACA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50006" cy="667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41" name="Text 6">
            <a:extLst xmlns:a="http://schemas.openxmlformats.org/drawingml/2006/main">
              <a:ext uri="{FF2B5EF4-FFF2-40B4-BE49-F238E27FC236}">
                <a16:creationId xmlns:a16="http://schemas.microsoft.com/office/drawing/2014/main" id="{3AF4C6BE-DB86-453A-8191-11ECBF2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42" name="Text 7">
            <a:extLst xmlns:a="http://schemas.openxmlformats.org/drawingml/2006/main">
              <a:ext uri="{FF2B5EF4-FFF2-40B4-BE49-F238E27FC236}">
                <a16:creationId xmlns:a16="http://schemas.microsoft.com/office/drawing/2014/main" id="{5344A638-E9DB-4C54-99AC-9EA6DCF8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843" name="Text 8">
            <a:extLst xmlns:a="http://schemas.openxmlformats.org/drawingml/2006/main">
              <a:ext uri="{FF2B5EF4-FFF2-40B4-BE49-F238E27FC236}">
                <a16:creationId xmlns:a16="http://schemas.microsoft.com/office/drawing/2014/main" id="{46E2E345-DF31-4012-8BF4-96871521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44" name="Text 9">
            <a:extLst xmlns:a="http://schemas.openxmlformats.org/drawingml/2006/main">
              <a:ext uri="{FF2B5EF4-FFF2-40B4-BE49-F238E27FC236}">
                <a16:creationId xmlns:a16="http://schemas.microsoft.com/office/drawing/2014/main" id="{E0F2B879-C221-4BD2-97C9-0C4DB6BC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845" name="Text 10">
            <a:extLst xmlns:a="http://schemas.openxmlformats.org/drawingml/2006/main">
              <a:ext uri="{FF2B5EF4-FFF2-40B4-BE49-F238E27FC236}">
                <a16:creationId xmlns:a16="http://schemas.microsoft.com/office/drawing/2014/main" id="{DE22FFB6-51CD-4ABF-956D-1EB0B7B8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46" name="Text 11">
            <a:extLst xmlns:a="http://schemas.openxmlformats.org/drawingml/2006/main">
              <a:ext uri="{FF2B5EF4-FFF2-40B4-BE49-F238E27FC236}">
                <a16:creationId xmlns:a16="http://schemas.microsoft.com/office/drawing/2014/main" id="{19D11436-CC3C-4E72-98C0-FE81241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847" name="Text 12">
            <a:extLst xmlns:a="http://schemas.openxmlformats.org/drawingml/2006/main">
              <a:ext uri="{FF2B5EF4-FFF2-40B4-BE49-F238E27FC236}">
                <a16:creationId xmlns:a16="http://schemas.microsoft.com/office/drawing/2014/main" id="{D57DC8F5-60CA-4097-A08A-B6DF453A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48" name="Text 13">
            <a:extLst xmlns:a="http://schemas.openxmlformats.org/drawingml/2006/main">
              <a:ext uri="{FF2B5EF4-FFF2-40B4-BE49-F238E27FC236}">
                <a16:creationId xmlns:a16="http://schemas.microsoft.com/office/drawing/2014/main" id="{EE12D361-28A5-4B0E-8EE8-11639B3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849" name="Shape 20">
            <a:extLst xmlns:a="http://schemas.openxmlformats.org/drawingml/2006/main">
              <a:ext uri="{FF2B5EF4-FFF2-40B4-BE49-F238E27FC236}">
                <a16:creationId xmlns:a16="http://schemas.microsoft.com/office/drawing/2014/main" id="{899206F6-A264-4BED-BE60-A373950F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50" name="Text 21">
            <a:extLst xmlns:a="http://schemas.openxmlformats.org/drawingml/2006/main">
              <a:ext uri="{FF2B5EF4-FFF2-40B4-BE49-F238E27FC236}">
                <a16:creationId xmlns:a16="http://schemas.microsoft.com/office/drawing/2014/main" id="{0ED62041-4617-4F13-AC05-08F59886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User Story 1 — Register a new account and sign in</a:t>
            </a:r>
          </a:p>
        </p:txBody>
      </p:sp>
      <p:sp>
        <p:nvSpPr>
          <p:cNvPr id="851" name="Text 22">
            <a:extLst xmlns:a="http://schemas.openxmlformats.org/drawingml/2006/main">
              <a:ext uri="{FF2B5EF4-FFF2-40B4-BE49-F238E27FC236}">
                <a16:creationId xmlns:a16="http://schemas.microsoft.com/office/drawing/2014/main" id="{83A32119-3B81-476E-8F5C-2EAFCA78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Four walkthrough frames cover both accepted paths and map all 15 Must Acceptance Criteria</a:t>
            </a:r>
          </a:p>
        </p:txBody>
      </p:sp>
      <p:sp>
        <p:nvSpPr>
          <p:cNvPr id="852" name="Shape 23">
            <a:extLst xmlns:a="http://schemas.openxmlformats.org/drawingml/2006/main">
              <a:ext uri="{FF2B5EF4-FFF2-40B4-BE49-F238E27FC236}">
                <a16:creationId xmlns:a16="http://schemas.microsoft.com/office/drawing/2014/main" id="{918B10C1-C0BF-4A70-BB37-8CD2AC3C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53" name="Shape 24">
            <a:extLst xmlns:a="http://schemas.openxmlformats.org/drawingml/2006/main">
              <a:ext uri="{FF2B5EF4-FFF2-40B4-BE49-F238E27FC236}">
                <a16:creationId xmlns:a16="http://schemas.microsoft.com/office/drawing/2014/main" id="{1F879326-BC7D-4CAB-B190-70A43064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54" name="Shape 25">
            <a:extLst xmlns:a="http://schemas.openxmlformats.org/drawingml/2006/main">
              <a:ext uri="{FF2B5EF4-FFF2-40B4-BE49-F238E27FC236}">
                <a16:creationId xmlns:a16="http://schemas.microsoft.com/office/drawing/2014/main" id="{D1A19DF6-1B8B-40A7-B84A-D7DC0690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55" name="Text 26">
            <a:extLst xmlns:a="http://schemas.openxmlformats.org/drawingml/2006/main">
              <a:ext uri="{FF2B5EF4-FFF2-40B4-BE49-F238E27FC236}">
                <a16:creationId xmlns:a16="http://schemas.microsoft.com/office/drawing/2014/main" id="{A486BA51-EFF2-4981-8355-DB4FDBDC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856" name="Text 27">
            <a:extLst xmlns:a="http://schemas.openxmlformats.org/drawingml/2006/main">
              <a:ext uri="{FF2B5EF4-FFF2-40B4-BE49-F238E27FC236}">
                <a16:creationId xmlns:a16="http://schemas.microsoft.com/office/drawing/2014/main" id="{EF5A91E8-92DF-49DC-87E7-06D66CBA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05 / 10</a:t>
            </a:r>
          </a:p>
        </p:txBody>
      </p:sp>
      <p:pic>
        <p:nvPicPr>
          <p:cNvPr id="894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e95a921874da0"/>
          <a:stretch xmlns:a="http://schemas.openxmlformats.org/drawingml/2006/main"/>
        </p:blipFill>
        <p:spPr>
          <a:xfrm xmlns:a="http://schemas.openxmlformats.org/drawingml/2006/main">
            <a:off x="2224440" y="165492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58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6761DFAC-E9EA-4C36-A949-918039B1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81150"/>
            <a:ext cx="3667125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975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01 · LOGIN / EXISTING SIGN-IN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6"/>
              </a:spcAft>
              <a:buNone/>
            </a:pPr>
            <a:r>
              <a:rPr sz="863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Open Login, inspect the required fields, toggle password visibility, verify the Sign In gate, explain excluded SSO entries, then submit an existing account and show the in-progress state.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AUTH-US1-AC01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Login is the first unauthenticated screen.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AUTH-US1-AC02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Account/email and hidden password are required.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AUTH-US1-AC03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The eye toggle preserves the entered password.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AUTH-US1-AC04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Sign In follows the required-field gate.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AUTH-US1-AC05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Displayed SSO entries are outside this scope.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AUTH-US1-AC12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Existing credentials can submit Sign In.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AUTH-US1-AC13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Progress is shown and duplicate submits are blocked.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AUTH-US1-AC15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Evidence protects reusable secrets and personal data.</a:t>
            </a:r>
          </a:p>
        </p:txBody>
      </p:sp>
      <p:sp>
        <p:nvSpPr>
          <p:cNvPr id="859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C45BCDB9-89B3-49AE-BBED-7BEFE6C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81150"/>
            <a:ext cx="36576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975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02 · CREATE ACCOUNT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6"/>
              </a:spcAft>
              <a:buNone/>
            </a:pPr>
            <a:r>
              <a:rPr sz="863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Tap Register New Account. Enter display name, email and password; show the disabled state below eight characters, then submit a valid registration form.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AUTH-US1-AC06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Registration opens Create Account with three fields.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AUTH-US1-AC07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Required fields and eight-character password gate apply.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AUTH-US1-AC08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Valid submit creates pending registration and sends a code.</a:t>
            </a:r>
          </a:p>
        </p:txBody>
      </p:sp>
      <p:pic>
        <p:nvPicPr>
          <p:cNvPr id="89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66a78e39e4e70"/>
          <a:stretch xmlns:a="http://schemas.openxmlformats.org/drawingml/2006/main"/>
        </p:blipFill>
        <p:spPr>
          <a:xfrm xmlns:a="http://schemas.openxmlformats.org/drawingml/2006/main">
            <a:off x="4351320" y="167724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61" name="TextBox 31">
            <a:extLst xmlns:a="http://schemas.openxmlformats.org/drawingml/2006/main">
              <a:ext uri="{FF2B5EF4-FFF2-40B4-BE49-F238E27FC236}">
                <a16:creationId xmlns:a16="http://schemas.microsoft.com/office/drawing/2014/main" id="{416811F5-4FB2-41EB-BD96-708AAEF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90950"/>
            <a:ext cx="36576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975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03 · VERIFY EMAIL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6"/>
              </a:spcAft>
              <a:buNone/>
            </a:pPr>
            <a:r>
              <a:rPr sz="863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Confirm Verify Email opens after submission. Show the disabled state below six digits, enter a complete code, and tap Verify and Continue.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AUTH-US1-AC09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The verification action follows the six-digit gate.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AUTH-US1-AC10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A correct code creates one account and auto-signs in.</a:t>
            </a:r>
          </a:p>
        </p:txBody>
      </p:sp>
      <p:sp>
        <p:nvSpPr>
          <p:cNvPr id="862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E38CAA44-631C-4E21-AC5F-AE5028CA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667125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975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04 · MARKETS LANDING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6"/>
              </a:spcAft>
              <a:buNone/>
            </a:pPr>
            <a:r>
              <a:rPr sz="863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Confirm successful registration opens Markets. Repeat the accepted existing-account path and verify that both paths reach the same default landing.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AUTH-US1-AC11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Newly registered users enter Markets.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AUTH-US1-AC14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Successful authentication enters Markets.</a:t>
            </a:r>
          </a:p>
        </p:txBody>
      </p:sp>
      <p:pic>
        <p:nvPicPr>
          <p:cNvPr id="900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e95a921874da0"/>
          <a:stretch xmlns:a="http://schemas.openxmlformats.org/drawingml/2006/main"/>
        </p:blipFill>
        <p:spPr>
          <a:xfrm xmlns:a="http://schemas.openxmlformats.org/drawingml/2006/main">
            <a:off x="224424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01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66a78e39e4e70"/>
          <a:stretch xmlns:a="http://schemas.openxmlformats.org/drawingml/2006/main"/>
        </p:blipFill>
        <p:spPr>
          <a:xfrm xmlns:a="http://schemas.openxmlformats.org/drawingml/2006/main">
            <a:off x="437148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cae951f7b42d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38350" y="1619250"/>
            <a:ext cx="897255" cy="1809750"/>
          </a:xfrm>
          <a:prstGeom xmlns:a="http://schemas.openxmlformats.org/drawingml/2006/main" prst="rect">
            <a:avLst/>
          </a:prstGeom>
        </p:spPr>
      </p:pic>
      <p:pic>
        <p:nvPicPr>
          <p:cNvPr id="9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840b7eb6a425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91825" y="1619250"/>
            <a:ext cx="897255" cy="1809750"/>
          </a:xfrm>
          <a:prstGeom xmlns:a="http://schemas.openxmlformats.org/drawingml/2006/main" prst="rect">
            <a:avLst/>
          </a:prstGeom>
        </p:spPr>
      </p:pic>
      <p:pic>
        <p:nvPicPr>
          <p:cNvPr id="9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30baa1b4d428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29300" y="3848100"/>
            <a:ext cx="897255" cy="1809750"/>
          </a:xfrm>
          <a:prstGeom xmlns:a="http://schemas.openxmlformats.org/drawingml/2006/main" prst="rect">
            <a:avLst/>
          </a:prstGeom>
        </p:spPr>
      </p:pic>
      <p:pic>
        <p:nvPicPr>
          <p:cNvPr id="9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a90a6c8fa421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00875" y="3848100"/>
            <a:ext cx="897255" cy="180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10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C4D63F1-C066-42F0-845F-998186CD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8140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7" name="Shape 0">
            <a:extLst xmlns:a="http://schemas.openxmlformats.org/drawingml/2006/main">
              <a:ext uri="{FF2B5EF4-FFF2-40B4-BE49-F238E27FC236}">
                <a16:creationId xmlns:a16="http://schemas.microsoft.com/office/drawing/2014/main" id="{FD6816AE-79CE-4056-8B01-96E6BF2A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8" name="Shape 1">
            <a:extLst xmlns:a="http://schemas.openxmlformats.org/drawingml/2006/main">
              <a:ext uri="{FF2B5EF4-FFF2-40B4-BE49-F238E27FC236}">
                <a16:creationId xmlns:a16="http://schemas.microsoft.com/office/drawing/2014/main" id="{51B62ACA-2C3D-42E6-A0D1-59E4C622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9" name="Text 2">
            <a:extLst xmlns:a="http://schemas.openxmlformats.org/drawingml/2006/main">
              <a:ext uri="{FF2B5EF4-FFF2-40B4-BE49-F238E27FC236}">
                <a16:creationId xmlns:a16="http://schemas.microsoft.com/office/drawing/2014/main" id="{D82CE106-5919-4BD4-AB2A-3A12A128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410" name="Shape 3">
            <a:extLst xmlns:a="http://schemas.openxmlformats.org/drawingml/2006/main">
              <a:ext uri="{FF2B5EF4-FFF2-40B4-BE49-F238E27FC236}">
                <a16:creationId xmlns:a16="http://schemas.microsoft.com/office/drawing/2014/main" id="{46DDEBF1-BAAF-4A7D-B106-63F9E687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1" name="Shape 4">
            <a:extLst xmlns:a="http://schemas.openxmlformats.org/drawingml/2006/main">
              <a:ext uri="{FF2B5EF4-FFF2-40B4-BE49-F238E27FC236}">
                <a16:creationId xmlns:a16="http://schemas.microsoft.com/office/drawing/2014/main" id="{062306C9-9686-47C2-A855-BDD8DC1E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2" name="Shape 5">
            <a:extLst xmlns:a="http://schemas.openxmlformats.org/drawingml/2006/main">
              <a:ext uri="{FF2B5EF4-FFF2-40B4-BE49-F238E27FC236}">
                <a16:creationId xmlns:a16="http://schemas.microsoft.com/office/drawing/2014/main" id="{75D9A614-8F18-4C5B-8157-743D7483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13" name="Text 6">
            <a:extLst xmlns:a="http://schemas.openxmlformats.org/drawingml/2006/main">
              <a:ext uri="{FF2B5EF4-FFF2-40B4-BE49-F238E27FC236}">
                <a16:creationId xmlns:a16="http://schemas.microsoft.com/office/drawing/2014/main" id="{C985B87D-C88D-4F8C-A86A-CD4C6AA7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14" name="Text 7">
            <a:extLst xmlns:a="http://schemas.openxmlformats.org/drawingml/2006/main">
              <a:ext uri="{FF2B5EF4-FFF2-40B4-BE49-F238E27FC236}">
                <a16:creationId xmlns:a16="http://schemas.microsoft.com/office/drawing/2014/main" id="{BB352311-D553-4CBD-B2B1-B53EA8CE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415" name="Text 8">
            <a:extLst xmlns:a="http://schemas.openxmlformats.org/drawingml/2006/main">
              <a:ext uri="{FF2B5EF4-FFF2-40B4-BE49-F238E27FC236}">
                <a16:creationId xmlns:a16="http://schemas.microsoft.com/office/drawing/2014/main" id="{AF0A021F-B5A5-4FC4-88EC-427865D7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16" name="Text 9">
            <a:extLst xmlns:a="http://schemas.openxmlformats.org/drawingml/2006/main">
              <a:ext uri="{FF2B5EF4-FFF2-40B4-BE49-F238E27FC236}">
                <a16:creationId xmlns:a16="http://schemas.microsoft.com/office/drawing/2014/main" id="{C4959501-B1CB-4646-B76F-C1AC24C1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417" name="Text 10">
            <a:extLst xmlns:a="http://schemas.openxmlformats.org/drawingml/2006/main">
              <a:ext uri="{FF2B5EF4-FFF2-40B4-BE49-F238E27FC236}">
                <a16:creationId xmlns:a16="http://schemas.microsoft.com/office/drawing/2014/main" id="{0243C059-11AD-4E47-921E-3766D387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18" name="Text 11">
            <a:extLst xmlns:a="http://schemas.openxmlformats.org/drawingml/2006/main">
              <a:ext uri="{FF2B5EF4-FFF2-40B4-BE49-F238E27FC236}">
                <a16:creationId xmlns:a16="http://schemas.microsoft.com/office/drawing/2014/main" id="{98D64967-3BCD-4CD9-803D-93135399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419" name="Text 12">
            <a:extLst xmlns:a="http://schemas.openxmlformats.org/drawingml/2006/main">
              <a:ext uri="{FF2B5EF4-FFF2-40B4-BE49-F238E27FC236}">
                <a16:creationId xmlns:a16="http://schemas.microsoft.com/office/drawing/2014/main" id="{E92F7E8B-428A-4224-8DA6-5280AE04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20" name="Text 13">
            <a:extLst xmlns:a="http://schemas.openxmlformats.org/drawingml/2006/main">
              <a:ext uri="{FF2B5EF4-FFF2-40B4-BE49-F238E27FC236}">
                <a16:creationId xmlns:a16="http://schemas.microsoft.com/office/drawing/2014/main" id="{8D9ED43D-08F3-4261-948C-CC39D922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421" name="Shape 20">
            <a:extLst xmlns:a="http://schemas.openxmlformats.org/drawingml/2006/main">
              <a:ext uri="{FF2B5EF4-FFF2-40B4-BE49-F238E27FC236}">
                <a16:creationId xmlns:a16="http://schemas.microsoft.com/office/drawing/2014/main" id="{297F9FDF-19C6-46C0-9B5D-E8E6B321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2" name="Text 21">
            <a:extLst xmlns:a="http://schemas.openxmlformats.org/drawingml/2006/main">
              <a:ext uri="{FF2B5EF4-FFF2-40B4-BE49-F238E27FC236}">
                <a16:creationId xmlns:a16="http://schemas.microsoft.com/office/drawing/2014/main" id="{829AB7E3-64E1-4062-8FCA-BD67C427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02  Market</a:t>
            </a:r>
          </a:p>
        </p:txBody>
      </p:sp>
      <p:sp>
        <p:nvSpPr>
          <p:cNvPr id="423" name="Text 22">
            <a:extLst xmlns:a="http://schemas.openxmlformats.org/drawingml/2006/main">
              <a:ext uri="{FF2B5EF4-FFF2-40B4-BE49-F238E27FC236}">
                <a16:creationId xmlns:a16="http://schemas.microsoft.com/office/drawing/2014/main" id="{9598BFB5-87FD-49DB-A61A-4646FA16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A complete research flow from market direction to ETF comparison and saving</a:t>
            </a:r>
          </a:p>
        </p:txBody>
      </p:sp>
      <p:sp>
        <p:nvSpPr>
          <p:cNvPr id="424" name="Shape 23">
            <a:extLst xmlns:a="http://schemas.openxmlformats.org/drawingml/2006/main">
              <a:ext uri="{FF2B5EF4-FFF2-40B4-BE49-F238E27FC236}">
                <a16:creationId xmlns:a16="http://schemas.microsoft.com/office/drawing/2014/main" id="{EEDD4B21-6FE6-453F-BF65-1860F5DC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5" name="Shape 24">
            <a:extLst xmlns:a="http://schemas.openxmlformats.org/drawingml/2006/main">
              <a:ext uri="{FF2B5EF4-FFF2-40B4-BE49-F238E27FC236}">
                <a16:creationId xmlns:a16="http://schemas.microsoft.com/office/drawing/2014/main" id="{46A0CA2A-D224-463B-8E31-311445BB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6" name="Shape 25">
            <a:extLst xmlns:a="http://schemas.openxmlformats.org/drawingml/2006/main">
              <a:ext uri="{FF2B5EF4-FFF2-40B4-BE49-F238E27FC236}">
                <a16:creationId xmlns:a16="http://schemas.microsoft.com/office/drawing/2014/main" id="{CDE8A223-1A26-4CC9-A929-B24C643F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7" name="Text 26">
            <a:extLst xmlns:a="http://schemas.openxmlformats.org/drawingml/2006/main">
              <a:ext uri="{FF2B5EF4-FFF2-40B4-BE49-F238E27FC236}">
                <a16:creationId xmlns:a16="http://schemas.microsoft.com/office/drawing/2014/main" id="{074A1C38-0A58-4DD5-810B-99F9D1C3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428" name="Text 27">
            <a:extLst xmlns:a="http://schemas.openxmlformats.org/drawingml/2006/main">
              <a:ext uri="{FF2B5EF4-FFF2-40B4-BE49-F238E27FC236}">
                <a16:creationId xmlns:a16="http://schemas.microsoft.com/office/drawing/2014/main" id="{96E17354-C169-4C37-85C8-BB15205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83" y="6446520"/>
            <a:ext cx="895636" cy="255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06 / 10</a:t>
            </a:r>
          </a:p>
        </p:txBody>
      </p:sp>
      <p:pic>
        <p:nvPicPr>
          <p:cNvPr id="47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08d9b7930426e"/>
          <a:stretch xmlns:a="http://schemas.openxmlformats.org/drawingml/2006/main"/>
        </p:blipFill>
        <p:spPr>
          <a:xfrm xmlns:a="http://schemas.openxmlformats.org/drawingml/2006/main">
            <a:off x="2800080" y="1645200"/>
            <a:ext cx="195084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BD63C87-2CB3-4EA3-8B1E-77B9F6C9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81150"/>
            <a:ext cx="4953000" cy="28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MERMAID SOURCE</a:t>
            </a:r>
          </a:p>
        </p:txBody>
      </p:sp>
      <p:sp>
        <p:nvSpPr>
          <p:cNvPr id="4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8A1DFE9-FFF1-40CF-984C-B534FF12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120" y="224028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08889A5-8233-45AE-BDA5-066697F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521970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0" tIns="190500" rIns="190500" bIns="1714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3000"/>
              </a:lnSpc>
              <a:buNone/>
            </a:pPr>
            <a:r>
              <a:rPr sz="1013">
                <a:solidFill>
                  <a:srgbClr val="0A1F3E"/>
                </a:solidFill>
                <a:latin typeface="Menlo"/>
                <a:ea typeface="Menlo"/>
                <a:cs typeface="Menlo"/>
              </a:rPr>
              <a:t>flowchart LR
  A[Market Intelligence] --&gt; B[Heatmap + Signals]
  B --&gt; C[Sector Detail]
  C --&gt; D[ETF Rankings]
  D --&gt; E[ETF Detail]
  E --&gt; F[Compare ETF]
  E --&gt; G[Watchlist]
  E --&gt; H[Add to My Portfolio]
  G --&gt; I[Screener]
  H --&gt; J[My Portfolio]</a:t>
            </a:r>
          </a:p>
        </p:txBody>
      </p:sp>
      <p:sp>
        <p:nvSpPr>
          <p:cNvPr id="4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913FC6F2-5E65-4CFD-8383-FBEF17E1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120" y="263340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121E974-707B-41B4-9669-E1455749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960" y="263340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2B9BAA-B432-4D5A-893F-D6BECA80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120" y="302652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F16FD67B-2137-41DB-8D43-39EA12F4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960" y="302652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45CC6CFF-4A6B-471B-A8E1-3BC3B4C0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120" y="341964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CE8F3111-4112-4BEE-B9A6-B3FF1C71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960" y="341964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A3D22E16-5762-467B-80DE-ECC7EDE6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120" y="381312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069E756-FE28-49CB-8314-072AA50A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960" y="381312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3E0A994-C4CB-4B6E-9A3B-A5749678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120" y="420624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2DD9018-99D7-43DD-A8A6-F888EC4E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960" y="420624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EB36A1C5-A13D-4220-83ED-EF89A98A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120" y="459936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56A46C84-E5C3-4575-8163-21972725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960" y="459936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E9F71E37-2448-44C8-A1AB-11B9A6FD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120" y="4992480"/>
            <a:ext cx="402120" cy="200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AEBDA0B3-DC22-4877-9892-DD20B0F3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960" y="4992480"/>
            <a:ext cx="4160160" cy="23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4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69bafb14f489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800064" y="1645158"/>
            <a:ext cx="1950815" cy="4244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40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4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F983B66-7312-4472-8C84-40D2C68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8140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05" name="Shape 0">
            <a:extLst xmlns:a="http://schemas.openxmlformats.org/drawingml/2006/main">
              <a:ext uri="{FF2B5EF4-FFF2-40B4-BE49-F238E27FC236}">
                <a16:creationId xmlns:a16="http://schemas.microsoft.com/office/drawing/2014/main" id="{A6921955-79C6-4FEC-8DB5-98707B4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06" name="Shape 1">
            <a:extLst xmlns:a="http://schemas.openxmlformats.org/drawingml/2006/main">
              <a:ext uri="{FF2B5EF4-FFF2-40B4-BE49-F238E27FC236}">
                <a16:creationId xmlns:a16="http://schemas.microsoft.com/office/drawing/2014/main" id="{93D72A8B-FF7B-435F-8EDF-7A05D46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07" name="Text 2">
            <a:extLst xmlns:a="http://schemas.openxmlformats.org/drawingml/2006/main">
              <a:ext uri="{FF2B5EF4-FFF2-40B4-BE49-F238E27FC236}">
                <a16:creationId xmlns:a16="http://schemas.microsoft.com/office/drawing/2014/main" id="{1CF27C9F-4AD5-4839-97C9-E846C40A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808" name="Shape 3">
            <a:extLst xmlns:a="http://schemas.openxmlformats.org/drawingml/2006/main">
              <a:ext uri="{FF2B5EF4-FFF2-40B4-BE49-F238E27FC236}">
                <a16:creationId xmlns:a16="http://schemas.microsoft.com/office/drawing/2014/main" id="{4E9414D4-FABE-4E4B-85C2-4497C585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09" name="Shape 4">
            <a:extLst xmlns:a="http://schemas.openxmlformats.org/drawingml/2006/main">
              <a:ext uri="{FF2B5EF4-FFF2-40B4-BE49-F238E27FC236}">
                <a16:creationId xmlns:a16="http://schemas.microsoft.com/office/drawing/2014/main" id="{9592A062-215B-44EC-A3A9-B2CE8BA5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33"/>
            <a:ext cx="1481042" cy="667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10" name="Shape 5">
            <a:extLst xmlns:a="http://schemas.openxmlformats.org/drawingml/2006/main">
              <a:ext uri="{FF2B5EF4-FFF2-40B4-BE49-F238E27FC236}">
                <a16:creationId xmlns:a16="http://schemas.microsoft.com/office/drawing/2014/main" id="{A70FA574-F048-45D2-B80A-7659FC8D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33"/>
            <a:ext cx="50006" cy="667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11" name="Text 6">
            <a:extLst xmlns:a="http://schemas.openxmlformats.org/drawingml/2006/main">
              <a:ext uri="{FF2B5EF4-FFF2-40B4-BE49-F238E27FC236}">
                <a16:creationId xmlns:a16="http://schemas.microsoft.com/office/drawing/2014/main" id="{6366DDA6-1770-497D-B521-140A1593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12" name="Text 7">
            <a:extLst xmlns:a="http://schemas.openxmlformats.org/drawingml/2006/main">
              <a:ext uri="{FF2B5EF4-FFF2-40B4-BE49-F238E27FC236}">
                <a16:creationId xmlns:a16="http://schemas.microsoft.com/office/drawing/2014/main" id="{64B4AE08-793B-4052-8309-D54FBD8A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813" name="Text 8">
            <a:extLst xmlns:a="http://schemas.openxmlformats.org/drawingml/2006/main">
              <a:ext uri="{FF2B5EF4-FFF2-40B4-BE49-F238E27FC236}">
                <a16:creationId xmlns:a16="http://schemas.microsoft.com/office/drawing/2014/main" id="{29AE05B7-1F81-4C0D-9349-7F37BD06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14" name="Text 9">
            <a:extLst xmlns:a="http://schemas.openxmlformats.org/drawingml/2006/main">
              <a:ext uri="{FF2B5EF4-FFF2-40B4-BE49-F238E27FC236}">
                <a16:creationId xmlns:a16="http://schemas.microsoft.com/office/drawing/2014/main" id="{C26088DF-8AA2-4E1F-BC69-358E7A5D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815" name="Text 10">
            <a:extLst xmlns:a="http://schemas.openxmlformats.org/drawingml/2006/main">
              <a:ext uri="{FF2B5EF4-FFF2-40B4-BE49-F238E27FC236}">
                <a16:creationId xmlns:a16="http://schemas.microsoft.com/office/drawing/2014/main" id="{1D88E83E-8016-4186-81B8-63132BF8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16" name="Text 11">
            <a:extLst xmlns:a="http://schemas.openxmlformats.org/drawingml/2006/main">
              <a:ext uri="{FF2B5EF4-FFF2-40B4-BE49-F238E27FC236}">
                <a16:creationId xmlns:a16="http://schemas.microsoft.com/office/drawing/2014/main" id="{8AF072C9-4800-4BA3-A873-97D4B945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817" name="Text 12">
            <a:extLst xmlns:a="http://schemas.openxmlformats.org/drawingml/2006/main">
              <a:ext uri="{FF2B5EF4-FFF2-40B4-BE49-F238E27FC236}">
                <a16:creationId xmlns:a16="http://schemas.microsoft.com/office/drawing/2014/main" id="{5CDCDF77-8B55-415B-888F-9A7D534B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18" name="Text 13">
            <a:extLst xmlns:a="http://schemas.openxmlformats.org/drawingml/2006/main">
              <a:ext uri="{FF2B5EF4-FFF2-40B4-BE49-F238E27FC236}">
                <a16:creationId xmlns:a16="http://schemas.microsoft.com/office/drawing/2014/main" id="{9656F6E3-5B4E-438F-88C8-6CD9B4F6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819" name="Shape 20">
            <a:extLst xmlns:a="http://schemas.openxmlformats.org/drawingml/2006/main">
              <a:ext uri="{FF2B5EF4-FFF2-40B4-BE49-F238E27FC236}">
                <a16:creationId xmlns:a16="http://schemas.microsoft.com/office/drawing/2014/main" id="{6421F2F3-5EA7-4238-BED0-488A9F84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20" name="Text 21">
            <a:extLst xmlns:a="http://schemas.openxmlformats.org/drawingml/2006/main">
              <a:ext uri="{FF2B5EF4-FFF2-40B4-BE49-F238E27FC236}">
                <a16:creationId xmlns:a16="http://schemas.microsoft.com/office/drawing/2014/main" id="{D9C4A217-33AF-41D0-9F5C-6F79F4C3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User Story 1 — Establish research direction</a:t>
            </a:r>
          </a:p>
        </p:txBody>
      </p:sp>
      <p:sp>
        <p:nvSpPr>
          <p:cNvPr id="821" name="Text 22">
            <a:extLst xmlns:a="http://schemas.openxmlformats.org/drawingml/2006/main">
              <a:ext uri="{FF2B5EF4-FFF2-40B4-BE49-F238E27FC236}">
                <a16:creationId xmlns:a16="http://schemas.microsoft.com/office/drawing/2014/main" id="{A6B7594F-DD08-4CC4-B7DE-8A8BE504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Market Intelligence turns daily breadth, signals and discovery rails into the next sector research target</a:t>
            </a:r>
          </a:p>
        </p:txBody>
      </p:sp>
      <p:sp>
        <p:nvSpPr>
          <p:cNvPr id="822" name="Shape 23">
            <a:extLst xmlns:a="http://schemas.openxmlformats.org/drawingml/2006/main">
              <a:ext uri="{FF2B5EF4-FFF2-40B4-BE49-F238E27FC236}">
                <a16:creationId xmlns:a16="http://schemas.microsoft.com/office/drawing/2014/main" id="{CBF9D776-7E67-4672-86A5-4C1AB8B5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23" name="Shape 24">
            <a:extLst xmlns:a="http://schemas.openxmlformats.org/drawingml/2006/main">
              <a:ext uri="{FF2B5EF4-FFF2-40B4-BE49-F238E27FC236}">
                <a16:creationId xmlns:a16="http://schemas.microsoft.com/office/drawing/2014/main" id="{7A14564A-62C1-4405-B0EA-14AC5DAE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24" name="Shape 25">
            <a:extLst xmlns:a="http://schemas.openxmlformats.org/drawingml/2006/main">
              <a:ext uri="{FF2B5EF4-FFF2-40B4-BE49-F238E27FC236}">
                <a16:creationId xmlns:a16="http://schemas.microsoft.com/office/drawing/2014/main" id="{3ACFA23F-14FD-48E9-81C3-91E9F52A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25" name="Text 26">
            <a:extLst xmlns:a="http://schemas.openxmlformats.org/drawingml/2006/main">
              <a:ext uri="{FF2B5EF4-FFF2-40B4-BE49-F238E27FC236}">
                <a16:creationId xmlns:a16="http://schemas.microsoft.com/office/drawing/2014/main" id="{3641A4E0-58B0-4B92-A939-5F238254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826" name="Text 27">
            <a:extLst xmlns:a="http://schemas.openxmlformats.org/drawingml/2006/main">
              <a:ext uri="{FF2B5EF4-FFF2-40B4-BE49-F238E27FC236}">
                <a16:creationId xmlns:a16="http://schemas.microsoft.com/office/drawing/2014/main" id="{E1B2D57C-C353-4A60-9B64-2A8A76C1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07 / 10</a:t>
            </a:r>
          </a:p>
        </p:txBody>
      </p:sp>
      <p:pic>
        <p:nvPicPr>
          <p:cNvPr id="863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b1d69139c4f99"/>
          <a:stretch xmlns:a="http://schemas.openxmlformats.org/drawingml/2006/main"/>
        </p:blipFill>
        <p:spPr>
          <a:xfrm xmlns:a="http://schemas.openxmlformats.org/drawingml/2006/main">
            <a:off x="197496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864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0bdc0f6b641ac"/>
          <a:stretch xmlns:a="http://schemas.openxmlformats.org/drawingml/2006/main"/>
        </p:blipFill>
        <p:spPr>
          <a:xfrm xmlns:a="http://schemas.openxmlformats.org/drawingml/2006/main">
            <a:off x="394092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865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373102e304de6"/>
          <a:stretch xmlns:a="http://schemas.openxmlformats.org/drawingml/2006/main"/>
        </p:blipFill>
        <p:spPr>
          <a:xfrm xmlns:a="http://schemas.openxmlformats.org/drawingml/2006/main">
            <a:off x="590688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30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BCCF8499-5661-4156-8533-CD30B263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01 · SECTOR HEATMAP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Open Market Intelligence, explain its research-only role, then scan sector blocks and the Rising / Flat / Falling breadth summary.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MKT-US1-AC01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All research sections load successfully.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MKT-US1-AC02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Heatmap blocks show name, move, count and trend.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MKT-US1-AC03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Breadth summary matches current heatmap data.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MKT-US1-AC10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Research views are not presented as recommendations.</a:t>
            </a:r>
          </a:p>
        </p:txBody>
      </p:sp>
      <p:sp>
        <p:nvSpPr>
          <p:cNvPr id="8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65CF780E-A6FE-474E-A37D-E3C74B54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02 · AI SIGNALS + INDICES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Browse an AI Market Signal with date, movement, analysis, related ETFs and sources, then show major indices with the delayed-data label visible.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MKT-US1-AC04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Signal cards expose analysis context and sources.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MKT-US1-AC05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Major indices retain delayed-data boundaries.</a:t>
            </a:r>
          </a:p>
        </p:txBody>
      </p:sp>
      <p:sp>
        <p:nvSpPr>
          <p:cNvPr id="8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45701EA2-12F5-429C-B65E-87142EB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81425"/>
            <a:ext cx="3114675" cy="2142911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03 · DISCOVERY TO SECTOR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Switch Default / Hot sectors, inspect Recommended ETFs and View all, then open a sector to continue into Sector Detail.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MKT-US1-AC06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Discovery supports sector and ETF research scopes.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MKT-US1-AC07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Default / Hot switches update the visible selection.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MKT-US1-AC08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Recommended is curated and rows expose core facts.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MKT-US1-AC09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A selected sector opens matching Sector Detail.</a:t>
            </a:r>
          </a:p>
        </p:txBody>
      </p:sp>
      <p:sp>
        <p:nvSpPr>
          <p:cNvPr id="83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9DB7FD7-AA74-4AE4-B5AE-501634FB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320" y="4203720"/>
            <a:ext cx="3564720" cy="95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sz="18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/>
            </a:r>
          </a:p>
        </p:txBody>
      </p:sp>
      <p:pic>
        <p:nvPicPr>
          <p:cNvPr id="8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fc150896945c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7988" y="1524000"/>
            <a:ext cx="1123950" cy="2266950"/>
          </a:xfrm>
          <a:prstGeom xmlns:a="http://schemas.openxmlformats.org/drawingml/2006/main" prst="rect">
            <a:avLst/>
          </a:prstGeom>
        </p:spPr>
      </p:pic>
      <p:pic>
        <p:nvPicPr>
          <p:cNvPr id="8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fe30565354b4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3638" y="1524000"/>
            <a:ext cx="1123950" cy="2266950"/>
          </a:xfrm>
          <a:prstGeom xmlns:a="http://schemas.openxmlformats.org/drawingml/2006/main" prst="rect">
            <a:avLst/>
          </a:prstGeom>
        </p:spPr>
      </p:pic>
      <p:pic>
        <p:nvPicPr>
          <p:cNvPr id="8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1d4d05a9c48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39288" y="1524000"/>
            <a:ext cx="1123950" cy="2266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9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5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75EE31F-DC08-45F0-8C40-1BFA7DD6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8140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26" name="Shape 0">
            <a:extLst xmlns:a="http://schemas.openxmlformats.org/drawingml/2006/main">
              <a:ext uri="{FF2B5EF4-FFF2-40B4-BE49-F238E27FC236}">
                <a16:creationId xmlns:a16="http://schemas.microsoft.com/office/drawing/2014/main" id="{BD263DB2-3CC2-4944-8F52-72675F1F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27" name="Shape 1">
            <a:extLst xmlns:a="http://schemas.openxmlformats.org/drawingml/2006/main">
              <a:ext uri="{FF2B5EF4-FFF2-40B4-BE49-F238E27FC236}">
                <a16:creationId xmlns:a16="http://schemas.microsoft.com/office/drawing/2014/main" id="{83124294-6C83-401E-8B92-B1CA04E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28" name="Text 2">
            <a:extLst xmlns:a="http://schemas.openxmlformats.org/drawingml/2006/main">
              <a:ext uri="{FF2B5EF4-FFF2-40B4-BE49-F238E27FC236}">
                <a16:creationId xmlns:a16="http://schemas.microsoft.com/office/drawing/2014/main" id="{9C771353-15CE-4885-975A-4E583B6A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629" name="Shape 3">
            <a:extLst xmlns:a="http://schemas.openxmlformats.org/drawingml/2006/main">
              <a:ext uri="{FF2B5EF4-FFF2-40B4-BE49-F238E27FC236}">
                <a16:creationId xmlns:a16="http://schemas.microsoft.com/office/drawing/2014/main" id="{CD0BB8D1-FDF9-49D5-A1FC-3CD605D3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30" name="Shape 4">
            <a:extLst xmlns:a="http://schemas.openxmlformats.org/drawingml/2006/main">
              <a:ext uri="{FF2B5EF4-FFF2-40B4-BE49-F238E27FC236}">
                <a16:creationId xmlns:a16="http://schemas.microsoft.com/office/drawing/2014/main" id="{661363C6-E5F2-49EF-ABAF-046AA1B8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31" name="Shape 5">
            <a:extLst xmlns:a="http://schemas.openxmlformats.org/drawingml/2006/main">
              <a:ext uri="{FF2B5EF4-FFF2-40B4-BE49-F238E27FC236}">
                <a16:creationId xmlns:a16="http://schemas.microsoft.com/office/drawing/2014/main" id="{E5594A08-63BC-4723-BD33-AD988C6F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32" name="Text 6">
            <a:extLst xmlns:a="http://schemas.openxmlformats.org/drawingml/2006/main">
              <a:ext uri="{FF2B5EF4-FFF2-40B4-BE49-F238E27FC236}">
                <a16:creationId xmlns:a16="http://schemas.microsoft.com/office/drawing/2014/main" id="{2D4B4990-0465-4EB9-AF33-8938C0DD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33" name="Text 7">
            <a:extLst xmlns:a="http://schemas.openxmlformats.org/drawingml/2006/main">
              <a:ext uri="{FF2B5EF4-FFF2-40B4-BE49-F238E27FC236}">
                <a16:creationId xmlns:a16="http://schemas.microsoft.com/office/drawing/2014/main" id="{96FFFBD1-8760-4AE5-9EA4-2D425025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634" name="Text 8">
            <a:extLst xmlns:a="http://schemas.openxmlformats.org/drawingml/2006/main">
              <a:ext uri="{FF2B5EF4-FFF2-40B4-BE49-F238E27FC236}">
                <a16:creationId xmlns:a16="http://schemas.microsoft.com/office/drawing/2014/main" id="{700F5F3A-C66D-4B70-8A4C-FEEF1EBE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35" name="Text 9">
            <a:extLst xmlns:a="http://schemas.openxmlformats.org/drawingml/2006/main">
              <a:ext uri="{FF2B5EF4-FFF2-40B4-BE49-F238E27FC236}">
                <a16:creationId xmlns:a16="http://schemas.microsoft.com/office/drawing/2014/main" id="{22D40DDC-12A6-4A0C-960D-7CE2831A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636" name="Text 10">
            <a:extLst xmlns:a="http://schemas.openxmlformats.org/drawingml/2006/main">
              <a:ext uri="{FF2B5EF4-FFF2-40B4-BE49-F238E27FC236}">
                <a16:creationId xmlns:a16="http://schemas.microsoft.com/office/drawing/2014/main" id="{B71309CB-C6FE-404C-A2A4-1A27DDD3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37" name="Text 11">
            <a:extLst xmlns:a="http://schemas.openxmlformats.org/drawingml/2006/main">
              <a:ext uri="{FF2B5EF4-FFF2-40B4-BE49-F238E27FC236}">
                <a16:creationId xmlns:a16="http://schemas.microsoft.com/office/drawing/2014/main" id="{6ECE330E-B76A-4AD3-B017-F0359F0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638" name="Text 12">
            <a:extLst xmlns:a="http://schemas.openxmlformats.org/drawingml/2006/main">
              <a:ext uri="{FF2B5EF4-FFF2-40B4-BE49-F238E27FC236}">
                <a16:creationId xmlns:a16="http://schemas.microsoft.com/office/drawing/2014/main" id="{72E8C73A-6585-4998-922C-F1C55B16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39" name="Text 13">
            <a:extLst xmlns:a="http://schemas.openxmlformats.org/drawingml/2006/main">
              <a:ext uri="{FF2B5EF4-FFF2-40B4-BE49-F238E27FC236}">
                <a16:creationId xmlns:a16="http://schemas.microsoft.com/office/drawing/2014/main" id="{C51B53A5-6BC0-46DD-8094-DE16090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640" name="Shape 20">
            <a:extLst xmlns:a="http://schemas.openxmlformats.org/drawingml/2006/main">
              <a:ext uri="{FF2B5EF4-FFF2-40B4-BE49-F238E27FC236}">
                <a16:creationId xmlns:a16="http://schemas.microsoft.com/office/drawing/2014/main" id="{584E742A-F2AF-490B-BD89-8AE66EB1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41" name="Text 21">
            <a:extLst xmlns:a="http://schemas.openxmlformats.org/drawingml/2006/main">
              <a:ext uri="{FF2B5EF4-FFF2-40B4-BE49-F238E27FC236}">
                <a16:creationId xmlns:a16="http://schemas.microsoft.com/office/drawing/2014/main" id="{01579B83-7C7C-4C7F-9748-DB7226D0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User Story 2 — Understand sector trends and filter ETFs</a:t>
            </a:r>
          </a:p>
        </p:txBody>
      </p:sp>
      <p:sp>
        <p:nvSpPr>
          <p:cNvPr id="642" name="Text 22">
            <a:extLst xmlns:a="http://schemas.openxmlformats.org/drawingml/2006/main">
              <a:ext uri="{FF2B5EF4-FFF2-40B4-BE49-F238E27FC236}">
                <a16:creationId xmlns:a16="http://schemas.microsoft.com/office/drawing/2014/main" id="{226BDCDE-C7F7-48F9-902D-ADB7EA06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Sector context, EOD research observations and sortable rankings produce the next ETF candidate</a:t>
            </a:r>
          </a:p>
        </p:txBody>
      </p:sp>
      <p:sp>
        <p:nvSpPr>
          <p:cNvPr id="643" name="Shape 23">
            <a:extLst xmlns:a="http://schemas.openxmlformats.org/drawingml/2006/main">
              <a:ext uri="{FF2B5EF4-FFF2-40B4-BE49-F238E27FC236}">
                <a16:creationId xmlns:a16="http://schemas.microsoft.com/office/drawing/2014/main" id="{F9BA14FE-297A-44F3-93C0-74C2673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44" name="Shape 24">
            <a:extLst xmlns:a="http://schemas.openxmlformats.org/drawingml/2006/main">
              <a:ext uri="{FF2B5EF4-FFF2-40B4-BE49-F238E27FC236}">
                <a16:creationId xmlns:a16="http://schemas.microsoft.com/office/drawing/2014/main" id="{4C8AB795-43AC-4623-9E77-F2B0C568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45" name="Shape 25">
            <a:extLst xmlns:a="http://schemas.openxmlformats.org/drawingml/2006/main">
              <a:ext uri="{FF2B5EF4-FFF2-40B4-BE49-F238E27FC236}">
                <a16:creationId xmlns:a16="http://schemas.microsoft.com/office/drawing/2014/main" id="{D6BCB687-3DDF-43AF-A884-1DC86DBB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46" name="Text 26">
            <a:extLst xmlns:a="http://schemas.openxmlformats.org/drawingml/2006/main">
              <a:ext uri="{FF2B5EF4-FFF2-40B4-BE49-F238E27FC236}">
                <a16:creationId xmlns:a16="http://schemas.microsoft.com/office/drawing/2014/main" id="{0360187E-AAB7-4353-A411-D14CD41E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647" name="Text 27">
            <a:extLst xmlns:a="http://schemas.openxmlformats.org/drawingml/2006/main">
              <a:ext uri="{FF2B5EF4-FFF2-40B4-BE49-F238E27FC236}">
                <a16:creationId xmlns:a16="http://schemas.microsoft.com/office/drawing/2014/main" id="{1A73B37D-DC58-4907-BFD2-DE85687A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08 / 10</a:t>
            </a:r>
          </a:p>
        </p:txBody>
      </p:sp>
      <p:pic>
        <p:nvPicPr>
          <p:cNvPr id="682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26be6238241d9"/>
          <a:stretch xmlns:a="http://schemas.openxmlformats.org/drawingml/2006/main"/>
        </p:blipFill>
        <p:spPr>
          <a:xfrm xmlns:a="http://schemas.openxmlformats.org/drawingml/2006/main">
            <a:off x="231840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49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C3C068D8-05D0-4CB5-90CA-686E301D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01 · SECTOR BANNER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Open a selected sector such as Crypto and confirm the banner identity, representative tickers, ETF count, movement and cached snapshot label.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MKT-US2-AC01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Selected sector data replaces the prior sector.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MKT-US2-AC02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Banner shows tickers, ETF count and movement.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MKT-US2-AC03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Snapshot / EOD boundaries remain explicit.</a:t>
            </a:r>
          </a:p>
        </p:txBody>
      </p:sp>
      <p:sp>
        <p:nvSpPr>
          <p:cNvPr id="650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A769E454-0A6D-4624-AF6A-F44A632B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02 · AI SECTOR INSIGHTS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Read Momentum &amp; Breadth, Liquidity Pulse and Trend &amp; Risk in order; explain the EOD basis and the non-predictive research wording.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MKT-US2-AC04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At least three research angles are covered.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MKT-US2-AC05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Insufficient data stays unavailable, not fabricated.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MKT-US2-AC11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Insights avoid predictions and trade advice.</a:t>
            </a:r>
          </a:p>
        </p:txBody>
      </p:sp>
      <p:pic>
        <p:nvPicPr>
          <p:cNvPr id="685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5a016680a4208"/>
          <a:stretch xmlns:a="http://schemas.openxmlformats.org/drawingml/2006/main"/>
        </p:blipFill>
        <p:spPr>
          <a:xfrm xmlns:a="http://schemas.openxmlformats.org/drawingml/2006/main">
            <a:off x="4497480" y="164052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5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14D3932-9DC2-4CAA-A20A-9EFAE92F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03 · ETF RANKINGS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Keep the selected sector, switch sorting metrics and return periods, then open one ETF from the resulting sector-only ranking.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MKT-US2-AC06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Only current-sector ETFs appear.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MKT-US2-AC07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Implemented ranking metrics are selectable.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MKT-US2-AC08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1D / 1W / 1M / 3M periods update results.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MKT-US2-AC09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Sorting and period preserve sector scope.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MKT-US2-AC10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A ranking row opens the matching ETF Detail.</a:t>
            </a:r>
          </a:p>
        </p:txBody>
      </p:sp>
      <p:sp>
        <p:nvSpPr>
          <p:cNvPr id="653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E5D26AB5-14D1-428C-AC6C-16A38E30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920" y="4044960"/>
            <a:ext cx="4873320" cy="95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sz="18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/>
            </a:r>
          </a:p>
        </p:txBody>
      </p:sp>
      <p:pic>
        <p:nvPicPr>
          <p:cNvPr id="6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72a24113a46f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7988" y="1524000"/>
            <a:ext cx="1123950" cy="2266950"/>
          </a:xfrm>
          <a:prstGeom xmlns:a="http://schemas.openxmlformats.org/drawingml/2006/main" prst="rect">
            <a:avLst/>
          </a:prstGeom>
        </p:spPr>
      </p:pic>
      <p:pic>
        <p:nvPicPr>
          <p:cNvPr id="6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ebbed78be450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3638" y="1524000"/>
            <a:ext cx="1123950" cy="2266950"/>
          </a:xfrm>
          <a:prstGeom xmlns:a="http://schemas.openxmlformats.org/drawingml/2006/main" prst="rect">
            <a:avLst/>
          </a:prstGeom>
        </p:spPr>
      </p:pic>
      <p:pic>
        <p:nvPicPr>
          <p:cNvPr id="6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1d8be5de74f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39288" y="1524000"/>
            <a:ext cx="1123950" cy="2266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600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2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1C9D2B1-F8B6-44EC-BE74-EE88BDE4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8140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3" name="Shape 0">
            <a:extLst xmlns:a="http://schemas.openxmlformats.org/drawingml/2006/main">
              <a:ext uri="{FF2B5EF4-FFF2-40B4-BE49-F238E27FC236}">
                <a16:creationId xmlns:a16="http://schemas.microsoft.com/office/drawing/2014/main" id="{F1263F6E-AA96-49B7-8C67-CE16ADF0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4" name="Shape 1">
            <a:extLst xmlns:a="http://schemas.openxmlformats.org/drawingml/2006/main">
              <a:ext uri="{FF2B5EF4-FFF2-40B4-BE49-F238E27FC236}">
                <a16:creationId xmlns:a16="http://schemas.microsoft.com/office/drawing/2014/main" id="{689F5AE4-8017-4829-ADFC-ADAE408F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5" name="Text 2">
            <a:extLst xmlns:a="http://schemas.openxmlformats.org/drawingml/2006/main">
              <a:ext uri="{FF2B5EF4-FFF2-40B4-BE49-F238E27FC236}">
                <a16:creationId xmlns:a16="http://schemas.microsoft.com/office/drawing/2014/main" id="{63A2250E-E82F-471D-8A4A-425DF421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486" name="Shape 3">
            <a:extLst xmlns:a="http://schemas.openxmlformats.org/drawingml/2006/main">
              <a:ext uri="{FF2B5EF4-FFF2-40B4-BE49-F238E27FC236}">
                <a16:creationId xmlns:a16="http://schemas.microsoft.com/office/drawing/2014/main" id="{C5E48E7D-9EDE-4234-9442-3C51DB26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7" name="Shape 4">
            <a:extLst xmlns:a="http://schemas.openxmlformats.org/drawingml/2006/main">
              <a:ext uri="{FF2B5EF4-FFF2-40B4-BE49-F238E27FC236}">
                <a16:creationId xmlns:a16="http://schemas.microsoft.com/office/drawing/2014/main" id="{47D6D536-52DA-4179-ADF3-82614762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8" name="Shape 5">
            <a:extLst xmlns:a="http://schemas.openxmlformats.org/drawingml/2006/main">
              <a:ext uri="{FF2B5EF4-FFF2-40B4-BE49-F238E27FC236}">
                <a16:creationId xmlns:a16="http://schemas.microsoft.com/office/drawing/2014/main" id="{BF557DA0-46BD-478B-BB9F-0A71662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9" name="Text 6">
            <a:extLst xmlns:a="http://schemas.openxmlformats.org/drawingml/2006/main">
              <a:ext uri="{FF2B5EF4-FFF2-40B4-BE49-F238E27FC236}">
                <a16:creationId xmlns:a16="http://schemas.microsoft.com/office/drawing/2014/main" id="{953E760B-DB65-425B-8385-B781585F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90" name="Text 7">
            <a:extLst xmlns:a="http://schemas.openxmlformats.org/drawingml/2006/main">
              <a:ext uri="{FF2B5EF4-FFF2-40B4-BE49-F238E27FC236}">
                <a16:creationId xmlns:a16="http://schemas.microsoft.com/office/drawing/2014/main" id="{C4A77B92-1E12-4245-A629-C18617AA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491" name="Text 8">
            <a:extLst xmlns:a="http://schemas.openxmlformats.org/drawingml/2006/main">
              <a:ext uri="{FF2B5EF4-FFF2-40B4-BE49-F238E27FC236}">
                <a16:creationId xmlns:a16="http://schemas.microsoft.com/office/drawing/2014/main" id="{7BDC5827-035A-4EA7-ACD4-316E9365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92" name="Text 9">
            <a:extLst xmlns:a="http://schemas.openxmlformats.org/drawingml/2006/main">
              <a:ext uri="{FF2B5EF4-FFF2-40B4-BE49-F238E27FC236}">
                <a16:creationId xmlns:a16="http://schemas.microsoft.com/office/drawing/2014/main" id="{FAB62058-4215-4CEF-992C-2EFC54C1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493" name="Text 10">
            <a:extLst xmlns:a="http://schemas.openxmlformats.org/drawingml/2006/main">
              <a:ext uri="{FF2B5EF4-FFF2-40B4-BE49-F238E27FC236}">
                <a16:creationId xmlns:a16="http://schemas.microsoft.com/office/drawing/2014/main" id="{DFE4536F-2EC1-4B70-897A-0AC76E9B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94" name="Text 11">
            <a:extLst xmlns:a="http://schemas.openxmlformats.org/drawingml/2006/main">
              <a:ext uri="{FF2B5EF4-FFF2-40B4-BE49-F238E27FC236}">
                <a16:creationId xmlns:a16="http://schemas.microsoft.com/office/drawing/2014/main" id="{D410269E-F539-412C-A861-63F24316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495" name="Text 12">
            <a:extLst xmlns:a="http://schemas.openxmlformats.org/drawingml/2006/main">
              <a:ext uri="{FF2B5EF4-FFF2-40B4-BE49-F238E27FC236}">
                <a16:creationId xmlns:a16="http://schemas.microsoft.com/office/drawing/2014/main" id="{0174F1AE-33F0-499E-8D83-C3F8F53A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96" name="Text 13">
            <a:extLst xmlns:a="http://schemas.openxmlformats.org/drawingml/2006/main">
              <a:ext uri="{FF2B5EF4-FFF2-40B4-BE49-F238E27FC236}">
                <a16:creationId xmlns:a16="http://schemas.microsoft.com/office/drawing/2014/main" id="{C3C6B754-312E-47DE-9249-3102408D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497" name="Shape 20">
            <a:extLst xmlns:a="http://schemas.openxmlformats.org/drawingml/2006/main">
              <a:ext uri="{FF2B5EF4-FFF2-40B4-BE49-F238E27FC236}">
                <a16:creationId xmlns:a16="http://schemas.microsoft.com/office/drawing/2014/main" id="{E7784B12-2F4D-4B1F-8B9C-0174EA35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8" name="Text 21">
            <a:extLst xmlns:a="http://schemas.openxmlformats.org/drawingml/2006/main">
              <a:ext uri="{FF2B5EF4-FFF2-40B4-BE49-F238E27FC236}">
                <a16:creationId xmlns:a16="http://schemas.microsoft.com/office/drawing/2014/main" id="{33A28CF6-05A5-42FA-A5B4-0E808669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User Story 3 — Research and compare individual ETFs</a:t>
            </a:r>
          </a:p>
        </p:txBody>
      </p:sp>
      <p:sp>
        <p:nvSpPr>
          <p:cNvPr id="499" name="Text 22">
            <a:extLst xmlns:a="http://schemas.openxmlformats.org/drawingml/2006/main">
              <a:ext uri="{FF2B5EF4-FFF2-40B4-BE49-F238E27FC236}">
                <a16:creationId xmlns:a16="http://schemas.microsoft.com/office/drawing/2014/main" id="{07485ACA-B9F7-493A-9964-75D22660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ETF identity, interactive chart controls and normalized comparison support instrument-level research</a:t>
            </a:r>
          </a:p>
        </p:txBody>
      </p:sp>
      <p:sp>
        <p:nvSpPr>
          <p:cNvPr id="500" name="Shape 23">
            <a:extLst xmlns:a="http://schemas.openxmlformats.org/drawingml/2006/main">
              <a:ext uri="{FF2B5EF4-FFF2-40B4-BE49-F238E27FC236}">
                <a16:creationId xmlns:a16="http://schemas.microsoft.com/office/drawing/2014/main" id="{9CC5E777-7987-4805-91BE-533AA78C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1" name="Shape 24">
            <a:extLst xmlns:a="http://schemas.openxmlformats.org/drawingml/2006/main">
              <a:ext uri="{FF2B5EF4-FFF2-40B4-BE49-F238E27FC236}">
                <a16:creationId xmlns:a16="http://schemas.microsoft.com/office/drawing/2014/main" id="{5F1C9AC8-5E1E-41BB-AED5-607257BB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2" name="Shape 25">
            <a:extLst xmlns:a="http://schemas.openxmlformats.org/drawingml/2006/main">
              <a:ext uri="{FF2B5EF4-FFF2-40B4-BE49-F238E27FC236}">
                <a16:creationId xmlns:a16="http://schemas.microsoft.com/office/drawing/2014/main" id="{8EDE9482-D2C2-4075-BB9E-C1D6C806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3" name="Text 26">
            <a:extLst xmlns:a="http://schemas.openxmlformats.org/drawingml/2006/main">
              <a:ext uri="{FF2B5EF4-FFF2-40B4-BE49-F238E27FC236}">
                <a16:creationId xmlns:a16="http://schemas.microsoft.com/office/drawing/2014/main" id="{FED5064E-578E-480D-9B82-471F680B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504" name="Text 27">
            <a:extLst xmlns:a="http://schemas.openxmlformats.org/drawingml/2006/main">
              <a:ext uri="{FF2B5EF4-FFF2-40B4-BE49-F238E27FC236}">
                <a16:creationId xmlns:a16="http://schemas.microsoft.com/office/drawing/2014/main" id="{ED8B2B5C-792E-4964-B752-CB8B7C5E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09 / 10</a:t>
            </a:r>
          </a:p>
        </p:txBody>
      </p:sp>
      <p:sp>
        <p:nvSpPr>
          <p:cNvPr id="505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94FEB90C-9E91-48C8-B57E-91791BA1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01 · ETF DETAIL + CHART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Open a candidate ETF, confirm identity and quote context, switch time ranges, then scrub the chart to update OHLC and volume.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MKT-US3-AC01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Header facts match the selected ETF.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MKT-US3-AC02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Chart uses only the current ETF series.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MKT-US3-AC03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Available time ranges update the chart.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MKT-US3-AC04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Scrubbing synchronizes OHLC and volume.</a:t>
            </a:r>
          </a:p>
        </p:txBody>
      </p:sp>
      <p:sp>
        <p:nvSpPr>
          <p:cNvPr id="506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350CE192-86DE-4AEE-93F0-E0CDE34B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02 · VIEW / OVERVIEW / NEWS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Open View, change chart type and a moving average, then check currently available key stats and ETF-related news metadata.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MKT-US3-AC05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Enabled chart types are selectable.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MKT-US3-AC06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MA switches affect only the current overlay.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MKT-US3-AC07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Unavailable key stats remain explicit.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MKT-US3-AC08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News shows headline, source and timestamp.</a:t>
            </a:r>
          </a:p>
        </p:txBody>
      </p:sp>
      <p:pic>
        <p:nvPicPr>
          <p:cNvPr id="541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a426f8eef4ae1"/>
          <a:stretch xmlns:a="http://schemas.openxmlformats.org/drawingml/2006/main"/>
        </p:blipFill>
        <p:spPr>
          <a:xfrm xmlns:a="http://schemas.openxmlformats.org/drawingml/2006/main">
            <a:off x="224028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542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2294e2d774e9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24400" y="1645357"/>
            <a:ext cx="1951920" cy="4243726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09" name="TextBox 31">
            <a:extLst xmlns:a="http://schemas.openxmlformats.org/drawingml/2006/main">
              <a:ext uri="{FF2B5EF4-FFF2-40B4-BE49-F238E27FC236}">
                <a16:creationId xmlns:a16="http://schemas.microsoft.com/office/drawing/2014/main" id="{D0557DD4-C975-4265-B688-88E6C6F9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03 · COMPARE ETF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Open Compare ETF from More, retain the current ETF as the first object, select a second ETF and review the normalized overlay before returning.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MKT-US3-AC09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Current ETF remains the first comparison object.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MKT-US3-AC10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Two series share one normalized comparison option.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MKT-US3-AC11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Exit returns to the original ETF context.</a:t>
            </a:r>
          </a:p>
        </p:txBody>
      </p:sp>
      <p:sp>
        <p:nvSpPr>
          <p:cNvPr id="510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CCB98152-C77B-43BC-BBF0-3B066FBA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4064040"/>
            <a:ext cx="4666320" cy="99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sz="18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/>
            </a:r>
          </a:p>
        </p:txBody>
      </p:sp>
      <p:pic>
        <p:nvPicPr>
          <p:cNvPr id="5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7c36df291460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7988" y="1524000"/>
            <a:ext cx="1123950" cy="2266950"/>
          </a:xfrm>
          <a:prstGeom xmlns:a="http://schemas.openxmlformats.org/drawingml/2006/main" prst="rect">
            <a:avLst/>
          </a:prstGeom>
        </p:spPr>
      </p:pic>
      <p:pic>
        <p:nvPicPr>
          <p:cNvPr id="5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92a8f13d54d4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3638" y="1524000"/>
            <a:ext cx="1123950" cy="2266950"/>
          </a:xfrm>
          <a:prstGeom xmlns:a="http://schemas.openxmlformats.org/drawingml/2006/main" prst="rect">
            <a:avLst/>
          </a:prstGeom>
        </p:spPr>
      </p:pic>
      <p:pic>
        <p:nvPicPr>
          <p:cNvPr id="5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9558b99564ae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39288" y="1524000"/>
            <a:ext cx="1123950" cy="2266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40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BA7E31C-946F-4835-916C-8466401F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8140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1" name="Shape 0">
            <a:extLst xmlns:a="http://schemas.openxmlformats.org/drawingml/2006/main">
              <a:ext uri="{FF2B5EF4-FFF2-40B4-BE49-F238E27FC236}">
                <a16:creationId xmlns:a16="http://schemas.microsoft.com/office/drawing/2014/main" id="{71C1DD6F-B398-4641-98EA-ECFCB89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2" name="Shape 1">
            <a:extLst xmlns:a="http://schemas.openxmlformats.org/drawingml/2006/main">
              <a:ext uri="{FF2B5EF4-FFF2-40B4-BE49-F238E27FC236}">
                <a16:creationId xmlns:a16="http://schemas.microsoft.com/office/drawing/2014/main" id="{E1342F63-77FC-46DB-A864-ACE98CAC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3" name="Text 2">
            <a:extLst xmlns:a="http://schemas.openxmlformats.org/drawingml/2006/main">
              <a:ext uri="{FF2B5EF4-FFF2-40B4-BE49-F238E27FC236}">
                <a16:creationId xmlns:a16="http://schemas.microsoft.com/office/drawing/2014/main" id="{112B91D2-D06D-425B-AFCB-33922896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544" name="Shape 3">
            <a:extLst xmlns:a="http://schemas.openxmlformats.org/drawingml/2006/main">
              <a:ext uri="{FF2B5EF4-FFF2-40B4-BE49-F238E27FC236}">
                <a16:creationId xmlns:a16="http://schemas.microsoft.com/office/drawing/2014/main" id="{B9288DC6-BF61-4264-B3F2-CCCD49A5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5" name="Shape 4">
            <a:extLst xmlns:a="http://schemas.openxmlformats.org/drawingml/2006/main">
              <a:ext uri="{FF2B5EF4-FFF2-40B4-BE49-F238E27FC236}">
                <a16:creationId xmlns:a16="http://schemas.microsoft.com/office/drawing/2014/main" id="{A3092A9D-A9AB-4082-9323-B9A1E386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6" name="Shape 5">
            <a:extLst xmlns:a="http://schemas.openxmlformats.org/drawingml/2006/main">
              <a:ext uri="{FF2B5EF4-FFF2-40B4-BE49-F238E27FC236}">
                <a16:creationId xmlns:a16="http://schemas.microsoft.com/office/drawing/2014/main" id="{9A86FE5C-2305-4EA4-8512-EF771711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20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7" name="Text 6">
            <a:extLst xmlns:a="http://schemas.openxmlformats.org/drawingml/2006/main">
              <a:ext uri="{FF2B5EF4-FFF2-40B4-BE49-F238E27FC236}">
                <a16:creationId xmlns:a16="http://schemas.microsoft.com/office/drawing/2014/main" id="{833D700A-86AB-4F37-8D74-505C8471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48" name="Text 7">
            <a:extLst xmlns:a="http://schemas.openxmlformats.org/drawingml/2006/main">
              <a:ext uri="{FF2B5EF4-FFF2-40B4-BE49-F238E27FC236}">
                <a16:creationId xmlns:a16="http://schemas.microsoft.com/office/drawing/2014/main" id="{C83B4876-6EC5-4653-A0CB-7304B573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549" name="Text 8">
            <a:extLst xmlns:a="http://schemas.openxmlformats.org/drawingml/2006/main">
              <a:ext uri="{FF2B5EF4-FFF2-40B4-BE49-F238E27FC236}">
                <a16:creationId xmlns:a16="http://schemas.microsoft.com/office/drawing/2014/main" id="{02132A5C-127D-495B-9AF7-CC55C556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550" name="Text 9">
            <a:extLst xmlns:a="http://schemas.openxmlformats.org/drawingml/2006/main">
              <a:ext uri="{FF2B5EF4-FFF2-40B4-BE49-F238E27FC236}">
                <a16:creationId xmlns:a16="http://schemas.microsoft.com/office/drawing/2014/main" id="{C4AA7FDD-904F-4BDE-B6E3-C58AA6A2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551" name="Text 10">
            <a:extLst xmlns:a="http://schemas.openxmlformats.org/drawingml/2006/main">
              <a:ext uri="{FF2B5EF4-FFF2-40B4-BE49-F238E27FC236}">
                <a16:creationId xmlns:a16="http://schemas.microsoft.com/office/drawing/2014/main" id="{819ED60E-2853-4DFA-AFC6-52D3B862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552" name="Text 11">
            <a:extLst xmlns:a="http://schemas.openxmlformats.org/drawingml/2006/main">
              <a:ext uri="{FF2B5EF4-FFF2-40B4-BE49-F238E27FC236}">
                <a16:creationId xmlns:a16="http://schemas.microsoft.com/office/drawing/2014/main" id="{4B5D556C-C183-4771-9C52-A4358848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553" name="Text 12">
            <a:extLst xmlns:a="http://schemas.openxmlformats.org/drawingml/2006/main">
              <a:ext uri="{FF2B5EF4-FFF2-40B4-BE49-F238E27FC236}">
                <a16:creationId xmlns:a16="http://schemas.microsoft.com/office/drawing/2014/main" id="{0045298E-046F-4003-B960-64614F2A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554" name="Text 13">
            <a:extLst xmlns:a="http://schemas.openxmlformats.org/drawingml/2006/main">
              <a:ext uri="{FF2B5EF4-FFF2-40B4-BE49-F238E27FC236}">
                <a16:creationId xmlns:a16="http://schemas.microsoft.com/office/drawing/2014/main" id="{50010B05-E7AA-4E9C-93D2-21CD3CFA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555" name="Shape 20">
            <a:extLst xmlns:a="http://schemas.openxmlformats.org/drawingml/2006/main">
              <a:ext uri="{FF2B5EF4-FFF2-40B4-BE49-F238E27FC236}">
                <a16:creationId xmlns:a16="http://schemas.microsoft.com/office/drawing/2014/main" id="{11E12384-1ED8-477C-92FF-DD97A28C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56" name="Text 21">
            <a:extLst xmlns:a="http://schemas.openxmlformats.org/drawingml/2006/main">
              <a:ext uri="{FF2B5EF4-FFF2-40B4-BE49-F238E27FC236}">
                <a16:creationId xmlns:a16="http://schemas.microsoft.com/office/drawing/2014/main" id="{CDCD0BF3-2901-4209-98D2-5C262F91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User Story 4 — Save ETF research results</a:t>
            </a:r>
          </a:p>
        </p:txBody>
      </p:sp>
      <p:sp>
        <p:nvSpPr>
          <p:cNvPr id="557" name="Text 22">
            <a:extLst xmlns:a="http://schemas.openxmlformats.org/drawingml/2006/main">
              <a:ext uri="{FF2B5EF4-FFF2-40B4-BE49-F238E27FC236}">
                <a16:creationId xmlns:a16="http://schemas.microsoft.com/office/drawing/2014/main" id="{F3C08D2A-9D7B-4074-AD44-08C541F8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Watchlist, My Portfolio and the unified Screener preserve research results without implying execution</a:t>
            </a:r>
          </a:p>
        </p:txBody>
      </p:sp>
      <p:sp>
        <p:nvSpPr>
          <p:cNvPr id="558" name="Shape 23">
            <a:extLst xmlns:a="http://schemas.openxmlformats.org/drawingml/2006/main">
              <a:ext uri="{FF2B5EF4-FFF2-40B4-BE49-F238E27FC236}">
                <a16:creationId xmlns:a16="http://schemas.microsoft.com/office/drawing/2014/main" id="{478D2360-5BF2-4E78-84AF-F19627B3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59" name="Shape 24">
            <a:extLst xmlns:a="http://schemas.openxmlformats.org/drawingml/2006/main">
              <a:ext uri="{FF2B5EF4-FFF2-40B4-BE49-F238E27FC236}">
                <a16:creationId xmlns:a16="http://schemas.microsoft.com/office/drawing/2014/main" id="{80B657E1-7E96-41C1-A6C3-08BDA8F0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60" name="Shape 25">
            <a:extLst xmlns:a="http://schemas.openxmlformats.org/drawingml/2006/main">
              <a:ext uri="{FF2B5EF4-FFF2-40B4-BE49-F238E27FC236}">
                <a16:creationId xmlns:a16="http://schemas.microsoft.com/office/drawing/2014/main" id="{714090C7-E094-4652-9145-D7EC7FBE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61" name="Text 26">
            <a:extLst xmlns:a="http://schemas.openxmlformats.org/drawingml/2006/main">
              <a:ext uri="{FF2B5EF4-FFF2-40B4-BE49-F238E27FC236}">
                <a16:creationId xmlns:a16="http://schemas.microsoft.com/office/drawing/2014/main" id="{4023ED84-BAF5-42FC-8A1A-4FDCB8CE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562" name="Text 27">
            <a:extLst xmlns:a="http://schemas.openxmlformats.org/drawingml/2006/main">
              <a:ext uri="{FF2B5EF4-FFF2-40B4-BE49-F238E27FC236}">
                <a16:creationId xmlns:a16="http://schemas.microsoft.com/office/drawing/2014/main" id="{4115214E-5203-4C6E-B043-B129A7A8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10 / 10</a:t>
            </a:r>
          </a:p>
        </p:txBody>
      </p:sp>
      <p:pic>
        <p:nvPicPr>
          <p:cNvPr id="597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9b9ac71614886"/>
          <a:stretch xmlns:a="http://schemas.openxmlformats.org/drawingml/2006/main"/>
        </p:blipFill>
        <p:spPr>
          <a:xfrm xmlns:a="http://schemas.openxmlformats.org/drawingml/2006/main">
            <a:off x="2313720" y="16200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598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f56621ede4f11"/>
          <a:stretch xmlns:a="http://schemas.openxmlformats.org/drawingml/2006/main"/>
        </p:blipFill>
        <p:spPr>
          <a:xfrm xmlns:a="http://schemas.openxmlformats.org/drawingml/2006/main">
            <a:off x="4521600" y="16200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65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525EB40B-EE30-4254-9378-7DA4D268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01 · WATCHLIST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Star the ETF, verify it appears in Screener &gt; Watchlist, then remove it and confirm the saved range updates immediately.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MKT-US4-AC01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Star state matches actual saved status.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MKT-US4-AC02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Watchlist adds and removes the ETF consistently.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MKT-US4-AC03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Watchlist creates no holdings or orders.</a:t>
            </a:r>
          </a:p>
        </p:txBody>
      </p:sp>
      <p:sp>
        <p:nvSpPr>
          <p:cNvPr id="566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4EB4D7AC-BD37-4365-8FD3-65050D3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975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02 · ADD TO MY PORTFOLIO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6"/>
              </a:spcAft>
              <a:buNone/>
            </a:pPr>
            <a:r>
              <a:rPr sz="863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Open Add to existing, inspect price, lots and value, reject a duplicate portfolio, save to an eligible one, then confirm the new holding.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5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MKT-US4-AC04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Plus opens the current ETF sheet.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MKT-US4-AC05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Price, lots and 1 lot = 100 shares value show.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MKT-US4-AC06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Duplicate portfolios are disabled.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MKT-US4-AC07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An eligible portfolio can be selected and saved.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MKT-US4-AC08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The holding appears only after confirmation.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788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MKT-US4-AC13</a:t>
            </a:r>
            <a:r>
              <a:rPr sz="788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Saving records research; no order is executed.</a:t>
            </a:r>
          </a:p>
        </p:txBody>
      </p:sp>
      <p:sp>
        <p:nvSpPr>
          <p:cNvPr id="567" name="TextBox 31">
            <a:extLst xmlns:a="http://schemas.openxmlformats.org/drawingml/2006/main">
              <a:ext uri="{FF2B5EF4-FFF2-40B4-BE49-F238E27FC236}">
                <a16:creationId xmlns:a16="http://schemas.microsoft.com/office/drawing/2014/main" id="{E16A7F0C-3579-49EE-B6A5-02F34B8E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81425"/>
            <a:ext cx="3114675" cy="2105025"/>
          </a:xfrm>
          <a:prstGeom xmlns:a="http://schemas.openxmlformats.org/drawingml/2006/main" prst="roundRect">
            <a:avLst>
              <a:gd name="adj" fmla="val 8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0" tIns="85725" rIns="95250" bIns="6667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05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03 · UNIFIED SCREENER</a:t>
            </a:r>
          </a:p>
          <a:p xmlns:a="http://schemas.openxmlformats.org/drawingml/2006/main">
            <a:pPr>
              <a:spcAft>
                <a:spcPts val="2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WALKTHROUGH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8"/>
              </a:spcAft>
              <a:buNone/>
            </a:pPr>
            <a:r>
              <a:rPr sz="900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Move through Recommended, All and Watchlist, then run search, filter and sort while keeping the current data range unchanged.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788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 MAPPING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MKT-US4-AC09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Three scopes share one Screener interaction.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MKT-US4-AC10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Search and supported filters apply.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MKT-US4-AC11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Implemented sort metrics apply.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"/>
              </a:spcAft>
              <a:buNone/>
            </a:pPr>
            <a:r>
              <a:rPr sz="825" b="1">
                <a:solidFill>
                  <a:srgbClr val="0A1F3E"/>
                </a:solidFill>
                <a:latin typeface="Arial"/>
                <a:ea typeface="Arial"/>
                <a:cs typeface="Arial"/>
              </a:rPr>
              <a:t>MKT-US4-AC12</a:t>
            </a:r>
            <a:r>
              <a:rPr sz="825">
                <a:solidFill>
                  <a:srgbClr val="4E5968"/>
                </a:solidFill>
                <a:latin typeface="Calibri"/>
                <a:ea typeface="Calibri"/>
                <a:cs typeface="Calibri"/>
              </a:rPr>
              <a:t>  Controls preserve the selected data scope.</a:t>
            </a:r>
          </a:p>
        </p:txBody>
      </p:sp>
      <p:sp>
        <p:nvSpPr>
          <p:cNvPr id="568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5BCD2A9-77B3-4D1E-BEF9-E5C091B7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80" y="4064040"/>
            <a:ext cx="4355280" cy="99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sz="18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/>
            </a:r>
          </a:p>
        </p:txBody>
      </p:sp>
      <p:pic>
        <p:nvPicPr>
          <p:cNvPr id="6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eb2c676174e0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7988" y="1524000"/>
            <a:ext cx="1123950" cy="2266950"/>
          </a:xfrm>
          <a:prstGeom xmlns:a="http://schemas.openxmlformats.org/drawingml/2006/main" prst="rect">
            <a:avLst/>
          </a:prstGeom>
        </p:spPr>
      </p:pic>
      <p:pic>
        <p:nvPicPr>
          <p:cNvPr id="6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3131bc17345f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3638" y="1524000"/>
            <a:ext cx="1123950" cy="2266950"/>
          </a:xfrm>
          <a:prstGeom xmlns:a="http://schemas.openxmlformats.org/drawingml/2006/main" prst="rect">
            <a:avLst/>
          </a:prstGeom>
        </p:spPr>
      </p:pic>
      <p:pic>
        <p:nvPicPr>
          <p:cNvPr id="6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5201757a041b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39288" y="1524000"/>
            <a:ext cx="1123950" cy="2266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28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2026-07-13T23:07:20.4900000Z</dcterms:created>
  <dcterms:modified xsi:type="dcterms:W3CDTF">2026-07-13T23:07:20.4900000Z</dcterms:modified>
</coreProperties>
</file>