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6" r:id="rId35"/>
  </p:sldIdLst>
  <p:sldSz cx="12192000" cy="6858000"/>
  <p:notesSz cx="6858000" cy="9144000"/>
  <p:embeddedFontLst>
    <p:embeddedFont>
      <p:font typeface="Georgia" panose="02040502050405020303" pitchFamily="18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5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 idx="10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har char=""/>
              <a:defRPr sz="32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1pPr>
            <a:lvl2pPr algn="l">
              <a:spcBef>
                <a:spcPts val="1135"/>
              </a:spcBef>
              <a:buChar char=""/>
              <a:defRPr sz="24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2pPr>
            <a:lvl3pPr algn="l">
              <a:spcBef>
                <a:spcPts val="850"/>
              </a:spcBef>
              <a:buChar char=""/>
              <a:def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3pPr>
            <a:lvl4pPr algn="l">
              <a:spcBef>
                <a:spcPts val="565"/>
              </a:spcBef>
              <a:buChar char=""/>
              <a:def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4pPr>
            <a:lvl5pPr algn="l">
              <a:spcBef>
                <a:spcPts val="285"/>
              </a:spcBef>
              <a:buChar char=""/>
              <a:def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5pPr>
            <a:lvl6pPr algn="l">
              <a:spcBef>
                <a:spcPts val="285"/>
              </a:spcBef>
              <a:buChar char=""/>
              <a:def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6pPr>
            <a:lvl7pPr algn="l">
              <a:spcBef>
                <a:spcPts val="285"/>
              </a:spcBef>
              <a:buChar char=""/>
              <a:def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lvl7pPr>
          </a:lstStyle>
          <a:p>
            <a:pPr marL="431800" indent="-323850" algn="l">
              <a:spcBef>
                <a:spcPts val="1415"/>
              </a:spcBef>
              <a:buChar char=""/>
            </a:pPr>
            <a:r>
              <a:rPr sz="32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Click to edit the outline text format</a:t>
            </a:r>
          </a:p>
          <a:p>
            <a:pPr marL="864235" indent="-323850" algn="l">
              <a:spcBef>
                <a:spcPts val="1135"/>
              </a:spcBef>
              <a:buChar char=""/>
            </a:pPr>
            <a:r>
              <a:rPr sz="24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Second Outline Level</a:t>
            </a:r>
          </a:p>
          <a:p>
            <a:pPr marL="1296035" indent="-288290" algn="l">
              <a:spcBef>
                <a:spcPts val="850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Third Outline Level</a:t>
            </a:r>
          </a:p>
          <a:p>
            <a:pPr marL="1727835" indent="-215900" algn="l">
              <a:spcBef>
                <a:spcPts val="565"/>
              </a:spcBef>
              <a:buChar char=""/>
            </a:pPr>
            <a:r>
              <a: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Fourth Outline Level</a:t>
            </a:r>
          </a:p>
          <a:p>
            <a:pPr marL="2160270" indent="-215900" algn="l">
              <a:spcBef>
                <a:spcPts val="285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Fifth Outline Level</a:t>
            </a:r>
          </a:p>
          <a:p>
            <a:pPr marL="2592070" indent="-215900" algn="l">
              <a:spcBef>
                <a:spcPts val="285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Sixth Outline Level</a:t>
            </a:r>
          </a:p>
          <a:p>
            <a:pPr marL="3023870" indent="-215900" algn="l">
              <a:spcBef>
                <a:spcPts val="285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40" y="663120"/>
            <a:ext cx="10934280" cy="6153480"/>
          </a:xfrm>
          <a:prstGeom prst="rect">
            <a:avLst/>
          </a:prstGeom>
          <a:ln w="0">
            <a:noFill/>
          </a:ln>
        </p:spPr>
      </p:pic>
      <p:sp>
        <p:nvSpPr>
          <p:cNvPr id="11" name="Text 0"/>
          <p:cNvSpPr>
            <a:spLocks noGrp="1"/>
          </p:cNvSpPr>
          <p:nvPr/>
        </p:nvSpPr>
        <p:spPr>
          <a:xfrm>
            <a:off x="502920" y="2926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 FINTECH</a:t>
            </a:r>
          </a:p>
        </p:txBody>
      </p:sp>
      <p:sp>
        <p:nvSpPr>
          <p:cNvPr id="12" name="Text 1"/>
          <p:cNvSpPr>
            <a:spLocks noGrp="1"/>
          </p:cNvSpPr>
          <p:nvPr/>
        </p:nvSpPr>
        <p:spPr>
          <a:xfrm>
            <a:off x="530280" y="1181160"/>
            <a:ext cx="7223400" cy="1315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54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M2</a:t>
            </a:r>
          </a:p>
        </p:txBody>
      </p:sp>
      <p:sp>
        <p:nvSpPr>
          <p:cNvPr id="13" name="Shape 2"/>
          <p:cNvSpPr>
            <a:spLocks noGrp="1"/>
          </p:cNvSpPr>
          <p:nvPr/>
        </p:nvSpPr>
        <p:spPr>
          <a:xfrm>
            <a:off x="548640" y="2743200"/>
            <a:ext cx="822600" cy="40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/>
          </a:p>
        </p:txBody>
      </p:sp>
      <p:sp>
        <p:nvSpPr>
          <p:cNvPr id="14" name="Shape 3"/>
          <p:cNvSpPr>
            <a:spLocks noGrp="1"/>
          </p:cNvSpPr>
          <p:nvPr/>
        </p:nvSpPr>
        <p:spPr>
          <a:xfrm>
            <a:off x="1417320" y="2761200"/>
            <a:ext cx="6309360" cy="360"/>
          </a:xfrm>
          <a:prstGeom prst="line">
            <a:avLst/>
          </a:prstGeom>
          <a:ln w="1143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5" name="Text 4"/>
          <p:cNvSpPr>
            <a:spLocks noGrp="1"/>
          </p:cNvSpPr>
          <p:nvPr/>
        </p:nvSpPr>
        <p:spPr>
          <a:xfrm>
            <a:off x="548640" y="3127320"/>
            <a:ext cx="53946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8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Functional Acceptance Walkthrough</a:t>
            </a:r>
          </a:p>
        </p:txBody>
      </p:sp>
      <p:sp>
        <p:nvSpPr>
          <p:cNvPr id="16" name="Text 5"/>
          <p:cNvSpPr>
            <a:spLocks noGrp="1"/>
          </p:cNvSpPr>
          <p:nvPr/>
        </p:nvSpPr>
        <p:spPr>
          <a:xfrm>
            <a:off x="548640" y="3730680"/>
            <a:ext cx="72050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22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Documentation, presentation and video share one Module → User Story → Walkthrough → Acceptance Criteria evidence chain.</a:t>
            </a:r>
          </a:p>
        </p:txBody>
      </p:sp>
      <p:sp>
        <p:nvSpPr>
          <p:cNvPr id="17" name="Shape 6"/>
          <p:cNvSpPr>
            <a:spLocks noGrp="1"/>
          </p:cNvSpPr>
          <p:nvPr/>
        </p:nvSpPr>
        <p:spPr>
          <a:xfrm>
            <a:off x="54864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8" name="Text 8"/>
          <p:cNvSpPr>
            <a:spLocks noGrp="1"/>
          </p:cNvSpPr>
          <p:nvPr/>
        </p:nvSpPr>
        <p:spPr>
          <a:xfrm>
            <a:off x="61272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Live Cloud</a:t>
            </a:r>
          </a:p>
        </p:txBody>
      </p:sp>
      <p:sp>
        <p:nvSpPr>
          <p:cNvPr id="19" name="Shape 9"/>
          <p:cNvSpPr>
            <a:spLocks noGrp="1"/>
          </p:cNvSpPr>
          <p:nvPr/>
        </p:nvSpPr>
        <p:spPr>
          <a:xfrm>
            <a:off x="184716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0" name="Text 11"/>
          <p:cNvSpPr>
            <a:spLocks noGrp="1"/>
          </p:cNvSpPr>
          <p:nvPr/>
        </p:nvSpPr>
        <p:spPr>
          <a:xfrm>
            <a:off x="191124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11 Stories</a:t>
            </a:r>
          </a:p>
        </p:txBody>
      </p:sp>
      <p:sp>
        <p:nvSpPr>
          <p:cNvPr id="21" name="Shape 12"/>
          <p:cNvSpPr>
            <a:spLocks noGrp="1"/>
          </p:cNvSpPr>
          <p:nvPr/>
        </p:nvSpPr>
        <p:spPr>
          <a:xfrm>
            <a:off x="315468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2" name="Text 14"/>
          <p:cNvSpPr>
            <a:spLocks noGrp="1"/>
          </p:cNvSpPr>
          <p:nvPr/>
        </p:nvSpPr>
        <p:spPr>
          <a:xfrm>
            <a:off x="321876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iOS App</a:t>
            </a:r>
          </a:p>
        </p:txBody>
      </p:sp>
      <p:sp>
        <p:nvSpPr>
          <p:cNvPr id="23" name="Shape 15"/>
          <p:cNvSpPr>
            <a:spLocks noGrp="1"/>
          </p:cNvSpPr>
          <p:nvPr/>
        </p:nvSpPr>
        <p:spPr>
          <a:xfrm>
            <a:off x="448056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4" name="Text 17"/>
          <p:cNvSpPr>
            <a:spLocks noGrp="1"/>
          </p:cNvSpPr>
          <p:nvPr/>
        </p:nvSpPr>
        <p:spPr>
          <a:xfrm>
            <a:off x="454464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Web Admin</a:t>
            </a:r>
          </a:p>
        </p:txBody>
      </p:sp>
      <p:sp>
        <p:nvSpPr>
          <p:cNvPr id="25" name="Shape 18"/>
          <p:cNvSpPr>
            <a:spLocks noGrp="1"/>
          </p:cNvSpPr>
          <p:nvPr/>
        </p:nvSpPr>
        <p:spPr>
          <a:xfrm>
            <a:off x="580644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6" name="Text 20"/>
          <p:cNvSpPr>
            <a:spLocks noGrp="1"/>
          </p:cNvSpPr>
          <p:nvPr/>
        </p:nvSpPr>
        <p:spPr>
          <a:xfrm>
            <a:off x="587052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AC Traceable</a:t>
            </a:r>
          </a:p>
        </p:txBody>
      </p:sp>
      <p:sp>
        <p:nvSpPr>
          <p:cNvPr id="27" name="Shape 21"/>
          <p:cNvSpPr>
            <a:spLocks noGrp="1"/>
          </p:cNvSpPr>
          <p:nvPr/>
        </p:nvSpPr>
        <p:spPr>
          <a:xfrm>
            <a:off x="715968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8" name="Text 23"/>
          <p:cNvSpPr>
            <a:spLocks noGrp="1"/>
          </p:cNvSpPr>
          <p:nvPr/>
        </p:nvSpPr>
        <p:spPr>
          <a:xfrm>
            <a:off x="722376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July 2026</a:t>
            </a:r>
          </a:p>
        </p:txBody>
      </p:sp>
      <p:sp>
        <p:nvSpPr>
          <p:cNvPr id="29" name="Shape 24"/>
          <p:cNvSpPr>
            <a:spLocks noGrp="1"/>
          </p:cNvSpPr>
          <p:nvPr/>
        </p:nvSpPr>
        <p:spPr>
          <a:xfrm>
            <a:off x="548640" y="6235920"/>
            <a:ext cx="10972800" cy="360"/>
          </a:xfrm>
          <a:prstGeom prst="line">
            <a:avLst/>
          </a:prstGeom>
          <a:ln w="1143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30" name="Text 25"/>
          <p:cNvSpPr>
            <a:spLocks noGrp="1"/>
          </p:cNvSpPr>
          <p:nvPr/>
        </p:nvSpPr>
        <p:spPr>
          <a:xfrm>
            <a:off x="548640" y="6400800"/>
            <a:ext cx="4205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Walkthrough</a:t>
            </a:r>
          </a:p>
        </p:txBody>
      </p:sp>
      <p:sp>
        <p:nvSpPr>
          <p:cNvPr id="31" name="Text 26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</p:spTree>
    <p:extLst>
      <p:ext uri="{BB962C8B-B14F-4D97-AF65-F5344CB8AC3E}">
        <p14:creationId xmlns:p14="http://schemas.microsoft.com/office/powerpoint/2010/main" val="84073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3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4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35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36" name="Shape 4"/>
          <p:cNvSpPr>
            <a:spLocks noGrp="1"/>
          </p:cNvSpPr>
          <p:nvPr/>
        </p:nvSpPr>
        <p:spPr>
          <a:xfrm>
            <a:off x="0" y="1097280"/>
            <a:ext cx="1481040" cy="667080"/>
          </a:xfrm>
          <a:prstGeom prst="rect">
            <a:avLst/>
          </a:prstGeom>
          <a:solidFill>
            <a:srgbClr val="001C44"/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7" name="Shape 5"/>
          <p:cNvSpPr>
            <a:spLocks noGrp="1"/>
          </p:cNvSpPr>
          <p:nvPr/>
        </p:nvSpPr>
        <p:spPr>
          <a:xfrm>
            <a:off x="0" y="1097280"/>
            <a:ext cx="50040" cy="667080"/>
          </a:xfrm>
          <a:prstGeom prst="rect">
            <a:avLst/>
          </a:prstGeom>
          <a:solidFill>
            <a:srgbClr val="001C44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8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39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40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41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42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43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44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45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46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7" name="Text 21"/>
          <p:cNvSpPr>
            <a:spLocks noGrp="1"/>
          </p:cNvSpPr>
          <p:nvPr/>
        </p:nvSpPr>
        <p:spPr>
          <a:xfrm>
            <a:off x="1847160" y="311040"/>
            <a:ext cx="1003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M2 Acceptance Walkthrough Structure</a:t>
            </a:r>
          </a:p>
        </p:txBody>
      </p:sp>
      <p:sp>
        <p:nvSpPr>
          <p:cNvPr id="49" name="Shape 23"/>
          <p:cNvSpPr>
            <a:spLocks noGrp="1"/>
          </p:cNvSpPr>
          <p:nvPr/>
        </p:nvSpPr>
        <p:spPr>
          <a:xfrm>
            <a:off x="1847160" y="850375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50" name="Shape 24"/>
          <p:cNvSpPr>
            <a:spLocks noGrp="1"/>
          </p:cNvSpPr>
          <p:nvPr/>
        </p:nvSpPr>
        <p:spPr>
          <a:xfrm>
            <a:off x="1846800" y="877735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51" name="Shape 25"/>
          <p:cNvSpPr>
            <a:spLocks noGrp="1"/>
          </p:cNvSpPr>
          <p:nvPr/>
        </p:nvSpPr>
        <p:spPr>
          <a:xfrm>
            <a:off x="1846800" y="641016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52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53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6" name="图片 5" descr="b774d0ced7360f88bd94e294a87b00babf8e9955616443ba0578df6e2ab2083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25" y="1005840"/>
            <a:ext cx="10676255" cy="52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3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097280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097280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7160" y="311040"/>
            <a:ext cx="1003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Login / Register</a:t>
            </a: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7160" y="841320"/>
            <a:ext cx="10039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Two accepted authentication paths converge on the same Markets landing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2" name="图片 1" descr="b41216caccb70c0f889b37d9be087f578950403820934dad1615cd8364f212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75" y="1207135"/>
            <a:ext cx="6887845" cy="51428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670" y="1356995"/>
            <a:ext cx="2392680" cy="48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2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097280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097280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Start from Login and prepare registration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first page proves authentication scope, form gates and the hand-off into registration.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2226310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85061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the app on Login. Show account/email and password fields, toggle password visibility, demonstrate the required-field gate, explain the excluded SSO entries, then submit an existing account and show the in-progress state.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Tap Register New Account. Enter display name, redacted test email and password; show the disabled state below eight characters, then submit a valid form.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Login is first and requires account/email plus a hidden password.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Password visibility and the Sign In gate preserve entered data.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Displayed SSO options remain outside the accepted path.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Existing credentials submit once with an in-progress state.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Evidence exposes no reusable secrets or personal data.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19"/>
            <a:ext cx="4553585" cy="1207713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Register New Account opens a form for display name, email and password.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Create Account stays disabled until all fields and an eight-character password are valid.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valid submission creates one pending account, sends a six-digit code and opens Verify Email.</a:t>
            </a:r>
            <a:endParaRPr lang="en-US" altLang="zh-CN" sz="900" dirty="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9F774-34A8-3B5E-FB65-1F3A2FE1FC3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B30BF00-09BA-6A15-23D6-344754CA7B4C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6EE1D2A-860B-97BE-9765-D7BCE2CB14A7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21EA62C-B674-2C2B-83DC-ACF2E11E5BCC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60202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097280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097280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Verify the email and enter Markets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second page proves email verification and the shared successful landing.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05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4156710"/>
            <a:ext cx="6953885" cy="1662430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948180"/>
            <a:ext cx="6953885" cy="1681480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2066290"/>
            <a:ext cx="4622165" cy="4603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Confirm Verify Email opens after registration. Show the disabled state below six digits, enter a complete code, then tap Verify and Continue.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60545" y="167386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87731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10125" y="42773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Confirm successful registration opens Markets. Repeat the accepted existing-account path and verify that both paths reach the same default landing.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724150"/>
            <a:ext cx="4553585" cy="75501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91990" y="2963545"/>
            <a:ext cx="4500245" cy="42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Verify and Continue stays disabled until all six code digits are entered.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correct code creates one account and signs the user in automatically.</a:t>
            </a:r>
            <a:endParaRPr lang="en-US" altLang="zh-CN" sz="900">
              <a:solidFill>
                <a:srgbClr val="15243F"/>
              </a:solidFill>
            </a:endParaRP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923790"/>
            <a:ext cx="4553585" cy="76073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44415" y="5171440"/>
            <a:ext cx="4500245" cy="40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Newly registered users will enter the default Markets landing page.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Enter the default Markets landing page after successful user authentication.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E9A02C-6B05-CEDD-E9EA-EB0495E4C0B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725" y="1363980"/>
            <a:ext cx="2412365" cy="48837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D6F2474-6730-9059-46B8-99F73017A9ED}"/>
              </a:ext>
            </a:extLst>
          </p:cNvPr>
          <p:cNvSpPr txBox="1"/>
          <p:nvPr/>
        </p:nvSpPr>
        <p:spPr>
          <a:xfrm>
            <a:off x="4491990" y="2798445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76F3B37-13CF-7FE1-A67A-7794CC77F45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1357630"/>
            <a:ext cx="2412365" cy="488505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9DD8007-A746-E24F-1BAD-3C2B5E4B3970}"/>
              </a:ext>
            </a:extLst>
          </p:cNvPr>
          <p:cNvSpPr txBox="1"/>
          <p:nvPr/>
        </p:nvSpPr>
        <p:spPr>
          <a:xfrm>
            <a:off x="4844415" y="500634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33775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8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9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410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11" name="Shape 4"/>
          <p:cNvSpPr>
            <a:spLocks noGrp="1"/>
          </p:cNvSpPr>
          <p:nvPr/>
        </p:nvSpPr>
        <p:spPr>
          <a:xfrm>
            <a:off x="0" y="1792097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12" name="Shape 5"/>
          <p:cNvSpPr>
            <a:spLocks noGrp="1"/>
          </p:cNvSpPr>
          <p:nvPr/>
        </p:nvSpPr>
        <p:spPr>
          <a:xfrm>
            <a:off x="0" y="1792097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13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414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415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416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417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418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419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420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421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2" name="Text 21"/>
          <p:cNvSpPr>
            <a:spLocks noGrp="1"/>
          </p:cNvSpPr>
          <p:nvPr/>
        </p:nvSpPr>
        <p:spPr>
          <a:xfrm>
            <a:off x="1847160" y="311040"/>
            <a:ext cx="1003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  Market</a:t>
            </a:r>
          </a:p>
        </p:txBody>
      </p:sp>
      <p:sp>
        <p:nvSpPr>
          <p:cNvPr id="423" name="Text 22"/>
          <p:cNvSpPr>
            <a:spLocks noGrp="1"/>
          </p:cNvSpPr>
          <p:nvPr/>
        </p:nvSpPr>
        <p:spPr>
          <a:xfrm>
            <a:off x="1847160" y="841320"/>
            <a:ext cx="10039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 complete research flow from market direction to ETF comparison and saving</a:t>
            </a:r>
          </a:p>
        </p:txBody>
      </p:sp>
      <p:sp>
        <p:nvSpPr>
          <p:cNvPr id="424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425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6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7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428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06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2" name="图片 1" descr="018626a01425b7381deb254d456766ac3cf3772f3df5f8fa4aedb6d94fa8f3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745" y="1199515"/>
            <a:ext cx="6904355" cy="5156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025" y="1363980"/>
            <a:ext cx="2383155" cy="482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792097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792097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Establish research direction from Market Intelligence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Daily breadth, signals and discovery rails produce the next sector research target.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07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Market Intelligence, explain its research-only role, then scan sector blocks and the Rising / Flat / Falling breadth summary.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Market Intelligence loads all research entries with sector context and matching heatmap breadth totals.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Market signals, sector performance and selected ETFs are presented as research, not recommendations.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an AI Market Signal with date, movement, analysis, related ETFs and sources; keep the delayed-data label visible on major indices.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AI Market Signals shows its date, detected changes, analysis, related ETFs and available sources.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Market Indices shows available index changes and clearly marks delayed-data boundaries.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Switch Default / Hot sectors, inspect Recommended ETFs and View all, then open a sector to continue into Sector Detail.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Discovery supports several research routes, and Default or Hot sectors show the selected scope.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Recommended ETFs is a curated list with key quote data and a View all entry.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Selecting a sector opens the matching Sector Detail page.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626DA0-AFCB-593A-005A-64077E2C840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A523B0-54BE-1EB6-2925-8B5BF14EE888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1CAB04B-6460-ECD1-7AA6-5286370691A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41D1473-A2CC-740B-FD68-9B2EB3A2E32A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D5B28C9-EDCA-A0C4-F8AC-F6C4D0A89F4D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29DE653-3642-8E9F-7A68-321DFC3E7312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02803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792097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792097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  User Story 2 — Understand sector trends and filter ETFs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Sector context, EOD observations and sortable rankings produce an ETF candidate.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08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a selected sector such as Crypto and confirm the banner identity, representative tickers, ETF count, movement and cached snapshot label.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Sector Detail matches the selected sector and shows its tickers, ETF count and movement.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page clearly identifies its cached EOD snapshot and avoids implying real-time data.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Read Momentum &amp; Breadth, Liquidity Pulse and Trend &amp; Risk in order; explain the EOD basis and non-predictive research wording.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AI Sector Insights covers momentum, liquidity and risk, with an explicit state when data is insufficient.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Insight wording describes research observations rather than real-time predictions or trading advice.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Keep the selected sector, switch sorting metrics and return periods, then open one ETF from the sector-only ranking.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ETF Rankings only displays ETFs within the currently selected sector.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Supported sort metrics and return periods update ranking order without changing the selected sector.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Selecting a ranked ETF opens the matching ETF Detail page.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60F8D5-0969-5873-081F-33FCEDB5815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125841-984F-8B29-A42C-5347DAC57995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6FB4C42-07F8-464E-8D30-F7F42711839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42393DD-484D-7E8F-4A84-DD5CCDA93838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9BF0A87-1561-BC70-0C3E-D3A70BE8A0EA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12F4484-B622-8534-7D17-1F44A993897B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09470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792097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792097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  User Story 3 — Research and compare individual ETFs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ETF identity, chart controls and normalized comparison support instrument-level research.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09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a candidate ETF, confirm identity and quote context, switch at least two time ranges, then scrub the chart to update OHLC and volume.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ETF Detail and its chart display the selected fund's identity, quote context and price series.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Supported time ranges reload the chart, and scrubbing updates OHLC and volume for the selected point.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Change chart type and one moving average, then check available key stats and ETF-related news metadata.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View controls change the enabled chart type or moving-average overlays for the current ETF.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Overview and News show available ETF statistics and related articles, with unavailable values identified clearly.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Compare ETF from More, retain the current ETF as the first object, select a second ETF and inspect the normalized overlay before returning.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Compare ETF retains the current fund and allows a second fund to be selected.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comparison chart normalizes both price series under the same chart settings.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Closing Compare ETF returns to the original ETF Detail context.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DCFAEE-53E1-4F6D-30F1-8DDFDB92BAA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3989A9B-C838-CD1E-4CBD-B6914A978358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9204E7-6F79-975E-0A2B-DA52EB41165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92465EC-E3F2-A355-69A9-AB9729AA80B8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C4F4267-1DDA-F6F2-30C4-7318185FAB99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2C9C7FB-8425-F9DF-51E9-BF7D287E6FE5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00588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1792097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1792097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  User Story 4 — Save ETF research results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Watchlist, My Portfolio and Screener preserve research without implying execution.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10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Star the ETF, verify it appears in Screener &gt; Watchlist, then remove it and confirm the saved range updates.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successful star action adds the ETF to Watchlist, and removal updates both states consistently.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Watchlist saves research objects without creating portfolio holdings or transactions.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Inspect price, lots and value, reject a duplicate portfolio, save to an eligible portfolio, then reopen it to confirm the holding.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add sheet shows the current ETF's price, lots and value, while blocking duplicate targets.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 eligible target saves a research holding after reopening without placing a trade.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Move through Recommended, All and Watchlist, then use search, filter and sort while preserving the selected data scope.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Recommended, All and Watchlist share the same Screener controls and result layout.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Supported search, filter and sort controls update results using the selected criteria.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Search, filter and sort preserve the active Recommended, All or Watchlist scope.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8246B6-C867-4B7E-71D8-E1135619CAD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5C33939-4BF0-7D9A-B59F-63BDBF423C30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0AA321-CDDD-E00A-B2B3-FE551A0BCDF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E0E8885-6AF2-9116-99D5-6E27605F29A5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17BB109-2995-25E0-8A94-A90CE640932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6F603F45-B05B-3FE9-BB25-BCC46B3E49BB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708628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8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9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410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11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12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13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414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415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416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417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418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419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420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421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2" name="Text 21"/>
          <p:cNvSpPr>
            <a:spLocks noGrp="1"/>
          </p:cNvSpPr>
          <p:nvPr/>
        </p:nvSpPr>
        <p:spPr>
          <a:xfrm>
            <a:off x="1847160" y="311040"/>
            <a:ext cx="1003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</a:t>
            </a:r>
            <a:r>
              <a:rPr lang="en-US"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 </a:t>
            </a: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 </a:t>
            </a:r>
            <a:r>
              <a:rPr lang="en-US"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423" name="Text 22"/>
          <p:cNvSpPr>
            <a:spLocks noGrp="1"/>
          </p:cNvSpPr>
          <p:nvPr/>
        </p:nvSpPr>
        <p:spPr>
          <a:xfrm>
            <a:off x="1847160" y="841320"/>
            <a:ext cx="10039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4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Five research workflows from templates and saved holdings to analysis and baseline review</a:t>
            </a:r>
          </a:p>
        </p:txBody>
      </p:sp>
      <p:sp>
        <p:nvSpPr>
          <p:cNvPr id="424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425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6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7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428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11 / 35</a:t>
            </a:r>
          </a:p>
        </p:txBody>
      </p:sp>
      <p:pic>
        <p:nvPicPr>
          <p:cNvPr id="4" name="图片 3" descr="a9cd7aeae6903707cd431a3a33cca29c3a9691d2b465be62a8cd4a22cd5f8e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1193800"/>
            <a:ext cx="6934200" cy="51777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430" y="1300480"/>
            <a:ext cx="243141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3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Discover a Model Portfolio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Catalogue identity, portfolio facts and ETF allocation establish the selected template.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12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Portfolio &gt; Recommended, inspect loaded Model Portfolio cards and their Reference descriptions, then open one selected item.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Recommended shows backend-loaded cards with portfolio facts, allocation and matching References.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View details opens the selected item after its loading state completes.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Confirm title, return, risk, duration, summary, Reference and allocation groups match the selected catalogue card.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Detail facts, Reference and ETF groups match the selected catalogue card and current backend data.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 ETF row opens the matching detail, and returning preserves the Model Portfolio state.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Inspect every ETF row, target weight and available metadata; confirm Total 100% and open one matching ETF detail before returning.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ETF rows show identifiers, weights and available metadata, with Total fixed at 100%.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834D24-8B96-A749-3F3A-4D36FC55D20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85E7276-1949-317D-A6CE-F72107CBE5BA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BFE71BC-DC8D-8ACC-E5A2-64105A6FAB1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2631E01-802D-9978-B6CB-27F5C62B6B11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C5374C3-9F6C-7CAD-D522-F62E03712CA4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5D15D73-A797-8838-83AB-971D1BC4D1AA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668601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Evaluate the forecast and save for later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Projection evidence is paired with the persistent Watchlist result.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13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Wait for Monte Carlo completion, inspect history and percentile bands, drag and pinch the timeline, select a historical point, generate/hide backtest and keep Partial data coverage visible.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05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Save the selected Model Portfolio, reopen it from Watchlist, remove it and verify the count and final star state remain consistent.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Loading remains until the forecast is ready; chart interaction stays in range and backtesting uses history only.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Backtest preserves the forecast, coverage and research boundaries.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successful save fills the star, updates Watchlist and reopens with matching facts.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Removal keeps the list, count, empty state and final star consistent across views.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2513EF-5AA2-EB1C-7AF1-861DACC47DE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34C1463-119A-11F9-B36B-E5BB54A561EF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3DED1C-E0ED-677D-8DA3-F1CD97409EB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B3A3935-D1CA-E36D-6F72-A903D464394A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56936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Edit the configuration before saving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Visual and ETF-list editors preserve one evolving allocation state.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14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Add to My Portfolio, change modeled total value and allocation boundaries, and keep all weights non-negative with a 100% total.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06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07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Switch to ETF list, edit shares, return to Visual and enter confirmation without losing the latest values, weights or quantities.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Add to My Portfolio opens with the selected model, context and default amounts.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Changing total value recalculates ETF amounts and quantities while preserving normalized weights.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Allocation drags update only affected groups, keep values non-negative and preserve a 100% total.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Visual and List modes convert amounts, weights and shares without losing valid edits.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Confirmation uses the latest edit and shows the target, totals and per-ETF results.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7AF964-1CE4-7C14-F136-11AD49504B4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B6FD8A9-BF12-6F96-26A4-FEDE0EBDEA35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F1EF785-6CD2-DB04-E108-D1199020FC9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44BCC86-2C98-9EF9-D478-A9ECBC69533F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39478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Persist or analyze the edited Model Portfolio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final step branches to Add as new, Add to existing, or a read-only analysis draft.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15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Choose Add as new, confirm the final edited summary, create one research-only My Portfolio, then reopen it to prove persisted holdings and values.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08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Confirm stays disabled while the name is empty or creation is in progress.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One successful creation appears in My portfolios and preserves its holdings after reopening.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Creation is research-only, triggers no trade and cannot be submitted repeatedly.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Choose an existing target, wait for preview, confirm combined and new positions, then reopen the target to verify the merged result.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09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Target facts and ETF changes appear in preview before Confirm becomes available.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Confirmation merges and persists positions, while navigation preserves the last confirmed editing draft.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Start analysis from the Model Portfolio. Confirm the Analysis Workspace receives the edited working copy and does not expose Apply to My Portfolio for this source.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10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Analysis Workspace opens with the selected model's title, holdings, values and normalized weights.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Draft edits affect only the working copy and expose no Apply to My Portfolio action.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Analysis uses the current draft and does not reuse results from another source.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0DC62E-1DC8-A7C4-A17F-524DBF5607F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D6220A5-F428-5112-B5F5-E1309B8786F2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248438B-41C6-763B-8E06-43560105BBF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93A241F-B780-3AC9-6172-72FCE0C9BD59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A3487BC-7CA2-F196-332F-FFEAA039B59E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173AED4-074A-A260-E643-8F05684DFFB9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95897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  User Story 2 — Create a My Portfolio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saved-portfolio list leads into a validated research-only creation draft.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16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2226310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My portfolios, wait for the saved list, enter New Portfolio, then reopen the created result and confirm its card and values.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Enter name and base currency, add searchable ETF holdings, edit quantities in the draft and create only when all validation gates pass.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My portfolios shows a loading state before replacing it with the current saved list.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new portfolio appears with matching facts and reopens with its saved holdings.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Creation is clearly identified as research-only and does not execute a transaction.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610004"/>
            <a:ext cx="4553585" cy="1314306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3620" y="4845273"/>
            <a:ext cx="4500245" cy="1074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form supports available currencies and enables creation only with a valid name and holdings.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ETF search, sort and empty results behave consistently and can restore the full list.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Initial holdings support quantity controls and deletion while rejecting invalid values.</a:t>
            </a:r>
            <a:endParaRPr lang="en-US" altLang="zh-CN" sz="900" dirty="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6A5D5A-EB89-AA8C-A8A4-B86CF69D933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0354492-973D-3360-D82A-28C41AB67D49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50FCA67-ED19-E1B2-487C-6C7B7CB98957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078B47A-95DD-C0A9-30D9-36058685E4E3}"/>
              </a:ext>
            </a:extLst>
          </p:cNvPr>
          <p:cNvSpPr txBox="1"/>
          <p:nvPr/>
        </p:nvSpPr>
        <p:spPr>
          <a:xfrm>
            <a:off x="4833620" y="4680173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 dirty="0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 dirty="0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12199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  User Story 2 — Inspect and edit saved holdings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Current detail context and the editable holdings screen prove persisted, isolated updates.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17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the saved My Portfolio, confirm header, grouping, positions, current value, allocation and forecast boundaries, then save a Baseline Snapshot.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Edit quantities, add one valid ETF, reject duplicates, remove only the intended ticker and reopen the portfolio to prove persistence without changing untouched positions.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17221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Header, holdings and forecast match this saved portfolio rather than another source.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Position rows show current facts and open the matching ETF.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Saving creates one timestamped snapshot whose detail preserves value, quantities and weights.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40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editor validates quantities, blocks duplicates and persists one new holding.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Only intended positions change; closing unchanged leaves holdings untouched.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B757E4-9766-D4ED-BDE0-ACBBA9411A9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34EFDB8-34B5-017D-7DCA-033D46A78043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AB617D-AE87-A0D6-2B3E-2A43B8E21BBB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7F6DBE-C8B4-3355-03AF-BC8C2C806D8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15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  User Story 2 — Maintain baseline history and remove a portfolio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Historical snapshots remain independently searchable, renameable and removable.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18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Baseline snapshots, create exactly one snapshot, search, rename and remove a temporary entry, then reopen the history to verify retained state.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05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06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Demonstrate the explicit empty-holdings state, then cancel and confirm destructive portfolio removal while proving other portfolios are unaffected.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7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Each action creates one selectable snapshot, and search filters its saved history.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Rename rejects empty tags, while deletion removes only the selected snapshot.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retained snapshot preserves its pre-edit holdings and remains correct after reopening.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5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portfolio with no holdings still opens with an explicit empty state.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Removal requires an irreversible-action confirmation and deletes only the selected portfolio.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B69355-7CB7-57AD-EF50-BB2B95C57D4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DA322A8-C17A-860A-D440-56FA8E546D9E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5E15465-F092-D510-CFB5-D2D446F3710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3A5A5B5-AE77-8437-1A7B-EF0FFD55AD85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824927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  User Story 3 — Complete the recommendation questionnaire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Four validated answers lead into a clean, non-stale generation state.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19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Find Your Ideal Portfolio. Show the four-step structure, supporting option context and the disabled Next gate before selection.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questionnaire shows four steps, current progress and contextual single-choice options.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Next or See recommendation stays disabled until the current question is answered.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Select one option, move forward and backward, retain answers, then later adjust one answer and regenerate from the same questionnaire state.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Each question retains one selected answer when moving forward or backward.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Completing all answers produces a result aligned with the selected risk profile.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Return to the questionnaire and keep the current answers.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Submit all answers and show four generation stages with pending placeholders; confirm saving stays disabled until the new result is ready.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Submission immediately starts one visible four-stage recommendation flow.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Pending sections are identified clearly, and saving stays disabled until the result is complete.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BBEFE8-3CFE-AAAF-FD73-3CFA7F0FE8E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D462E6-2CD8-8895-D247-EE6F7E54A968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CD93A84-76A9-40B9-AA8B-D518BC60BFB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5D01309-3CFF-3AD9-8DDC-01B92171518A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A321433-A0C9-27BD-F89D-82C73752068C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B6B8A15-A953-7D44-7A89-709F8A236D7B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063287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  User Story 3 — Review the recommendation result and build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Generated identity, metrics and build context remain consistent with one run.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20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Confirm generated title, risk level, currency, positions, projection and AI-assisted research-only boundary.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05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Inspect returned metrics, asset mix, screening/optimization summary, as-of date, candidate scope, exclusions and warnings.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7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Result identity, metrics and forecast all reflect the same generated weights and modeled amount.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recommendation is consistently marked as AI-assisted, research-only and non-executing.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40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Recommendation Build shows this run's risk profile, metrics, allocation, scope, date and warnings.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D3996A-E055-6E5A-6D26-30427F951F4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22219C-27F6-EA16-8513-013BC44C36F7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0B1BE9D-CFCD-9E32-581E-B364B742BFC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93CAFE2-D1E9-580C-DFD0-49E25F57CF8C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95756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  User Story 3 — Inspect explanation, constraints and ETF holdings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explanation and final holdings remain traceable to the same Recommendation Build.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21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Read rendered AI explanation, holdings table, portfolio characteristics and constraints without exposing raw Markdown or overstating the result.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06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07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Check ticker, name, asset class, target weight and progress for every generated ETF; confirm weights total 100% within rounding tolerance.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AI description markup renders readable structure without exposing raw Markdown.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Explanation, holdings, characteristics and constraints match the current build.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40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Each ETF row shows identity, asset class and target weight, with totals equal to 100% within rounding.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ACBCCF-197B-4FE2-185C-BA20D0BA2F7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ECE73C0-0647-3044-4464-546008DE7FFA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6EEF33-3B13-94B7-6D9B-51F0D4D2FA53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CD15449-4798-C653-3A0C-1EB7FC6130CC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43862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  User Story 3 — Save the recommendation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generated configuration is not persisted until target selection and confirmation complete.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22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2096770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Add to My Portfolio, choose Add as new or an eligible existing target, finish confirmation and reopen the saved target.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08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09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Verify the recommendation uses its modeled amount, currency and latest prices while sharing the same Visual/List editing behavior as User Story 1.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17221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add page uses the current recommendation, modeled amount, currency and latest prices.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Confirmation creates a new target or merges quantities into the selected existing portfolio.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Opening or leaving the add page does not save anything before confirmation.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40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Visual and List editing, validation and target choices follow the shared portfolio workflow.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B4754D-A520-C3D8-ED4E-8385D9F7FAC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DEFC05-6981-D233-4281-FF3FF0EB2EAF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FE56F49-78DF-31DB-54EB-2244BF738493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86624F0-F3DC-358C-2498-66642C00B19E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40093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  User Story 4 — Run portfolio analysis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An editable working draft becomes a traceable analysis result without changing saved holdings.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23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Start analysis from My Portfolio, edit the working copy, add/remove ETFs and run analysis only when the draft is valid; do not alter the saved source yet.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Workspace loads selected holdings; draft edits stay isolated, block duplicates and clear stale results.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Analyze validates the draft, shows one progress flow and opens Analysis.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Wait for completion, inspect current-draft value, positions, HHI, Effective N, diagnostics and Data coverage, then prove stale results clear after a draft change.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completed overview shows current draft metrics and identifies unavailable indicators explicitly.</a:t>
            </a:r>
          </a:p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Analysis boundaries stay visible, and results belong only to the current draft and run.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Scroll the read-only holdings table and switch Sector, Region and Currency between Pie and List without changing the underlying analysis.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read-only Holdings table shows each position's quantity, cost, value and weight.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Sector, Region and Currency exposures remain consistent between Pie and List views.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C34685-6F69-F002-3251-D658D5A9563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E3F94C-0537-6EB2-35C1-4465805ACD57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3A3585-8897-4812-46C4-9C4B4BE38CD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3F8B5FD-0F70-963D-14BC-100AE727CB06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C4480FF-2BD5-3155-FE4E-2216D1304D7A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5D8AF5E-C967-F673-3D0F-76B1A9CECDFB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065863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  User Story 4 — Select findings and generate recommendations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Only the diagnosis selected at submission enters the AI-assisted recommendation scope.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24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206921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Review severity, metric and selection state, change the selected findings, verify counts, and show the disabled generate action when zero items are selected.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05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Observe the four progress stages, then verify selected diagnosis scope, AI drafted boundary, research consideration content and excluded findings.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Diagnosis items show severity, metrics and selection, with counts matching the returned results.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Generation requires completed analysis and at least one selected diagnosis.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102133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7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Suggestions shows four-stage generation and limits AI-drafted results to submitted diagnoses.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Each consideration presents its observation, rationale, expected impact and research boundary.</a:t>
            </a:r>
            <a:endParaRPr lang="en-US" altLang="zh-CN" sz="900" dirty="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88C36F-F38D-C1C0-FFD6-CF8A1B163B1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5A48058-97E0-AFBD-BF9F-CB229E488A92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20D2E3C-2CEE-72C7-8F34-CD20A214396B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5A11BF8-FE87-0707-193B-9621EDA0DC26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991538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  User Story 4 — Review, edit and apply Suggested actions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My Portfolio results can be applied after validation; Model Portfolio results remain read-only.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25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20183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2030370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Inspect feasibility and candidate scope, scroll every Held/New row, edit non-negative targets, reset, apply once, then reopen the portfolio to prove refreshed holdings and invalidated old analysis.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06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07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Run the same workflow from a Model Portfolio and confirm the final rows are read-only with no Reset or Apply to My Portfolio action and no saved-portfolio mutation.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16205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Preview metrics, rows and candidate scope remain mutually consistent.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Non-negative targets recalculate or reset, and Apply requires a complete feasible scenario.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Apply updates holdings; reopening proves results and clears stale analysis.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 dirty="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Apply cannot repeat and produces only one portfolio update.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102133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7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Model Portfolio draft completes the same analysis while preserving its selected diagnosis scope.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Its Suggested actions are read-only and expose neither Reset nor Apply to My Portfolio.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B4CE63-EA71-5FA2-6BD7-6A54187DBEB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D913A8-1155-23C3-AAB6-76B686D9ED38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057C333-47FC-7EE1-66C2-2847DBEE43F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229606F-10A6-78AE-9A96-66E566CAFC63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617625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05  User Story 5 — Select a baseline and inspect drift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Only a changed Baseline Snapshot can drive a review; No changes remains inspectable but not selectable.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26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Open Portfolio Review, distinguish No changes from a reviewable snapshot, inspect saved ETF details and select one changed baseline.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Review current/baseline summary and the drift table, including added/removed ETFs, signed deviations and the enabled Review allocation changes action.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90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Baseline lists only this portfolio's saved reference configurations.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No changes remains unselectable for Analysis but still allows ETF detail inspection.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changed snapshot can be selected and expanded to show saved quantities and weights.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5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deviation table includes added and removed ETFs with signed, significance-sorted changes.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The summary identifies the baseline, date and total absolute deviation.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0F3B0D-FD14-C061-6AE3-EEF6C06F639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26BDB1B-E441-0997-CE1A-F24D7671660F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1DEE608-89FA-85CF-7701-F14559C43D9B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03C35B3-0839-FE92-A6AE-B562EC035FF1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145543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05  User Story 5 — Explain the baseline deviation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Status, allocation and quantity views describe a deterministic snapshot comparison rather than AI advice.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27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038350" y="154241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3492500" y="1826260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Confirm the selected baseline identity, drift status, current/baseline values, largest move and driver summary; keep the comparison explicitly non-AI.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3492500" y="130619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2190115" y="4667885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2247265" y="4832350"/>
            <a:ext cx="241109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Analysis identifies the baseline, drift status and largest increase or decrease driving the result.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Baseline comparison is deterministic and displays no AI-generated or recommendation labels.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9" name="Rounded Rectangle 30"/>
          <p:cNvSpPr>
            <a:spLocks noGrp="1"/>
          </p:cNvSpPr>
          <p:nvPr/>
        </p:nvSpPr>
        <p:spPr>
          <a:xfrm>
            <a:off x="5524500" y="153606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5" name="文本框 14"/>
          <p:cNvSpPr txBox="1"/>
          <p:nvPr/>
        </p:nvSpPr>
        <p:spPr>
          <a:xfrm>
            <a:off x="6943090" y="182689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Read Industry allocation changes and ETF movement detail with signed weights and plain-language reasons.</a:t>
            </a:r>
          </a:p>
        </p:txBody>
      </p:sp>
      <p:sp>
        <p:nvSpPr>
          <p:cNvPr id="16" name="TextBox 31"/>
          <p:cNvSpPr>
            <a:spLocks noGrp="1"/>
          </p:cNvSpPr>
          <p:nvPr/>
        </p:nvSpPr>
        <p:spPr>
          <a:xfrm>
            <a:off x="6943090" y="130683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30"/>
          <p:cNvSpPr>
            <a:spLocks noGrp="1"/>
          </p:cNvSpPr>
          <p:nvPr/>
        </p:nvSpPr>
        <p:spPr>
          <a:xfrm>
            <a:off x="5640705" y="466852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" name="文本框 17"/>
          <p:cNvSpPr txBox="1"/>
          <p:nvPr/>
        </p:nvSpPr>
        <p:spPr>
          <a:xfrm>
            <a:off x="5697855" y="488124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Industry and ETF movement views compare baseline and current weights with signed changes and reasons.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sp>
        <p:nvSpPr>
          <p:cNvPr id="19" name="Rounded Rectangle 30"/>
          <p:cNvSpPr>
            <a:spLocks noGrp="1"/>
          </p:cNvSpPr>
          <p:nvPr/>
        </p:nvSpPr>
        <p:spPr>
          <a:xfrm>
            <a:off x="9011285" y="1550035"/>
            <a:ext cx="2806700" cy="46577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" name="文本框 20"/>
          <p:cNvSpPr txBox="1"/>
          <p:nvPr/>
        </p:nvSpPr>
        <p:spPr>
          <a:xfrm>
            <a:off x="10429875" y="1840865"/>
            <a:ext cx="1148715" cy="25692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Inspect baseline, current and target quantities plus unit and value differences for material ETF rows.</a:t>
            </a:r>
          </a:p>
        </p:txBody>
      </p:sp>
      <p:sp>
        <p:nvSpPr>
          <p:cNvPr id="22" name="TextBox 31"/>
          <p:cNvSpPr>
            <a:spLocks noGrp="1"/>
          </p:cNvSpPr>
          <p:nvPr/>
        </p:nvSpPr>
        <p:spPr>
          <a:xfrm>
            <a:off x="10429875" y="1320800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05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30"/>
          <p:cNvSpPr>
            <a:spLocks noGrp="1"/>
          </p:cNvSpPr>
          <p:nvPr/>
        </p:nvSpPr>
        <p:spPr>
          <a:xfrm>
            <a:off x="9127490" y="4682490"/>
            <a:ext cx="2510155" cy="1369695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9184640" y="4895215"/>
            <a:ext cx="2411095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82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Quantity changes shows baseline, current and target quantities with unit and value differences.</a:t>
            </a:r>
            <a:endParaRPr lang="en-US" altLang="zh-CN" sz="82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985A32-43CE-D231-158F-EEACB814F7F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20" y="1301750"/>
            <a:ext cx="1603375" cy="32461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B3EFB9F-5265-2F49-3B46-E1703D921CA6}"/>
              </a:ext>
            </a:extLst>
          </p:cNvPr>
          <p:cNvSpPr txBox="1"/>
          <p:nvPr/>
        </p:nvSpPr>
        <p:spPr>
          <a:xfrm>
            <a:off x="2247265" y="4667250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C806F30-FAE8-2C1F-7B91-880F018F14B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930" y="1305560"/>
            <a:ext cx="1603375" cy="3246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4216675-A75D-AED8-C742-9BC22FB4F46B}"/>
              </a:ext>
            </a:extLst>
          </p:cNvPr>
          <p:cNvSpPr txBox="1"/>
          <p:nvPr/>
        </p:nvSpPr>
        <p:spPr>
          <a:xfrm>
            <a:off x="5697855" y="471614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C58F88F-0170-2CEA-DBC3-2B430A536A98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080" y="1320800"/>
            <a:ext cx="1604010" cy="324739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B68130B-F30C-04B7-E489-601E19CC92FB}"/>
              </a:ext>
            </a:extLst>
          </p:cNvPr>
          <p:cNvSpPr txBox="1"/>
          <p:nvPr/>
        </p:nvSpPr>
        <p:spPr>
          <a:xfrm>
            <a:off x="9184640" y="4730115"/>
            <a:ext cx="2411095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0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079364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2486914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2486914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05  User Story 5 — Adjust and apply the baseline scenario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 loaded target scenario can be edited, reset and applied once to My Portfolio.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28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6" name="Rounded Rectangle 30"/>
          <p:cNvSpPr>
            <a:spLocks noGrp="1"/>
          </p:cNvSpPr>
          <p:nvPr/>
        </p:nvSpPr>
        <p:spPr>
          <a:xfrm>
            <a:off x="4658360" y="3975735"/>
            <a:ext cx="6953885" cy="184340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Rounded Rectangle 30"/>
          <p:cNvSpPr>
            <a:spLocks noGrp="1"/>
          </p:cNvSpPr>
          <p:nvPr/>
        </p:nvSpPr>
        <p:spPr>
          <a:xfrm>
            <a:off x="2176145" y="1664335"/>
            <a:ext cx="6953885" cy="1965325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4370070" y="1750060"/>
            <a:ext cx="4622165" cy="6567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Wait for the selected baseline preview, inspect scope and target rows, edit non-negative shares, reset and enable Apply only after the scenario is complete.</a:t>
            </a:r>
          </a:p>
        </p:txBody>
      </p:sp>
      <p:sp>
        <p:nvSpPr>
          <p:cNvPr id="75" name="TextBox 31"/>
          <p:cNvSpPr>
            <a:spLocks noGrp="1"/>
          </p:cNvSpPr>
          <p:nvPr/>
        </p:nvSpPr>
        <p:spPr>
          <a:xfrm>
            <a:off x="4370070" y="139890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06</a:t>
            </a:r>
            <a:endParaRPr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31"/>
          <p:cNvSpPr>
            <a:spLocks noGrp="1"/>
          </p:cNvSpPr>
          <p:nvPr/>
        </p:nvSpPr>
        <p:spPr>
          <a:xfrm>
            <a:off x="8589645" y="3695065"/>
            <a:ext cx="7442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07</a:t>
            </a:r>
            <a:endParaRPr lang="en-US" b="1" u="none">
              <a:solidFill>
                <a:srgbClr val="F4B8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35525" y="4061460"/>
            <a:ext cx="4622165" cy="4628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/>
              <a:t>Apply once, return to refreshed My Portfolio details, reopen the review and confirm the final target quantities and updated comparison persist.</a:t>
            </a:r>
          </a:p>
        </p:txBody>
      </p:sp>
      <p:sp>
        <p:nvSpPr>
          <p:cNvPr id="12" name="Rounded Rectangle 30"/>
          <p:cNvSpPr>
            <a:spLocks noGrp="1"/>
          </p:cNvSpPr>
          <p:nvPr/>
        </p:nvSpPr>
        <p:spPr>
          <a:xfrm>
            <a:off x="4438650" y="2398395"/>
            <a:ext cx="4553585" cy="108077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4483100" y="2604770"/>
            <a:ext cx="4500245" cy="7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Suggestions waits for the current preview and identifies the selected baseline and row scope.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Each row compares current, baseline and calculated target holdings.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Non-negative edits recalculate or reset, and Apply waits for a complete target.</a:t>
            </a:r>
          </a:p>
        </p:txBody>
      </p:sp>
      <p:sp>
        <p:nvSpPr>
          <p:cNvPr id="13" name="Rounded Rectangle 30"/>
          <p:cNvSpPr>
            <a:spLocks noGrp="1"/>
          </p:cNvSpPr>
          <p:nvPr/>
        </p:nvSpPr>
        <p:spPr>
          <a:xfrm>
            <a:off x="4791075" y="4820920"/>
            <a:ext cx="4553585" cy="863600"/>
          </a:xfrm>
          <a:prstGeom prst="roundRect">
            <a:avLst>
              <a:gd name="adj" fmla="val 6976"/>
            </a:avLst>
          </a:prstGeom>
          <a:solidFill>
            <a:srgbClr val="F5F7FD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4" name="文本框 13"/>
          <p:cNvSpPr txBox="1"/>
          <p:nvPr/>
        </p:nvSpPr>
        <p:spPr>
          <a:xfrm>
            <a:off x="4835525" y="5038090"/>
            <a:ext cx="4500245" cy="5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 successful Apply refreshes target holdings, and reopening confirms shares and comparison.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Char char="•"/>
            </a:pPr>
            <a:r>
              <a:rPr lang="en-US" altLang="zh-CN" sz="900">
                <a:solidFill>
                  <a:srgbClr val="15243F"/>
                </a:solidFill>
                <a:latin typeface="Georgia" panose="02040502050405090303" charset="0"/>
                <a:cs typeface="Georgia" panose="02040502050405090303" charset="0"/>
              </a:rPr>
              <a:t>Apply cannot be triggered repeatedly while the request is in progress.</a:t>
            </a:r>
            <a:endParaRPr lang="en-US" altLang="zh-CN" sz="900">
              <a:solidFill>
                <a:srgbClr val="15243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E11416-8760-2CF7-817D-8348D18BE6C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140" y="1332230"/>
            <a:ext cx="2416175" cy="48926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BDC7A2D-608D-D2C5-12AF-67A9CCBED2EB}"/>
              </a:ext>
            </a:extLst>
          </p:cNvPr>
          <p:cNvSpPr txBox="1"/>
          <p:nvPr/>
        </p:nvSpPr>
        <p:spPr>
          <a:xfrm>
            <a:off x="4483100" y="243967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EFC5B7-81C4-4573-9C82-4CD28D666AA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85" y="1357630"/>
            <a:ext cx="2392680" cy="4844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B35683A-F884-8F47-9214-C64B109C03F0}"/>
              </a:ext>
            </a:extLst>
          </p:cNvPr>
          <p:cNvSpPr txBox="1"/>
          <p:nvPr/>
        </p:nvSpPr>
        <p:spPr>
          <a:xfrm>
            <a:off x="4835525" y="4872990"/>
            <a:ext cx="4500245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8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00765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8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9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410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11" name="Shape 4"/>
          <p:cNvSpPr>
            <a:spLocks noGrp="1"/>
          </p:cNvSpPr>
          <p:nvPr/>
        </p:nvSpPr>
        <p:spPr>
          <a:xfrm>
            <a:off x="0" y="3181731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12" name="Shape 5"/>
          <p:cNvSpPr>
            <a:spLocks noGrp="1"/>
          </p:cNvSpPr>
          <p:nvPr/>
        </p:nvSpPr>
        <p:spPr>
          <a:xfrm>
            <a:off x="0" y="3181731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13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414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415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416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417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418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419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420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421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2" name="Text 21"/>
          <p:cNvSpPr>
            <a:spLocks noGrp="1"/>
          </p:cNvSpPr>
          <p:nvPr/>
        </p:nvSpPr>
        <p:spPr>
          <a:xfrm>
            <a:off x="1847160" y="311040"/>
            <a:ext cx="10039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</a:t>
            </a:r>
            <a:r>
              <a:rPr lang="en-US"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4</a:t>
            </a:r>
            <a:r>
              <a:rPr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  </a:t>
            </a:r>
            <a:r>
              <a:rPr lang="en-US" sz="27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423" name="Text 22"/>
          <p:cNvSpPr>
            <a:spLocks noGrp="1"/>
          </p:cNvSpPr>
          <p:nvPr/>
        </p:nvSpPr>
        <p:spPr>
          <a:xfrm>
            <a:off x="1847160" y="841320"/>
            <a:ext cx="10039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4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Operational visibility plus a Web Admin → shared backend → iOS verification loop</a:t>
            </a:r>
          </a:p>
        </p:txBody>
      </p:sp>
      <p:sp>
        <p:nvSpPr>
          <p:cNvPr id="424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425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6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427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428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29 / 35</a:t>
            </a:r>
            <a:endParaRPr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4" name="图片 3" descr="a9cd7aeae6903707cd431a3a33cca29c3a9691d2b465be62a8cd4a22cd5f8e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760" y="1205865"/>
            <a:ext cx="6885940" cy="5141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910" y="1633220"/>
            <a:ext cx="3439160" cy="1869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910" y="4191000"/>
            <a:ext cx="3439795" cy="185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24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3181731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3181731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Monitor the platform and inspect the ETF catalogue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Dashboard metrics lead into searchable, filterable ETF maintenance data.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30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4ED975-DCC6-1428-2D58-44C51E7A022E}"/>
              </a:ext>
            </a:extLst>
          </p:cNvPr>
          <p:cNvSpPr txBox="1"/>
          <p:nvPr/>
        </p:nvSpPr>
        <p:spPr>
          <a:xfrm>
            <a:off x="19685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01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C89C38A-D892-A270-7868-2B894147D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691" y="1524000"/>
            <a:ext cx="4438619" cy="2413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C4E6FCC-D885-6532-61D3-2BA35597A5B6}"/>
              </a:ext>
            </a:extLst>
          </p:cNvPr>
          <p:cNvSpPr txBox="1"/>
          <p:nvPr/>
        </p:nvSpPr>
        <p:spPr>
          <a:xfrm>
            <a:off x="1968500" y="4000500"/>
            <a:ext cx="4699000" cy="346762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960">
                <a:solidFill>
                  <a:srgbClr val="15243F"/>
                </a:solidFill>
                <a:latin typeface="Georgia" panose="02040502050405020303" pitchFamily="18" charset="0"/>
              </a:rPr>
              <a:t>Open Dashboard and explain the current users, ETF catalogue, portfolios, structured notes and ETF tier distribution returned by the shared backend.</a:t>
            </a:r>
            <a:endParaRPr lang="zh-CN" altLang="en-US" sz="96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F724507-2011-7BB3-1923-F1713B29B521}"/>
              </a:ext>
            </a:extLst>
          </p:cNvPr>
          <p:cNvSpPr/>
          <p:nvPr/>
        </p:nvSpPr>
        <p:spPr>
          <a:xfrm>
            <a:off x="1968500" y="4762500"/>
            <a:ext cx="4699000" cy="13335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20BAC2-3655-82F2-2ABD-6B94D35A5EC7}"/>
              </a:ext>
            </a:extLst>
          </p:cNvPr>
          <p:cNvSpPr txBox="1"/>
          <p:nvPr/>
        </p:nvSpPr>
        <p:spPr>
          <a:xfrm>
            <a:off x="2098691" y="5257800"/>
            <a:ext cx="4597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Dashboard summarizes the current backend's users, ETFs, portfolios, notes and tier distribution.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958A14-6779-5DD0-356B-1D662ABBAD52}"/>
              </a:ext>
            </a:extLst>
          </p:cNvPr>
          <p:cNvSpPr txBox="1"/>
          <p:nvPr/>
        </p:nvSpPr>
        <p:spPr>
          <a:xfrm>
            <a:off x="2098691" y="5092700"/>
            <a:ext cx="4597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5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50" b="1">
              <a:solidFill>
                <a:srgbClr val="15243F"/>
              </a:solidFill>
              <a:latin typeface="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65AE68-5F31-6885-C9C9-934D0C0FA986}"/>
              </a:ext>
            </a:extLst>
          </p:cNvPr>
          <p:cNvSpPr txBox="1"/>
          <p:nvPr/>
        </p:nvSpPr>
        <p:spPr>
          <a:xfrm>
            <a:off x="69850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02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52F4DB8-9DDF-267B-D017-833F67871E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012" y="1524000"/>
            <a:ext cx="4654976" cy="24130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409AAE24-34B8-F1F2-A386-FAEEE9CA8247}"/>
              </a:ext>
            </a:extLst>
          </p:cNvPr>
          <p:cNvSpPr txBox="1"/>
          <p:nvPr/>
        </p:nvSpPr>
        <p:spPr>
          <a:xfrm>
            <a:off x="6985000" y="4000500"/>
            <a:ext cx="4699000" cy="346762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960">
                <a:solidFill>
                  <a:srgbClr val="15243F"/>
                </a:solidFill>
                <a:latin typeface="Georgia" panose="02040502050405020303" pitchFamily="18" charset="0"/>
              </a:rPr>
              <a:t>Search by symbol/name/issuer, apply tier or asset-class filters, and inspect the fields required to maintain an ETF record.</a:t>
            </a:r>
            <a:endParaRPr lang="zh-CN" altLang="en-US" sz="96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C6F35C5-BBD7-056B-6220-9BCC99E672A9}"/>
              </a:ext>
            </a:extLst>
          </p:cNvPr>
          <p:cNvSpPr/>
          <p:nvPr/>
        </p:nvSpPr>
        <p:spPr>
          <a:xfrm>
            <a:off x="6985000" y="4762500"/>
            <a:ext cx="4699000" cy="13335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FB94A8-95CC-6398-4603-4B89EC452743}"/>
              </a:ext>
            </a:extLst>
          </p:cNvPr>
          <p:cNvSpPr txBox="1"/>
          <p:nvPr/>
        </p:nvSpPr>
        <p:spPr>
          <a:xfrm>
            <a:off x="7115191" y="5257800"/>
            <a:ext cx="4597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ETF Catalogue supports symbol, name or issuer search plus available tier and asset-class filters.</a:t>
            </a:r>
          </a:p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ETF records expose the exchange, currency, classification, issuer and expense fields needed for maintenance.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45FB78-85D1-0730-C065-48E92173C6B1}"/>
              </a:ext>
            </a:extLst>
          </p:cNvPr>
          <p:cNvSpPr txBox="1"/>
          <p:nvPr/>
        </p:nvSpPr>
        <p:spPr>
          <a:xfrm>
            <a:off x="7115191" y="5092700"/>
            <a:ext cx="4597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5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5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765580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3181731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3181731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3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Add or deactivate an ETF and verify it on iOS</a:t>
            </a:r>
            <a:endParaRPr lang="en-US" altLang="zh-CN" sz="23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acceptance result is the refreshed client state, not the Admin submission toast.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31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4F3721-D22D-B873-FAEB-6E44FC512DA5}"/>
              </a:ext>
            </a:extLst>
          </p:cNvPr>
          <p:cNvSpPr txBox="1"/>
          <p:nvPr/>
        </p:nvSpPr>
        <p:spPr>
          <a:xfrm>
            <a:off x="19685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03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B449A14-55A8-F6A8-31BB-56EEEA26B1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1553547"/>
            <a:ext cx="5461000" cy="292540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C69C7F7-6610-846A-50E9-B0C2CAD94D08}"/>
              </a:ext>
            </a:extLst>
          </p:cNvPr>
          <p:cNvSpPr txBox="1"/>
          <p:nvPr/>
        </p:nvSpPr>
        <p:spPr>
          <a:xfrm>
            <a:off x="1968500" y="4597400"/>
            <a:ext cx="5461000" cy="340606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940">
                <a:solidFill>
                  <a:srgbClr val="15243F"/>
                </a:solidFill>
                <a:latin typeface="Georgia" panose="02040502050405020303" pitchFamily="18" charset="0"/>
              </a:rPr>
              <a:t>Use Add by Ticker or Add ETF manually, show duplicate validation and submit only one valid test record; repeat the process for an active/inactive state change.</a:t>
            </a:r>
            <a:endParaRPr lang="zh-CN" altLang="en-US" sz="94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606A236-252A-1EF1-BD5B-E50F2C015D35}"/>
              </a:ext>
            </a:extLst>
          </p:cNvPr>
          <p:cNvSpPr/>
          <p:nvPr/>
        </p:nvSpPr>
        <p:spPr>
          <a:xfrm>
            <a:off x="1968500" y="5232400"/>
            <a:ext cx="5461000" cy="8636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AB82F8-C759-F3F6-0AF2-4D49ACB37072}"/>
              </a:ext>
            </a:extLst>
          </p:cNvPr>
          <p:cNvSpPr txBox="1"/>
          <p:nvPr/>
        </p:nvSpPr>
        <p:spPr>
          <a:xfrm>
            <a:off x="2120900" y="5515908"/>
            <a:ext cx="5359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Administrators can create one valid ETF through Add by Ticker or manual entry.</a:t>
            </a:r>
          </a:p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Add or deactivate requests cannot repeat in progress or create duplicates and conflicts.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BD1509-769F-005E-BAA5-E650B63F66BF}"/>
              </a:ext>
            </a:extLst>
          </p:cNvPr>
          <p:cNvSpPr txBox="1"/>
          <p:nvPr/>
        </p:nvSpPr>
        <p:spPr>
          <a:xfrm>
            <a:off x="2120900" y="5350808"/>
            <a:ext cx="5359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5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50" b="1">
              <a:solidFill>
                <a:srgbClr val="15243F"/>
              </a:solidFill>
              <a:latin typeface="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2EC0D-5364-EBA9-6B6F-0398BCDE3070}"/>
              </a:ext>
            </a:extLst>
          </p:cNvPr>
          <p:cNvSpPr txBox="1"/>
          <p:nvPr/>
        </p:nvSpPr>
        <p:spPr>
          <a:xfrm>
            <a:off x="77470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04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5FCC80C-6AA9-E598-42F4-F32C3654A4BC}"/>
              </a:ext>
            </a:extLst>
          </p:cNvPr>
          <p:cNvSpPr txBox="1"/>
          <p:nvPr/>
        </p:nvSpPr>
        <p:spPr>
          <a:xfrm>
            <a:off x="7747000" y="4597400"/>
            <a:ext cx="3937000" cy="334451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920">
                <a:solidFill>
                  <a:srgbClr val="15243F"/>
                </a:solidFill>
                <a:latin typeface="Georgia" panose="02040502050405020303" pitchFamily="18" charset="0"/>
              </a:rPr>
              <a:t>Return to the simulator after each Admin mutation, refresh or reopen the ETF search/list and prove the client universe changed exactly once.</a:t>
            </a:r>
            <a:endParaRPr lang="zh-CN" altLang="en-US" sz="92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8EBBB3A-8853-DB21-640D-E8A684F8A510}"/>
              </a:ext>
            </a:extLst>
          </p:cNvPr>
          <p:cNvSpPr/>
          <p:nvPr/>
        </p:nvSpPr>
        <p:spPr>
          <a:xfrm>
            <a:off x="7747000" y="5232400"/>
            <a:ext cx="3937000" cy="8636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54F467-9843-2C36-9D6A-539CDB054DD5}"/>
              </a:ext>
            </a:extLst>
          </p:cNvPr>
          <p:cNvSpPr txBox="1"/>
          <p:nvPr/>
        </p:nvSpPr>
        <p:spPr>
          <a:xfrm>
            <a:off x="7899400" y="5515908"/>
            <a:ext cx="3835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40">
                <a:solidFill>
                  <a:srgbClr val="15243F"/>
                </a:solidFill>
                <a:latin typeface="Georgia" panose="02040502050405020303" pitchFamily="18" charset="0"/>
              </a:rPr>
              <a:t>After refresh, a created ETF appears on iOS and a deactivated ETF leaves the active universe.</a:t>
            </a:r>
          </a:p>
          <a:p>
            <a:pPr marL="228600" indent="-228600">
              <a:buFont typeface="+mj-lt"/>
              <a:buChar char="•"/>
            </a:pPr>
            <a:r>
              <a:rPr lang="en-US" altLang="zh-CN" sz="840">
                <a:solidFill>
                  <a:srgbClr val="15243F"/>
                </a:solidFill>
                <a:latin typeface="Georgia" panose="02040502050405020303" pitchFamily="18" charset="0"/>
              </a:rPr>
              <a:t>Client-facing changes require refreshed iOS evidence; an Admin Toast alone is insufficient.</a:t>
            </a:r>
            <a:endParaRPr lang="zh-CN" altLang="en-US" sz="84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EE0B264-CFD3-21E5-C56B-6620486FD6F5}"/>
              </a:ext>
            </a:extLst>
          </p:cNvPr>
          <p:cNvSpPr txBox="1"/>
          <p:nvPr/>
        </p:nvSpPr>
        <p:spPr>
          <a:xfrm>
            <a:off x="7899400" y="5350808"/>
            <a:ext cx="38354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20" b="1">
              <a:solidFill>
                <a:srgbClr val="15243F"/>
              </a:solidFill>
              <a:latin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8AA3FA-D3B8-BC7F-28A8-6F71CCB57C22}"/>
              </a:ext>
            </a:extLst>
          </p:cNvPr>
          <p:cNvSpPr txBox="1"/>
          <p:nvPr/>
        </p:nvSpPr>
        <p:spPr>
          <a:xfrm>
            <a:off x="8227259" y="1511300"/>
            <a:ext cx="137394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80" b="1">
                <a:solidFill>
                  <a:srgbClr val="52688F"/>
                </a:solidFill>
                <a:latin typeface="Georgia" panose="02040502050405020303" pitchFamily="18" charset="0"/>
              </a:rPr>
              <a:t>BEFORE ADMIN</a:t>
            </a:r>
            <a:endParaRPr lang="zh-CN" altLang="en-US" sz="780" b="1">
              <a:solidFill>
                <a:srgbClr val="52688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AD1DB6-0207-2180-A404-0E72F2BD4A48}"/>
              </a:ext>
            </a:extLst>
          </p:cNvPr>
          <p:cNvSpPr txBox="1"/>
          <p:nvPr/>
        </p:nvSpPr>
        <p:spPr>
          <a:xfrm>
            <a:off x="9829799" y="1511300"/>
            <a:ext cx="137394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780" b="1">
                <a:solidFill>
                  <a:srgbClr val="007E87"/>
                </a:solidFill>
                <a:latin typeface="Georgia" panose="02040502050405020303" pitchFamily="18" charset="0"/>
              </a:rPr>
              <a:t>AFTER REFRESH</a:t>
            </a:r>
            <a:endParaRPr lang="zh-CN" altLang="en-US" sz="780" b="1">
              <a:solidFill>
                <a:srgbClr val="007E87"/>
              </a:solidFill>
              <a:latin typeface="Georgia" panose="02040502050405020303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663420-62C7-CAFD-BA70-CED296EED54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260" y="1727200"/>
            <a:ext cx="1373940" cy="27813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EBC659-E9B6-B338-D1B8-2BECFE4A613B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1727200"/>
            <a:ext cx="137394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18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Maintain and verify Model Portfolios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 published template is edited in Admin and then reloaded from the iOS catalogue.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32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524C8B-D5E6-B842-465A-61B54F7DB47E}"/>
              </a:ext>
            </a:extLst>
          </p:cNvPr>
          <p:cNvSpPr txBox="1"/>
          <p:nvPr/>
        </p:nvSpPr>
        <p:spPr>
          <a:xfrm>
            <a:off x="19685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05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4959AB3-494E-E92C-9AC2-074FCF25DF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81" y="1498600"/>
            <a:ext cx="3405638" cy="18415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11C9F38-467F-6922-9909-3C8271EBE5CA}"/>
              </a:ext>
            </a:extLst>
          </p:cNvPr>
          <p:cNvSpPr txBox="1"/>
          <p:nvPr/>
        </p:nvSpPr>
        <p:spPr>
          <a:xfrm>
            <a:off x="6540500" y="1473200"/>
            <a:ext cx="2540000" cy="45294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Inspect template key, display order, title, risk band, return range, horizon, summary, reference, status and allocation entry points.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0AFF6E2-50FE-2CFA-E948-127C40BF5183}"/>
              </a:ext>
            </a:extLst>
          </p:cNvPr>
          <p:cNvSpPr/>
          <p:nvPr/>
        </p:nvSpPr>
        <p:spPr>
          <a:xfrm>
            <a:off x="6540500" y="2159064"/>
            <a:ext cx="2540000" cy="10414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D99E4A-E1D3-17C2-6917-576663719B70}"/>
              </a:ext>
            </a:extLst>
          </p:cNvPr>
          <p:cNvSpPr txBox="1"/>
          <p:nvPr/>
        </p:nvSpPr>
        <p:spPr>
          <a:xfrm>
            <a:off x="6591300" y="2501900"/>
            <a:ext cx="2438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00">
                <a:solidFill>
                  <a:srgbClr val="15243F"/>
                </a:solidFill>
                <a:latin typeface="Georgia" panose="02040502050405020303" pitchFamily="18" charset="0"/>
              </a:rPr>
              <a:t>Model Portfolios maintains template identity, order, facts, status, Reference and ETF allocations.</a:t>
            </a:r>
            <a:endParaRPr lang="zh-CN" altLang="en-US" sz="80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DF5B40-1994-14EF-9DEC-729D00AB9DFD}"/>
              </a:ext>
            </a:extLst>
          </p:cNvPr>
          <p:cNvSpPr txBox="1"/>
          <p:nvPr/>
        </p:nvSpPr>
        <p:spPr>
          <a:xfrm>
            <a:off x="6591300" y="2336800"/>
            <a:ext cx="24384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8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880" b="1">
              <a:solidFill>
                <a:srgbClr val="15243F"/>
              </a:solidFill>
              <a:latin typeface="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ACDC7A-3884-0403-617A-502CA83E4F07}"/>
              </a:ext>
            </a:extLst>
          </p:cNvPr>
          <p:cNvSpPr txBox="1"/>
          <p:nvPr/>
        </p:nvSpPr>
        <p:spPr>
          <a:xfrm>
            <a:off x="1968500" y="35179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06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E020859-2E75-8865-3909-9AAA3F74C0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107" y="3797300"/>
            <a:ext cx="3401786" cy="18415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193CA45-170F-F5D9-5FE0-889755D5079F}"/>
              </a:ext>
            </a:extLst>
          </p:cNvPr>
          <p:cNvSpPr txBox="1"/>
          <p:nvPr/>
        </p:nvSpPr>
        <p:spPr>
          <a:xfrm>
            <a:off x="6540500" y="3771900"/>
            <a:ext cx="2540000" cy="586827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Edit one recognizable field, keep allocations at Total 100%, save as published, then verify draft/hidden visibility boundaries with a dedicated test template.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D50501F-8176-E8FD-5212-518C5E28C273}"/>
              </a:ext>
            </a:extLst>
          </p:cNvPr>
          <p:cNvSpPr/>
          <p:nvPr/>
        </p:nvSpPr>
        <p:spPr>
          <a:xfrm>
            <a:off x="6540500" y="4457764"/>
            <a:ext cx="2540000" cy="10414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13FE9E9-4D84-311D-065F-83BA8D7B4AC4}"/>
              </a:ext>
            </a:extLst>
          </p:cNvPr>
          <p:cNvSpPr txBox="1"/>
          <p:nvPr/>
        </p:nvSpPr>
        <p:spPr>
          <a:xfrm>
            <a:off x="6591300" y="4800600"/>
            <a:ext cx="2438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780">
                <a:solidFill>
                  <a:srgbClr val="15243F"/>
                </a:solidFill>
                <a:latin typeface="Georgia" panose="02040502050405020303" pitchFamily="18" charset="0"/>
              </a:rPr>
              <a:t>A template can be saved or published only when its allocation totals 100%.</a:t>
            </a:r>
          </a:p>
          <a:p>
            <a:pPr marL="228600" indent="-228600">
              <a:buFont typeface="+mj-lt"/>
              <a:buChar char="•"/>
            </a:pPr>
            <a:r>
              <a:rPr lang="en-US" altLang="zh-CN" sz="780">
                <a:solidFill>
                  <a:srgbClr val="15243F"/>
                </a:solidFill>
                <a:latin typeface="Georgia" panose="02040502050405020303" pitchFamily="18" charset="0"/>
              </a:rPr>
              <a:t>iOS shows the current published configuration after refresh and excludes draft or hidden templates.</a:t>
            </a:r>
            <a:endParaRPr lang="zh-CN" altLang="en-US" sz="78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BAB1C7-111D-2835-B2FC-26F637AC1C1C}"/>
              </a:ext>
            </a:extLst>
          </p:cNvPr>
          <p:cNvSpPr txBox="1"/>
          <p:nvPr/>
        </p:nvSpPr>
        <p:spPr>
          <a:xfrm>
            <a:off x="6591300" y="4635500"/>
            <a:ext cx="2438400" cy="1323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60" b="1" dirty="0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860" b="1" dirty="0">
              <a:solidFill>
                <a:srgbClr val="15243F"/>
              </a:solidFill>
              <a:latin typeface="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206E1E-EA4D-0E96-7A3B-856AEC000454}"/>
              </a:ext>
            </a:extLst>
          </p:cNvPr>
          <p:cNvSpPr txBox="1"/>
          <p:nvPr/>
        </p:nvSpPr>
        <p:spPr>
          <a:xfrm>
            <a:off x="92710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07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8E274D9-79CE-AC3D-BC78-1F730DB8BBCA}"/>
              </a:ext>
            </a:extLst>
          </p:cNvPr>
          <p:cNvSpPr txBox="1"/>
          <p:nvPr/>
        </p:nvSpPr>
        <p:spPr>
          <a:xfrm>
            <a:off x="9271000" y="4749800"/>
            <a:ext cx="2413000" cy="457561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880">
                <a:solidFill>
                  <a:srgbClr val="15243F"/>
                </a:solidFill>
                <a:latin typeface="Georgia" panose="02040502050405020303" pitchFamily="18" charset="0"/>
              </a:rPr>
              <a:t>Reopen the selected Model Portfolio on iOS and compare the visible data with the saved Admin configuration.</a:t>
            </a:r>
            <a:endParaRPr lang="zh-CN" altLang="en-US" sz="88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6761D3-A8A8-A830-C811-48BF6946A93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082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334B48F-A154-6306-52EC-E51EBC547F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7888" y="1338426"/>
            <a:ext cx="1646019" cy="333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70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1C44"/>
          </a:solidFill>
          <a:ln w="12700">
            <a:solidFill>
              <a:srgbClr val="001C44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4" name="Shape 1"/>
          <p:cNvSpPr>
            <a:spLocks noGrp="1"/>
          </p:cNvSpPr>
          <p:nvPr/>
        </p:nvSpPr>
        <p:spPr>
          <a:xfrm>
            <a:off x="0" y="0"/>
            <a:ext cx="1481040" cy="68576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5" name="Text 2"/>
          <p:cNvSpPr>
            <a:spLocks noGrp="1"/>
          </p:cNvSpPr>
          <p:nvPr/>
        </p:nvSpPr>
        <p:spPr>
          <a:xfrm>
            <a:off x="329040" y="320040"/>
            <a:ext cx="840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</a:t>
            </a:r>
          </a:p>
          <a:p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FINTECH</a:t>
            </a:r>
          </a:p>
        </p:txBody>
      </p:sp>
      <p:sp>
        <p:nvSpPr>
          <p:cNvPr id="126" name="Shape 3"/>
          <p:cNvSpPr>
            <a:spLocks noGrp="1"/>
          </p:cNvSpPr>
          <p:nvPr/>
        </p:nvSpPr>
        <p:spPr>
          <a:xfrm>
            <a:off x="182880" y="89604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27" name="Shape 4"/>
          <p:cNvSpPr>
            <a:spLocks noGrp="1"/>
          </p:cNvSpPr>
          <p:nvPr/>
        </p:nvSpPr>
        <p:spPr>
          <a:xfrm>
            <a:off x="0" y="3181731"/>
            <a:ext cx="1481040" cy="667080"/>
          </a:xfrm>
          <a:prstGeom prst="rect">
            <a:avLst/>
          </a:prstGeom>
          <a:solidFill>
            <a:srgbClr val="006C78">
              <a:alpha val="95000"/>
            </a:srgbClr>
          </a:solidFill>
          <a:ln w="12700">
            <a:solidFill>
              <a:srgbClr val="006C78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Shape 5"/>
          <p:cNvSpPr>
            <a:spLocks noGrp="1"/>
          </p:cNvSpPr>
          <p:nvPr/>
        </p:nvSpPr>
        <p:spPr>
          <a:xfrm>
            <a:off x="0" y="3181731"/>
            <a:ext cx="50040" cy="6670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9" name="Text 6"/>
          <p:cNvSpPr>
            <a:spLocks noGrp="1"/>
          </p:cNvSpPr>
          <p:nvPr/>
        </p:nvSpPr>
        <p:spPr>
          <a:xfrm>
            <a:off x="164520" y="12528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</a:t>
            </a:r>
          </a:p>
        </p:txBody>
      </p:sp>
      <p:sp>
        <p:nvSpPr>
          <p:cNvPr id="130" name="Text 7"/>
          <p:cNvSpPr>
            <a:spLocks noGrp="1"/>
          </p:cNvSpPr>
          <p:nvPr/>
        </p:nvSpPr>
        <p:spPr>
          <a:xfrm>
            <a:off x="493920" y="11613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Login</a:t>
            </a:r>
          </a:p>
        </p:txBody>
      </p:sp>
      <p:sp>
        <p:nvSpPr>
          <p:cNvPr id="131" name="Text 8"/>
          <p:cNvSpPr>
            <a:spLocks noGrp="1"/>
          </p:cNvSpPr>
          <p:nvPr/>
        </p:nvSpPr>
        <p:spPr>
          <a:xfrm>
            <a:off x="164520" y="194760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02</a:t>
            </a:r>
          </a:p>
        </p:txBody>
      </p:sp>
      <p:sp>
        <p:nvSpPr>
          <p:cNvPr id="132" name="Text 9"/>
          <p:cNvSpPr>
            <a:spLocks noGrp="1"/>
          </p:cNvSpPr>
          <p:nvPr/>
        </p:nvSpPr>
        <p:spPr>
          <a:xfrm>
            <a:off x="493920" y="185616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Market</a:t>
            </a:r>
          </a:p>
        </p:txBody>
      </p:sp>
      <p:sp>
        <p:nvSpPr>
          <p:cNvPr id="133" name="Text 10"/>
          <p:cNvSpPr>
            <a:spLocks noGrp="1"/>
          </p:cNvSpPr>
          <p:nvPr/>
        </p:nvSpPr>
        <p:spPr>
          <a:xfrm>
            <a:off x="164520" y="26427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03</a:t>
            </a:r>
          </a:p>
        </p:txBody>
      </p:sp>
      <p:sp>
        <p:nvSpPr>
          <p:cNvPr id="134" name="Text 11"/>
          <p:cNvSpPr>
            <a:spLocks noGrp="1"/>
          </p:cNvSpPr>
          <p:nvPr/>
        </p:nvSpPr>
        <p:spPr>
          <a:xfrm>
            <a:off x="493920" y="25513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Portfolio</a:t>
            </a:r>
          </a:p>
        </p:txBody>
      </p:sp>
      <p:sp>
        <p:nvSpPr>
          <p:cNvPr id="135" name="Text 12"/>
          <p:cNvSpPr>
            <a:spLocks noGrp="1"/>
          </p:cNvSpPr>
          <p:nvPr/>
        </p:nvSpPr>
        <p:spPr>
          <a:xfrm>
            <a:off x="164520" y="3337560"/>
            <a:ext cx="228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04</a:t>
            </a:r>
          </a:p>
        </p:txBody>
      </p:sp>
      <p:sp>
        <p:nvSpPr>
          <p:cNvPr id="136" name="Text 13"/>
          <p:cNvSpPr>
            <a:spLocks noGrp="1"/>
          </p:cNvSpPr>
          <p:nvPr/>
        </p:nvSpPr>
        <p:spPr>
          <a:xfrm>
            <a:off x="493920" y="3246120"/>
            <a:ext cx="87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Admin</a:t>
            </a:r>
          </a:p>
        </p:txBody>
      </p:sp>
      <p:sp>
        <p:nvSpPr>
          <p:cNvPr id="137" name="Shape 20"/>
          <p:cNvSpPr>
            <a:spLocks noGrp="1"/>
          </p:cNvSpPr>
          <p:nvPr/>
        </p:nvSpPr>
        <p:spPr>
          <a:xfrm>
            <a:off x="182880" y="6345720"/>
            <a:ext cx="1115280" cy="360"/>
          </a:xfrm>
          <a:prstGeom prst="line">
            <a:avLst/>
          </a:prstGeom>
          <a:ln w="8890">
            <a:solidFill>
              <a:srgbClr val="FFFFFF">
                <a:alpha val="75000"/>
              </a:srgbClr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38" name="Text 21"/>
          <p:cNvSpPr>
            <a:spLocks noGrp="1"/>
          </p:cNvSpPr>
          <p:nvPr/>
        </p:nvSpPr>
        <p:spPr>
          <a:xfrm>
            <a:off x="1846580" y="254000"/>
            <a:ext cx="10033000" cy="698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5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01  User Story 1 — Review protected operations data</a:t>
            </a:r>
            <a:endParaRPr lang="en-US" altLang="zh-CN" sz="25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9" name="Text 22"/>
          <p:cNvSpPr>
            <a:spLocks noGrp="1"/>
          </p:cNvSpPr>
          <p:nvPr/>
        </p:nvSpPr>
        <p:spPr>
          <a:xfrm>
            <a:off x="1846580" y="863600"/>
            <a:ext cx="100330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u="none">
                <a:solidFill>
                  <a:srgbClr val="52688F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Users and User Portfolios support visibility and troubleshooting without mutating holdings.</a:t>
            </a:r>
          </a:p>
        </p:txBody>
      </p:sp>
      <p:sp>
        <p:nvSpPr>
          <p:cNvPr id="140" name="Shape 23"/>
          <p:cNvSpPr>
            <a:spLocks noGrp="1"/>
          </p:cNvSpPr>
          <p:nvPr/>
        </p:nvSpPr>
        <p:spPr>
          <a:xfrm>
            <a:off x="1847160" y="1152000"/>
            <a:ext cx="502560" cy="31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/>
          </a:p>
        </p:txBody>
      </p:sp>
      <p:sp>
        <p:nvSpPr>
          <p:cNvPr id="141" name="Shape 24"/>
          <p:cNvSpPr>
            <a:spLocks noGrp="1"/>
          </p:cNvSpPr>
          <p:nvPr/>
        </p:nvSpPr>
        <p:spPr>
          <a:xfrm>
            <a:off x="1846800" y="1179360"/>
            <a:ext cx="10022040" cy="360"/>
          </a:xfrm>
          <a:prstGeom prst="line">
            <a:avLst/>
          </a:prstGeom>
          <a:ln w="1016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2" name="Shape 25"/>
          <p:cNvSpPr>
            <a:spLocks noGrp="1"/>
          </p:cNvSpPr>
          <p:nvPr/>
        </p:nvSpPr>
        <p:spPr>
          <a:xfrm>
            <a:off x="1846800" y="6373080"/>
            <a:ext cx="10022040" cy="360"/>
          </a:xfrm>
          <a:prstGeom prst="line">
            <a:avLst/>
          </a:prstGeom>
          <a:ln w="8890">
            <a:solidFill>
              <a:srgbClr val="95A7B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43" name="Text 26"/>
          <p:cNvSpPr>
            <a:spLocks noGrp="1"/>
          </p:cNvSpPr>
          <p:nvPr/>
        </p:nvSpPr>
        <p:spPr>
          <a:xfrm>
            <a:off x="1847160" y="64738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· Confidential</a:t>
            </a:r>
          </a:p>
        </p:txBody>
      </p:sp>
      <p:sp>
        <p:nvSpPr>
          <p:cNvPr id="144" name="Text 27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33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144D4A-6963-89DF-A01D-480E1645D585}"/>
              </a:ext>
            </a:extLst>
          </p:cNvPr>
          <p:cNvSpPr txBox="1"/>
          <p:nvPr/>
        </p:nvSpPr>
        <p:spPr>
          <a:xfrm>
            <a:off x="19685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08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68097EC-1ED6-EB5B-6A8B-007747650C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928" y="1524000"/>
            <a:ext cx="4434145" cy="2413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57CE872-6B9F-D228-836E-F6B82196EB63}"/>
              </a:ext>
            </a:extLst>
          </p:cNvPr>
          <p:cNvSpPr txBox="1"/>
          <p:nvPr/>
        </p:nvSpPr>
        <p:spPr>
          <a:xfrm>
            <a:off x="1968500" y="4000500"/>
            <a:ext cx="4699000" cy="346762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960">
                <a:solidFill>
                  <a:srgbClr val="15243F"/>
                </a:solidFill>
                <a:latin typeface="Georgia" panose="02040502050405020303" pitchFamily="18" charset="0"/>
              </a:rPr>
              <a:t>Use search and role/status filters, inspect verification, account, risk, last-login and created metadata, and keep identifiable data redacted.</a:t>
            </a:r>
            <a:endParaRPr lang="zh-CN" altLang="en-US" sz="96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B3BB28B-2B15-49C4-0A18-C7B6F909A3E4}"/>
              </a:ext>
            </a:extLst>
          </p:cNvPr>
          <p:cNvSpPr/>
          <p:nvPr/>
        </p:nvSpPr>
        <p:spPr>
          <a:xfrm>
            <a:off x="1968500" y="4762500"/>
            <a:ext cx="4699000" cy="13335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867D11-35B9-6AA4-6033-A2DE7B6752FD}"/>
              </a:ext>
            </a:extLst>
          </p:cNvPr>
          <p:cNvSpPr txBox="1"/>
          <p:nvPr/>
        </p:nvSpPr>
        <p:spPr>
          <a:xfrm>
            <a:off x="2070100" y="5257800"/>
            <a:ext cx="4597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Users supports search and role or status filters with current account metadata.</a:t>
            </a:r>
          </a:p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Videos and screenshots use test data or redact emails, owners and other personal information.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DFAAC1-1367-628E-B4B7-45939C129991}"/>
              </a:ext>
            </a:extLst>
          </p:cNvPr>
          <p:cNvSpPr txBox="1"/>
          <p:nvPr/>
        </p:nvSpPr>
        <p:spPr>
          <a:xfrm>
            <a:off x="2070100" y="5092700"/>
            <a:ext cx="4597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5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50" b="1">
              <a:solidFill>
                <a:srgbClr val="15243F"/>
              </a:solidFill>
              <a:latin typeface="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40F7E0-26B9-2577-0A6B-AB45180F8C04}"/>
              </a:ext>
            </a:extLst>
          </p:cNvPr>
          <p:cNvSpPr txBox="1"/>
          <p:nvPr/>
        </p:nvSpPr>
        <p:spPr>
          <a:xfrm>
            <a:off x="6985000" y="1219200"/>
            <a:ext cx="6985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b="1">
                <a:solidFill>
                  <a:srgbClr val="F2B100"/>
                </a:solidFill>
                <a:latin typeface="Georgia" panose="02040502050405020303" pitchFamily="18" charset="0"/>
              </a:rPr>
              <a:t>09</a:t>
            </a:r>
            <a:endParaRPr lang="zh-CN" altLang="en-US" b="1">
              <a:solidFill>
                <a:srgbClr val="F2B100"/>
              </a:solidFill>
              <a:latin typeface="Georgia" panose="02040502050405020303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F6D9498-11AA-EAB6-10D5-F0E4A95F0D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077" y="1524000"/>
            <a:ext cx="4422846" cy="24130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BFFD137E-A7EF-02F7-02DD-94D2F124B920}"/>
              </a:ext>
            </a:extLst>
          </p:cNvPr>
          <p:cNvSpPr txBox="1"/>
          <p:nvPr/>
        </p:nvSpPr>
        <p:spPr>
          <a:xfrm>
            <a:off x="6985000" y="4000500"/>
            <a:ext cx="4699000" cy="346762"/>
          </a:xfrm>
          <a:prstGeom prst="rect">
            <a:avLst/>
          </a:prstGeom>
          <a:noFill/>
        </p:spPr>
        <p:txBody>
          <a:bodyPr vert="horz" lIns="50800" tIns="25400" rIns="50800" bIns="25400" rtlCol="0">
            <a:normAutofit/>
          </a:bodyPr>
          <a:lstStyle/>
          <a:p>
            <a:r>
              <a:rPr lang="en-US" altLang="zh-CN" sz="960">
                <a:solidFill>
                  <a:srgbClr val="15243F"/>
                </a:solidFill>
                <a:latin typeface="Georgia" panose="02040502050405020303" pitchFamily="18" charset="0"/>
              </a:rPr>
              <a:t>Inspect owner, currency, objective, horizon, holdings count and created time; explain that this story is read-only for ordinary user holdings.</a:t>
            </a:r>
            <a:endParaRPr lang="zh-CN" altLang="en-US" sz="96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62B7BC1-5FF3-FFF9-CCE6-52C804EF0935}"/>
              </a:ext>
            </a:extLst>
          </p:cNvPr>
          <p:cNvSpPr/>
          <p:nvPr/>
        </p:nvSpPr>
        <p:spPr>
          <a:xfrm>
            <a:off x="6985000" y="4762500"/>
            <a:ext cx="4699000" cy="1333500"/>
          </a:xfrm>
          <a:prstGeom prst="roundRect">
            <a:avLst/>
          </a:prstGeom>
          <a:solidFill>
            <a:srgbClr val="F5F7F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B1F50D-372B-584B-E6C9-3A904CD15D9D}"/>
              </a:ext>
            </a:extLst>
          </p:cNvPr>
          <p:cNvSpPr txBox="1"/>
          <p:nvPr/>
        </p:nvSpPr>
        <p:spPr>
          <a:xfrm>
            <a:off x="7086600" y="5257800"/>
            <a:ext cx="4597400" cy="152400"/>
          </a:xfrm>
          <a:prstGeom prst="rect">
            <a:avLst/>
          </a:prstGeom>
          <a:noFill/>
        </p:spPr>
        <p:txBody>
          <a:bodyPr vert="horz" lIns="50800" tIns="25400" rIns="50800" bIns="25400" rtlCol="0">
            <a:noAutofit/>
          </a:bodyPr>
          <a:lstStyle/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User Portfolios shows owner, currency, objective, horizon, holdings count and creation time.</a:t>
            </a:r>
          </a:p>
          <a:p>
            <a:pPr marL="228600" indent="-228600">
              <a:buFont typeface="+mj-lt"/>
              <a:buChar char="•"/>
            </a:pPr>
            <a:r>
              <a:rPr lang="en-US" altLang="zh-CN" sz="870">
                <a:solidFill>
                  <a:srgbClr val="15243F"/>
                </a:solidFill>
                <a:latin typeface="Georgia" panose="02040502050405020303" pitchFamily="18" charset="0"/>
              </a:rPr>
              <a:t>Operations pages support visibility and troubleshooting without modifying ordinary user holdings.</a:t>
            </a:r>
            <a:endParaRPr lang="zh-CN" altLang="en-US" sz="870">
              <a:solidFill>
                <a:srgbClr val="15243F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F36F25-4614-175D-87FA-8B2DA8A7E980}"/>
              </a:ext>
            </a:extLst>
          </p:cNvPr>
          <p:cNvSpPr txBox="1"/>
          <p:nvPr/>
        </p:nvSpPr>
        <p:spPr>
          <a:xfrm>
            <a:off x="7086600" y="5092700"/>
            <a:ext cx="4597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50" b="1">
                <a:solidFill>
                  <a:srgbClr val="15243F"/>
                </a:solidFill>
                <a:latin typeface=""/>
              </a:rPr>
              <a:t>AC Mapping:</a:t>
            </a:r>
            <a:endParaRPr lang="zh-CN" altLang="en-US" sz="950" b="1">
              <a:solidFill>
                <a:srgbClr val="15243F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515574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40" y="663120"/>
            <a:ext cx="10934280" cy="6153480"/>
          </a:xfrm>
          <a:prstGeom prst="rect">
            <a:avLst/>
          </a:prstGeom>
          <a:ln w="0">
            <a:noFill/>
          </a:ln>
        </p:spPr>
      </p:pic>
      <p:sp>
        <p:nvSpPr>
          <p:cNvPr id="11" name="Text 0"/>
          <p:cNvSpPr>
            <a:spLocks noGrp="1"/>
          </p:cNvSpPr>
          <p:nvPr/>
        </p:nvSpPr>
        <p:spPr>
          <a:xfrm>
            <a:off x="502920" y="2926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 FINTECH</a:t>
            </a:r>
          </a:p>
        </p:txBody>
      </p:sp>
      <p:sp>
        <p:nvSpPr>
          <p:cNvPr id="12" name="Text 1"/>
          <p:cNvSpPr>
            <a:spLocks noGrp="1"/>
          </p:cNvSpPr>
          <p:nvPr/>
        </p:nvSpPr>
        <p:spPr>
          <a:xfrm>
            <a:off x="530280" y="1181160"/>
            <a:ext cx="7223400" cy="1315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Acceptance Review and Q&amp;A</a:t>
            </a:r>
            <a:endParaRPr sz="32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" name="Shape 2"/>
          <p:cNvSpPr>
            <a:spLocks noGrp="1"/>
          </p:cNvSpPr>
          <p:nvPr/>
        </p:nvSpPr>
        <p:spPr>
          <a:xfrm>
            <a:off x="548640" y="2743200"/>
            <a:ext cx="822600" cy="40680"/>
          </a:xfrm>
          <a:prstGeom prst="rect">
            <a:avLst/>
          </a:prstGeom>
          <a:solidFill>
            <a:srgbClr val="006C78"/>
          </a:solidFill>
          <a:ln w="1016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/>
          </a:p>
        </p:txBody>
      </p:sp>
      <p:sp>
        <p:nvSpPr>
          <p:cNvPr id="14" name="Shape 3"/>
          <p:cNvSpPr>
            <a:spLocks noGrp="1"/>
          </p:cNvSpPr>
          <p:nvPr/>
        </p:nvSpPr>
        <p:spPr>
          <a:xfrm>
            <a:off x="1417320" y="2761200"/>
            <a:ext cx="6309360" cy="360"/>
          </a:xfrm>
          <a:prstGeom prst="line">
            <a:avLst/>
          </a:prstGeom>
          <a:ln w="1143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5" name="Text 4"/>
          <p:cNvSpPr>
            <a:spLocks noGrp="1"/>
          </p:cNvSpPr>
          <p:nvPr/>
        </p:nvSpPr>
        <p:spPr>
          <a:xfrm>
            <a:off x="548640" y="3127320"/>
            <a:ext cx="53946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Four modules · eleven User Stories · three complementary deliverables</a:t>
            </a:r>
            <a:endParaRPr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6" name="Text 5"/>
          <p:cNvSpPr>
            <a:spLocks noGrp="1"/>
          </p:cNvSpPr>
          <p:nvPr/>
        </p:nvSpPr>
        <p:spPr>
          <a:xfrm>
            <a:off x="548640" y="3632200"/>
            <a:ext cx="7175500" cy="1270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- Confirm Story-level walkthrough completeness.</a:t>
            </a:r>
          </a:p>
          <a:p>
            <a:pPr>
              <a:lnSpc>
                <a:spcPct val="100000"/>
              </a:lnSpc>
              <a:buNone/>
            </a:pPr>
            <a:r>
              <a:rPr lang="en-US" sz="120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- Confirm AC mapping and any evidence that must remain video-only.</a:t>
            </a:r>
          </a:p>
          <a:p>
            <a:pPr>
              <a:lnSpc>
                <a:spcPct val="100000"/>
              </a:lnSpc>
              <a:buNone/>
            </a:pPr>
            <a:r>
              <a:rPr lang="en-US" sz="120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- Confirm Admin-to-iOS refresh evidence is complete and traceable to dedicated test data.</a:t>
            </a:r>
            <a:endParaRPr sz="1200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7" name="Shape 6"/>
          <p:cNvSpPr>
            <a:spLocks noGrp="1"/>
          </p:cNvSpPr>
          <p:nvPr/>
        </p:nvSpPr>
        <p:spPr>
          <a:xfrm>
            <a:off x="54864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8" name="Text 8"/>
          <p:cNvSpPr>
            <a:spLocks noGrp="1"/>
          </p:cNvSpPr>
          <p:nvPr/>
        </p:nvSpPr>
        <p:spPr>
          <a:xfrm>
            <a:off x="61272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4 Modules</a:t>
            </a:r>
            <a:endParaRPr sz="9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9" name="Shape 9"/>
          <p:cNvSpPr>
            <a:spLocks noGrp="1"/>
          </p:cNvSpPr>
          <p:nvPr/>
        </p:nvSpPr>
        <p:spPr>
          <a:xfrm>
            <a:off x="184716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0" name="Text 11"/>
          <p:cNvSpPr>
            <a:spLocks noGrp="1"/>
          </p:cNvSpPr>
          <p:nvPr/>
        </p:nvSpPr>
        <p:spPr>
          <a:xfrm>
            <a:off x="191124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11 Stories</a:t>
            </a:r>
            <a:endParaRPr sz="9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1" name="Shape 12"/>
          <p:cNvSpPr>
            <a:spLocks noGrp="1"/>
          </p:cNvSpPr>
          <p:nvPr/>
        </p:nvSpPr>
        <p:spPr>
          <a:xfrm>
            <a:off x="315468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2" name="Text 14"/>
          <p:cNvSpPr>
            <a:spLocks noGrp="1"/>
          </p:cNvSpPr>
          <p:nvPr/>
        </p:nvSpPr>
        <p:spPr>
          <a:xfrm>
            <a:off x="321876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248 ACs</a:t>
            </a:r>
            <a:endParaRPr sz="9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3" name="Shape 15"/>
          <p:cNvSpPr>
            <a:spLocks noGrp="1"/>
          </p:cNvSpPr>
          <p:nvPr/>
        </p:nvSpPr>
        <p:spPr>
          <a:xfrm>
            <a:off x="448056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4" name="Text 17"/>
          <p:cNvSpPr>
            <a:spLocks noGrp="1"/>
          </p:cNvSpPr>
          <p:nvPr/>
        </p:nvSpPr>
        <p:spPr>
          <a:xfrm>
            <a:off x="454464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35 Slides</a:t>
            </a:r>
            <a:endParaRPr sz="9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5" name="Shape 18"/>
          <p:cNvSpPr>
            <a:spLocks noGrp="1"/>
          </p:cNvSpPr>
          <p:nvPr/>
        </p:nvSpPr>
        <p:spPr>
          <a:xfrm>
            <a:off x="580644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6" name="Text 20"/>
          <p:cNvSpPr>
            <a:spLocks noGrp="1"/>
          </p:cNvSpPr>
          <p:nvPr/>
        </p:nvSpPr>
        <p:spPr>
          <a:xfrm>
            <a:off x="587052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 Capture Gaps</a:t>
            </a:r>
            <a:endParaRPr sz="9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7" name="Shape 21"/>
          <p:cNvSpPr>
            <a:spLocks noGrp="1"/>
          </p:cNvSpPr>
          <p:nvPr/>
        </p:nvSpPr>
        <p:spPr>
          <a:xfrm>
            <a:off x="7159680" y="5402520"/>
            <a:ext cx="1078560" cy="2923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0160">
            <a:solidFill>
              <a:srgbClr val="001B46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8" name="Text 23"/>
          <p:cNvSpPr>
            <a:spLocks noGrp="1"/>
          </p:cNvSpPr>
          <p:nvPr/>
        </p:nvSpPr>
        <p:spPr>
          <a:xfrm>
            <a:off x="7223760" y="544068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July 2026</a:t>
            </a:r>
            <a:endParaRPr sz="900" b="1" u="none">
              <a:solidFill>
                <a:srgbClr val="001B46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9" name="Shape 24"/>
          <p:cNvSpPr>
            <a:spLocks noGrp="1"/>
          </p:cNvSpPr>
          <p:nvPr/>
        </p:nvSpPr>
        <p:spPr>
          <a:xfrm>
            <a:off x="548640" y="6235920"/>
            <a:ext cx="10972800" cy="360"/>
          </a:xfrm>
          <a:prstGeom prst="line">
            <a:avLst/>
          </a:prstGeom>
          <a:ln w="11430">
            <a:solidFill>
              <a:srgbClr val="006C78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30" name="Text 25"/>
          <p:cNvSpPr>
            <a:spLocks noGrp="1"/>
          </p:cNvSpPr>
          <p:nvPr/>
        </p:nvSpPr>
        <p:spPr>
          <a:xfrm>
            <a:off x="548640" y="6400800"/>
            <a:ext cx="4205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001B46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SUNWAH FINTECH · M2 Functional Acceptance Walkthrough</a:t>
            </a:r>
          </a:p>
        </p:txBody>
      </p:sp>
      <p:sp>
        <p:nvSpPr>
          <p:cNvPr id="31" name="Text 26"/>
          <p:cNvSpPr>
            <a:spLocks noGrp="1"/>
          </p:cNvSpPr>
          <p:nvPr/>
        </p:nvSpPr>
        <p:spPr>
          <a:xfrm>
            <a:off x="10414000" y="6446520"/>
            <a:ext cx="14605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altLang="zh-CN" sz="1200" b="1" u="none">
                <a:solidFill>
                  <a:srgbClr val="001D4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35 / 35</a:t>
            </a:r>
            <a:endParaRPr lang="en-US" sz="1200" b="1" u="none">
              <a:solidFill>
                <a:srgbClr val="001D4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</p:spTree>
    <p:extLst>
      <p:ext uri="{BB962C8B-B14F-4D97-AF65-F5344CB8AC3E}">
        <p14:creationId xmlns:p14="http://schemas.microsoft.com/office/powerpoint/2010/main" val="252101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5300</Words>
  <Application>Microsoft Office PowerPoint</Application>
  <PresentationFormat>宽屏</PresentationFormat>
  <Paragraphs>795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茂源 张</cp:lastModifiedBy>
  <cp:revision>38</cp:revision>
  <dcterms:created xsi:type="dcterms:W3CDTF">2026-07-14T02:27:05Z</dcterms:created>
  <dcterms:modified xsi:type="dcterms:W3CDTF">2026-07-14T07:15:58Z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69C97118D0E3A8556C9E556A4E04006B_43</vt:lpwstr>
  </property>
</Properties>
</file>