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69" r:id="rId7"/>
    <p:sldId id="270" r:id="rId8"/>
    <p:sldId id="261" r:id="rId9"/>
    <p:sldId id="271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7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l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l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sz="18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defRPr>
            </a:lvl1pPr>
          </a:lstStyle>
          <a:p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Click to edit the title text format</a:t>
            </a:r>
            <a:endParaRPr sz="1800" b="0" u="none">
              <a:solidFill>
                <a:schemeClr val="dk1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 idx="10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5"/>
              </a:spcBef>
              <a:buChar char=""/>
              <a:defRPr sz="32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defRPr>
            </a:lvl1pPr>
            <a:lvl2pPr algn="l">
              <a:spcBef>
                <a:spcPts val="1135"/>
              </a:spcBef>
              <a:buChar char=""/>
              <a:defRPr sz="24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defRPr>
            </a:lvl2pPr>
            <a:lvl3pPr algn="l">
              <a:spcBef>
                <a:spcPts val="850"/>
              </a:spcBef>
              <a:buChar char=""/>
              <a:defRPr sz="20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defRPr>
            </a:lvl3pPr>
            <a:lvl4pPr algn="l">
              <a:spcBef>
                <a:spcPts val="565"/>
              </a:spcBef>
              <a:buChar char=""/>
              <a:defRPr sz="20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defRPr>
            </a:lvl4pPr>
            <a:lvl5pPr algn="l">
              <a:spcBef>
                <a:spcPts val="285"/>
              </a:spcBef>
              <a:buChar char=""/>
              <a:defRPr sz="20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defRPr>
            </a:lvl5pPr>
            <a:lvl6pPr algn="l">
              <a:spcBef>
                <a:spcPts val="285"/>
              </a:spcBef>
              <a:buChar char=""/>
              <a:defRPr sz="20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defRPr>
            </a:lvl6pPr>
            <a:lvl7pPr algn="l">
              <a:spcBef>
                <a:spcPts val="285"/>
              </a:spcBef>
              <a:buChar char=""/>
              <a:defRPr sz="20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defRPr>
            </a:lvl7pPr>
          </a:lstStyle>
          <a:p>
            <a:pPr marL="431800" indent="-323850" algn="l">
              <a:spcBef>
                <a:spcPts val="1415"/>
              </a:spcBef>
              <a:buChar char=""/>
            </a:pPr>
            <a:r>
              <a:rPr sz="32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  <a:p>
            <a:pPr marL="864235" indent="-323850" algn="l">
              <a:spcBef>
                <a:spcPts val="1135"/>
              </a:spcBef>
              <a:buChar char=""/>
            </a:pPr>
            <a:r>
              <a:rPr sz="24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Second Outline Level</a:t>
            </a:r>
            <a:endParaRPr sz="2400" b="0" u="none">
              <a:solidFill>
                <a:schemeClr val="dk1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  <a:p>
            <a:pPr marL="1296035" indent="-288290" algn="l">
              <a:spcBef>
                <a:spcPts val="850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Third Outline Level</a:t>
            </a:r>
            <a:endParaRPr sz="2000" b="0" u="none">
              <a:solidFill>
                <a:schemeClr val="dk1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  <a:p>
            <a:pPr marL="1727835" indent="-215900" algn="l">
              <a:spcBef>
                <a:spcPts val="565"/>
              </a:spcBef>
              <a:buChar char=""/>
            </a:pPr>
            <a:r>
              <a:rPr sz="20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Fourth Outline Level</a:t>
            </a:r>
            <a:endParaRPr sz="2000" b="0" u="none">
              <a:solidFill>
                <a:schemeClr val="dk1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  <a:p>
            <a:pPr marL="2160270" indent="-215900" algn="l">
              <a:spcBef>
                <a:spcPts val="285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Fifth Outline Level</a:t>
            </a:r>
            <a:endParaRPr sz="2000" b="0" u="none">
              <a:solidFill>
                <a:schemeClr val="dk1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  <a:p>
            <a:pPr marL="2592070" indent="-215900" algn="l">
              <a:spcBef>
                <a:spcPts val="285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Sixth Outline Level</a:t>
            </a:r>
            <a:endParaRPr sz="2000" b="0" u="none">
              <a:solidFill>
                <a:schemeClr val="dk1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  <a:p>
            <a:pPr marL="3023870" indent="-215900" algn="l">
              <a:spcBef>
                <a:spcPts val="285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Seventh Outline Level</a:t>
            </a:r>
            <a:endParaRPr sz="2000" b="0" u="none">
              <a:solidFill>
                <a:schemeClr val="dk1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1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3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4240" y="663120"/>
            <a:ext cx="10934280" cy="6153480"/>
          </a:xfrm>
          <a:prstGeom prst="rect">
            <a:avLst/>
          </a:prstGeom>
          <a:ln w="0">
            <a:noFill/>
          </a:ln>
        </p:spPr>
      </p:pic>
      <p:sp>
        <p:nvSpPr>
          <p:cNvPr id="11" name="Text 0"/>
          <p:cNvSpPr>
            <a:spLocks noGrp="1"/>
          </p:cNvSpPr>
          <p:nvPr/>
        </p:nvSpPr>
        <p:spPr>
          <a:xfrm>
            <a:off x="502920" y="29268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  FINTECH</a:t>
            </a:r>
            <a:endParaRPr sz="12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2" name="Text 1"/>
          <p:cNvSpPr>
            <a:spLocks noGrp="1"/>
          </p:cNvSpPr>
          <p:nvPr/>
        </p:nvSpPr>
        <p:spPr>
          <a:xfrm>
            <a:off x="530280" y="1181160"/>
            <a:ext cx="7223400" cy="13150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54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 Fintech M2</a:t>
            </a:r>
            <a:endParaRPr sz="54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" name="Shape 2"/>
          <p:cNvSpPr>
            <a:spLocks noGrp="1"/>
          </p:cNvSpPr>
          <p:nvPr/>
        </p:nvSpPr>
        <p:spPr>
          <a:xfrm>
            <a:off x="548640" y="2743200"/>
            <a:ext cx="822600" cy="40680"/>
          </a:xfrm>
          <a:prstGeom prst="rect">
            <a:avLst/>
          </a:prstGeom>
          <a:solidFill>
            <a:srgbClr val="006C78"/>
          </a:solidFill>
          <a:ln w="10160">
            <a:solidFill>
              <a:srgbClr val="006C78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3960" rIns="90000" bIns="-3960" anchor="t">
            <a:noAutofit/>
          </a:bodyPr>
          <a:lstStyle/>
          <a:p/>
        </p:txBody>
      </p:sp>
      <p:sp>
        <p:nvSpPr>
          <p:cNvPr id="14" name="Shape 3"/>
          <p:cNvSpPr>
            <a:spLocks noGrp="1"/>
          </p:cNvSpPr>
          <p:nvPr/>
        </p:nvSpPr>
        <p:spPr>
          <a:xfrm>
            <a:off x="1417320" y="2761200"/>
            <a:ext cx="6309360" cy="360"/>
          </a:xfrm>
          <a:prstGeom prst="line">
            <a:avLst/>
          </a:prstGeom>
          <a:ln w="11430">
            <a:solidFill>
              <a:srgbClr val="006C78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5" name="Text 4"/>
          <p:cNvSpPr>
            <a:spLocks noGrp="1"/>
          </p:cNvSpPr>
          <p:nvPr/>
        </p:nvSpPr>
        <p:spPr>
          <a:xfrm>
            <a:off x="548640" y="3127320"/>
            <a:ext cx="53946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Functional Acceptance Walkthrough</a:t>
            </a:r>
            <a:endParaRPr sz="1800" b="0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6" name="Text 5"/>
          <p:cNvSpPr>
            <a:spLocks noGrp="1"/>
          </p:cNvSpPr>
          <p:nvPr/>
        </p:nvSpPr>
        <p:spPr>
          <a:xfrm>
            <a:off x="548640" y="3730680"/>
            <a:ext cx="720504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220" b="0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Documentation, presentation and video share one Module → User Story → Walkthrough → Acceptance Criteria evidence chain.</a:t>
            </a:r>
            <a:endParaRPr sz="1220" b="0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7" name="Shape 6"/>
          <p:cNvSpPr>
            <a:spLocks noGrp="1"/>
          </p:cNvSpPr>
          <p:nvPr/>
        </p:nvSpPr>
        <p:spPr>
          <a:xfrm>
            <a:off x="548640" y="5402520"/>
            <a:ext cx="1078560" cy="29232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0160">
            <a:solidFill>
              <a:srgbClr val="001B46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8" name="Text 8"/>
          <p:cNvSpPr>
            <a:spLocks noGrp="1"/>
          </p:cNvSpPr>
          <p:nvPr/>
        </p:nvSpPr>
        <p:spPr>
          <a:xfrm>
            <a:off x="612720" y="5440680"/>
            <a:ext cx="9507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100" b="0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Live Cloud</a:t>
            </a:r>
            <a:endParaRPr sz="1100" b="0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9" name="Shape 9"/>
          <p:cNvSpPr>
            <a:spLocks noGrp="1"/>
          </p:cNvSpPr>
          <p:nvPr/>
        </p:nvSpPr>
        <p:spPr>
          <a:xfrm>
            <a:off x="1847160" y="5402520"/>
            <a:ext cx="1078560" cy="29232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0160">
            <a:solidFill>
              <a:srgbClr val="001B46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20" name="Text 11"/>
          <p:cNvSpPr>
            <a:spLocks noGrp="1"/>
          </p:cNvSpPr>
          <p:nvPr/>
        </p:nvSpPr>
        <p:spPr>
          <a:xfrm>
            <a:off x="1911240" y="5440680"/>
            <a:ext cx="9507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100" b="0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11 Stories</a:t>
            </a:r>
            <a:endParaRPr sz="1100" b="0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21" name="Shape 12"/>
          <p:cNvSpPr>
            <a:spLocks noGrp="1"/>
          </p:cNvSpPr>
          <p:nvPr/>
        </p:nvSpPr>
        <p:spPr>
          <a:xfrm>
            <a:off x="3154680" y="5402520"/>
            <a:ext cx="1078560" cy="29232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0160">
            <a:solidFill>
              <a:srgbClr val="001B46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22" name="Text 14"/>
          <p:cNvSpPr>
            <a:spLocks noGrp="1"/>
          </p:cNvSpPr>
          <p:nvPr/>
        </p:nvSpPr>
        <p:spPr>
          <a:xfrm>
            <a:off x="3218760" y="5440680"/>
            <a:ext cx="9507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100" b="0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iOS App</a:t>
            </a:r>
            <a:endParaRPr sz="1100" b="0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23" name="Shape 15"/>
          <p:cNvSpPr>
            <a:spLocks noGrp="1"/>
          </p:cNvSpPr>
          <p:nvPr/>
        </p:nvSpPr>
        <p:spPr>
          <a:xfrm>
            <a:off x="4480560" y="5402520"/>
            <a:ext cx="1078560" cy="29232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0160">
            <a:solidFill>
              <a:srgbClr val="001B46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24" name="Text 17"/>
          <p:cNvSpPr>
            <a:spLocks noGrp="1"/>
          </p:cNvSpPr>
          <p:nvPr/>
        </p:nvSpPr>
        <p:spPr>
          <a:xfrm>
            <a:off x="4544640" y="5440680"/>
            <a:ext cx="9507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100" b="0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Web Admin</a:t>
            </a:r>
            <a:endParaRPr sz="1100" b="0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25" name="Shape 18"/>
          <p:cNvSpPr>
            <a:spLocks noGrp="1"/>
          </p:cNvSpPr>
          <p:nvPr/>
        </p:nvSpPr>
        <p:spPr>
          <a:xfrm>
            <a:off x="5806440" y="5402520"/>
            <a:ext cx="1078560" cy="29232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0160">
            <a:solidFill>
              <a:srgbClr val="001B46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26" name="Text 20"/>
          <p:cNvSpPr>
            <a:spLocks noGrp="1"/>
          </p:cNvSpPr>
          <p:nvPr/>
        </p:nvSpPr>
        <p:spPr>
          <a:xfrm>
            <a:off x="5870520" y="5440680"/>
            <a:ext cx="9507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100" b="0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AC Traceable</a:t>
            </a:r>
            <a:endParaRPr sz="1100" b="0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27" name="Shape 21"/>
          <p:cNvSpPr>
            <a:spLocks noGrp="1"/>
          </p:cNvSpPr>
          <p:nvPr/>
        </p:nvSpPr>
        <p:spPr>
          <a:xfrm>
            <a:off x="7159680" y="5402520"/>
            <a:ext cx="1078560" cy="29232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0160">
            <a:solidFill>
              <a:srgbClr val="001B46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28" name="Text 23"/>
          <p:cNvSpPr>
            <a:spLocks noGrp="1"/>
          </p:cNvSpPr>
          <p:nvPr/>
        </p:nvSpPr>
        <p:spPr>
          <a:xfrm>
            <a:off x="7223760" y="5440680"/>
            <a:ext cx="9507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100" b="0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July 2026</a:t>
            </a:r>
            <a:endParaRPr sz="1100" b="0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29" name="Shape 24"/>
          <p:cNvSpPr>
            <a:spLocks noGrp="1"/>
          </p:cNvSpPr>
          <p:nvPr/>
        </p:nvSpPr>
        <p:spPr>
          <a:xfrm>
            <a:off x="548640" y="6235920"/>
            <a:ext cx="10972800" cy="360"/>
          </a:xfrm>
          <a:prstGeom prst="line">
            <a:avLst/>
          </a:prstGeom>
          <a:ln w="11430">
            <a:solidFill>
              <a:srgbClr val="006C78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30" name="Text 25"/>
          <p:cNvSpPr>
            <a:spLocks noGrp="1"/>
          </p:cNvSpPr>
          <p:nvPr/>
        </p:nvSpPr>
        <p:spPr>
          <a:xfrm>
            <a:off x="548640" y="6400800"/>
            <a:ext cx="42058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920" b="0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 FINTECH · M2 Functional Acceptance Walkthrough</a:t>
            </a:r>
            <a:endParaRPr sz="920" b="0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31" name="Text 26"/>
          <p:cNvSpPr>
            <a:spLocks noGrp="1"/>
          </p:cNvSpPr>
          <p:nvPr/>
        </p:nvSpPr>
        <p:spPr>
          <a:xfrm>
            <a:off x="10835640" y="638244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01 / </a:t>
            </a: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34</a:t>
            </a:r>
            <a:endParaRPr lang="en-US" sz="13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Shape 0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1C44"/>
          </a:solidFill>
          <a:ln w="12700">
            <a:solidFill>
              <a:srgbClr val="001C44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33" name="Shape 1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0000">
              <a:alpha val="2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34" name="Text 2"/>
          <p:cNvSpPr>
            <a:spLocks noGrp="1"/>
          </p:cNvSpPr>
          <p:nvPr/>
        </p:nvSpPr>
        <p:spPr>
          <a:xfrm>
            <a:off x="329040" y="320040"/>
            <a:ext cx="840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FINTECH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35" name="Shape 3"/>
          <p:cNvSpPr>
            <a:spLocks noGrp="1"/>
          </p:cNvSpPr>
          <p:nvPr/>
        </p:nvSpPr>
        <p:spPr>
          <a:xfrm>
            <a:off x="182880" y="89604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36" name="Shape 4"/>
          <p:cNvSpPr>
            <a:spLocks noGrp="1"/>
          </p:cNvSpPr>
          <p:nvPr/>
        </p:nvSpPr>
        <p:spPr>
          <a:xfrm>
            <a:off x="0" y="1097280"/>
            <a:ext cx="1481040" cy="667080"/>
          </a:xfrm>
          <a:prstGeom prst="rect">
            <a:avLst/>
          </a:prstGeom>
          <a:solidFill>
            <a:srgbClr val="001C44"/>
          </a:solidFill>
          <a:ln w="12700">
            <a:solidFill>
              <a:srgbClr val="006C78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37" name="Shape 5"/>
          <p:cNvSpPr>
            <a:spLocks noGrp="1"/>
          </p:cNvSpPr>
          <p:nvPr/>
        </p:nvSpPr>
        <p:spPr>
          <a:xfrm>
            <a:off x="0" y="1097280"/>
            <a:ext cx="50040" cy="667080"/>
          </a:xfrm>
          <a:prstGeom prst="rect">
            <a:avLst/>
          </a:prstGeom>
          <a:solidFill>
            <a:srgbClr val="001C44"/>
          </a:solidFill>
          <a:ln w="12700">
            <a:solidFill>
              <a:srgbClr val="F2A9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38" name="Text 6"/>
          <p:cNvSpPr>
            <a:spLocks noGrp="1"/>
          </p:cNvSpPr>
          <p:nvPr/>
        </p:nvSpPr>
        <p:spPr>
          <a:xfrm>
            <a:off x="164520" y="12528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01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39" name="Text 7"/>
          <p:cNvSpPr>
            <a:spLocks noGrp="1"/>
          </p:cNvSpPr>
          <p:nvPr/>
        </p:nvSpPr>
        <p:spPr>
          <a:xfrm>
            <a:off x="493920" y="11613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Login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0" name="Text 8"/>
          <p:cNvSpPr>
            <a:spLocks noGrp="1"/>
          </p:cNvSpPr>
          <p:nvPr/>
        </p:nvSpPr>
        <p:spPr>
          <a:xfrm>
            <a:off x="164520" y="19476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02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" name="Text 9"/>
          <p:cNvSpPr>
            <a:spLocks noGrp="1"/>
          </p:cNvSpPr>
          <p:nvPr/>
        </p:nvSpPr>
        <p:spPr>
          <a:xfrm>
            <a:off x="493920" y="18561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Market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" name="Text 10"/>
          <p:cNvSpPr>
            <a:spLocks noGrp="1"/>
          </p:cNvSpPr>
          <p:nvPr/>
        </p:nvSpPr>
        <p:spPr>
          <a:xfrm>
            <a:off x="164520" y="26427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03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3" name="Text 11"/>
          <p:cNvSpPr>
            <a:spLocks noGrp="1"/>
          </p:cNvSpPr>
          <p:nvPr/>
        </p:nvSpPr>
        <p:spPr>
          <a:xfrm>
            <a:off x="493920" y="25513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Portfolio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4" name="Text 12"/>
          <p:cNvSpPr>
            <a:spLocks noGrp="1"/>
          </p:cNvSpPr>
          <p:nvPr/>
        </p:nvSpPr>
        <p:spPr>
          <a:xfrm>
            <a:off x="164520" y="33375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04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5" name="Text 13"/>
          <p:cNvSpPr>
            <a:spLocks noGrp="1"/>
          </p:cNvSpPr>
          <p:nvPr/>
        </p:nvSpPr>
        <p:spPr>
          <a:xfrm>
            <a:off x="493920" y="32461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Admin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6" name="Shape 20"/>
          <p:cNvSpPr>
            <a:spLocks noGrp="1"/>
          </p:cNvSpPr>
          <p:nvPr/>
        </p:nvSpPr>
        <p:spPr>
          <a:xfrm>
            <a:off x="182880" y="634572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47" name="Text 21"/>
          <p:cNvSpPr>
            <a:spLocks noGrp="1"/>
          </p:cNvSpPr>
          <p:nvPr/>
        </p:nvSpPr>
        <p:spPr>
          <a:xfrm>
            <a:off x="1847160" y="311040"/>
            <a:ext cx="10039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M2 Acceptance Walkthrough Structure</a:t>
            </a:r>
            <a:endParaRPr sz="27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9" name="Shape 23"/>
          <p:cNvSpPr>
            <a:spLocks noGrp="1"/>
          </p:cNvSpPr>
          <p:nvPr/>
        </p:nvSpPr>
        <p:spPr>
          <a:xfrm>
            <a:off x="1847160" y="850375"/>
            <a:ext cx="502560" cy="31680"/>
          </a:xfrm>
          <a:prstGeom prst="rect">
            <a:avLst/>
          </a:prstGeom>
          <a:solidFill>
            <a:srgbClr val="006C78"/>
          </a:solidFill>
          <a:ln w="10160">
            <a:solidFill>
              <a:srgbClr val="006C78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2960" rIns="90000" bIns="-12960" anchor="t">
            <a:noAutofit/>
          </a:bodyPr>
          <a:lstStyle/>
          <a:p/>
        </p:txBody>
      </p:sp>
      <p:sp>
        <p:nvSpPr>
          <p:cNvPr id="50" name="Shape 24"/>
          <p:cNvSpPr>
            <a:spLocks noGrp="1"/>
          </p:cNvSpPr>
          <p:nvPr/>
        </p:nvSpPr>
        <p:spPr>
          <a:xfrm>
            <a:off x="1846800" y="877735"/>
            <a:ext cx="10022040" cy="360"/>
          </a:xfrm>
          <a:prstGeom prst="line">
            <a:avLst/>
          </a:prstGeom>
          <a:ln w="1016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51" name="Shape 25"/>
          <p:cNvSpPr>
            <a:spLocks noGrp="1"/>
          </p:cNvSpPr>
          <p:nvPr/>
        </p:nvSpPr>
        <p:spPr>
          <a:xfrm>
            <a:off x="1846800" y="6410160"/>
            <a:ext cx="10022040" cy="360"/>
          </a:xfrm>
          <a:prstGeom prst="line">
            <a:avLst/>
          </a:prstGeom>
          <a:ln w="889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52" name="Text 26"/>
          <p:cNvSpPr>
            <a:spLocks noGrp="1"/>
          </p:cNvSpPr>
          <p:nvPr/>
        </p:nvSpPr>
        <p:spPr>
          <a:xfrm>
            <a:off x="1847160" y="6473880"/>
            <a:ext cx="48459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8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 Fintech · M2 Functional Acceptance · Confidential</a:t>
            </a:r>
            <a:endParaRPr sz="8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53" name="Text 27"/>
          <p:cNvSpPr>
            <a:spLocks noGrp="1"/>
          </p:cNvSpPr>
          <p:nvPr/>
        </p:nvSpPr>
        <p:spPr>
          <a:xfrm>
            <a:off x="10991160" y="6446520"/>
            <a:ext cx="8956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02 / </a:t>
            </a: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34</a:t>
            </a:r>
            <a:endParaRPr lang="en-US" sz="13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pic>
        <p:nvPicPr>
          <p:cNvPr id="6" name="图片 5" descr="b774d0ced7360f88bd94e294a87b00babf8e9955616443ba0578df6e2ab2083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125" y="1005840"/>
            <a:ext cx="10676255" cy="52800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3" name="Shape 0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1C44"/>
          </a:solidFill>
          <a:ln w="12700">
            <a:solidFill>
              <a:srgbClr val="001C44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4" name="Shape 1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0000">
              <a:alpha val="2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5" name="Text 2"/>
          <p:cNvSpPr>
            <a:spLocks noGrp="1"/>
          </p:cNvSpPr>
          <p:nvPr/>
        </p:nvSpPr>
        <p:spPr>
          <a:xfrm>
            <a:off x="329040" y="320040"/>
            <a:ext cx="840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FINTECH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26" name="Shape 3"/>
          <p:cNvSpPr>
            <a:spLocks noGrp="1"/>
          </p:cNvSpPr>
          <p:nvPr/>
        </p:nvSpPr>
        <p:spPr>
          <a:xfrm>
            <a:off x="182880" y="89604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27" name="Shape 4"/>
          <p:cNvSpPr>
            <a:spLocks noGrp="1"/>
          </p:cNvSpPr>
          <p:nvPr/>
        </p:nvSpPr>
        <p:spPr>
          <a:xfrm>
            <a:off x="0" y="1097280"/>
            <a:ext cx="1481040" cy="667080"/>
          </a:xfrm>
          <a:prstGeom prst="rect">
            <a:avLst/>
          </a:prstGeom>
          <a:solidFill>
            <a:srgbClr val="006C78">
              <a:alpha val="95000"/>
            </a:srgbClr>
          </a:solidFill>
          <a:ln w="12700">
            <a:solidFill>
              <a:srgbClr val="006C78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8" name="Shape 5"/>
          <p:cNvSpPr>
            <a:spLocks noGrp="1"/>
          </p:cNvSpPr>
          <p:nvPr/>
        </p:nvSpPr>
        <p:spPr>
          <a:xfrm>
            <a:off x="0" y="1097280"/>
            <a:ext cx="50040" cy="667080"/>
          </a:xfrm>
          <a:prstGeom prst="rect">
            <a:avLst/>
          </a:prstGeom>
          <a:solidFill>
            <a:srgbClr val="F2A900"/>
          </a:solidFill>
          <a:ln w="12700">
            <a:solidFill>
              <a:srgbClr val="F2A9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9" name="Text 6"/>
          <p:cNvSpPr>
            <a:spLocks noGrp="1"/>
          </p:cNvSpPr>
          <p:nvPr/>
        </p:nvSpPr>
        <p:spPr>
          <a:xfrm>
            <a:off x="164520" y="12528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01</a:t>
            </a:r>
            <a:endParaRPr sz="1050" b="0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0" name="Text 7"/>
          <p:cNvSpPr>
            <a:spLocks noGrp="1"/>
          </p:cNvSpPr>
          <p:nvPr/>
        </p:nvSpPr>
        <p:spPr>
          <a:xfrm>
            <a:off x="493920" y="11613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Login</a:t>
            </a:r>
            <a:endParaRPr sz="1010" b="0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1" name="Text 8"/>
          <p:cNvSpPr>
            <a:spLocks noGrp="1"/>
          </p:cNvSpPr>
          <p:nvPr/>
        </p:nvSpPr>
        <p:spPr>
          <a:xfrm>
            <a:off x="164520" y="19476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02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2" name="Text 9"/>
          <p:cNvSpPr>
            <a:spLocks noGrp="1"/>
          </p:cNvSpPr>
          <p:nvPr/>
        </p:nvSpPr>
        <p:spPr>
          <a:xfrm>
            <a:off x="493920" y="18561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Market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3" name="Text 10"/>
          <p:cNvSpPr>
            <a:spLocks noGrp="1"/>
          </p:cNvSpPr>
          <p:nvPr/>
        </p:nvSpPr>
        <p:spPr>
          <a:xfrm>
            <a:off x="164520" y="26427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03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4" name="Text 11"/>
          <p:cNvSpPr>
            <a:spLocks noGrp="1"/>
          </p:cNvSpPr>
          <p:nvPr/>
        </p:nvSpPr>
        <p:spPr>
          <a:xfrm>
            <a:off x="493920" y="25513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Portfolio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5" name="Text 12"/>
          <p:cNvSpPr>
            <a:spLocks noGrp="1"/>
          </p:cNvSpPr>
          <p:nvPr/>
        </p:nvSpPr>
        <p:spPr>
          <a:xfrm>
            <a:off x="164520" y="33375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04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6" name="Text 13"/>
          <p:cNvSpPr>
            <a:spLocks noGrp="1"/>
          </p:cNvSpPr>
          <p:nvPr/>
        </p:nvSpPr>
        <p:spPr>
          <a:xfrm>
            <a:off x="493920" y="32461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Admin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7" name="Shape 20"/>
          <p:cNvSpPr>
            <a:spLocks noGrp="1"/>
          </p:cNvSpPr>
          <p:nvPr/>
        </p:nvSpPr>
        <p:spPr>
          <a:xfrm>
            <a:off x="182880" y="634572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38" name="Text 21"/>
          <p:cNvSpPr>
            <a:spLocks noGrp="1"/>
          </p:cNvSpPr>
          <p:nvPr/>
        </p:nvSpPr>
        <p:spPr>
          <a:xfrm>
            <a:off x="1847160" y="311040"/>
            <a:ext cx="10039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01  Login / Register</a:t>
            </a:r>
            <a:endParaRPr sz="27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9" name="Text 22"/>
          <p:cNvSpPr>
            <a:spLocks noGrp="1"/>
          </p:cNvSpPr>
          <p:nvPr/>
        </p:nvSpPr>
        <p:spPr>
          <a:xfrm>
            <a:off x="1847160" y="841320"/>
            <a:ext cx="10039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4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Two accepted authentication paths converge on the same Markets landing</a:t>
            </a:r>
            <a:endParaRPr sz="14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40" name="Shape 23"/>
          <p:cNvSpPr>
            <a:spLocks noGrp="1"/>
          </p:cNvSpPr>
          <p:nvPr/>
        </p:nvSpPr>
        <p:spPr>
          <a:xfrm>
            <a:off x="1847160" y="1152000"/>
            <a:ext cx="502560" cy="31680"/>
          </a:xfrm>
          <a:prstGeom prst="rect">
            <a:avLst/>
          </a:prstGeom>
          <a:solidFill>
            <a:srgbClr val="006C78"/>
          </a:solidFill>
          <a:ln w="10160">
            <a:solidFill>
              <a:srgbClr val="006C78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2960" rIns="90000" bIns="-12960" anchor="t">
            <a:noAutofit/>
          </a:bodyPr>
          <a:lstStyle/>
          <a:p/>
        </p:txBody>
      </p:sp>
      <p:sp>
        <p:nvSpPr>
          <p:cNvPr id="141" name="Shape 24"/>
          <p:cNvSpPr>
            <a:spLocks noGrp="1"/>
          </p:cNvSpPr>
          <p:nvPr/>
        </p:nvSpPr>
        <p:spPr>
          <a:xfrm>
            <a:off x="1846800" y="1179360"/>
            <a:ext cx="10022040" cy="360"/>
          </a:xfrm>
          <a:prstGeom prst="line">
            <a:avLst/>
          </a:prstGeom>
          <a:ln w="1016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42" name="Shape 25"/>
          <p:cNvSpPr>
            <a:spLocks noGrp="1"/>
          </p:cNvSpPr>
          <p:nvPr/>
        </p:nvSpPr>
        <p:spPr>
          <a:xfrm>
            <a:off x="1846800" y="6373080"/>
            <a:ext cx="10022040" cy="360"/>
          </a:xfrm>
          <a:prstGeom prst="line">
            <a:avLst/>
          </a:prstGeom>
          <a:ln w="889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43" name="Text 26"/>
          <p:cNvSpPr>
            <a:spLocks noGrp="1"/>
          </p:cNvSpPr>
          <p:nvPr/>
        </p:nvSpPr>
        <p:spPr>
          <a:xfrm>
            <a:off x="1847160" y="6473880"/>
            <a:ext cx="48459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8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 Fintech · M2 Functional Acceptance · Confidential</a:t>
            </a:r>
            <a:endParaRPr sz="8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44" name="Text 27"/>
          <p:cNvSpPr>
            <a:spLocks noGrp="1"/>
          </p:cNvSpPr>
          <p:nvPr/>
        </p:nvSpPr>
        <p:spPr>
          <a:xfrm>
            <a:off x="10991160" y="6446520"/>
            <a:ext cx="8956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</a:t>
            </a: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3</a:t>
            </a:r>
            <a:r>
              <a:rPr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 / </a:t>
            </a: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34</a:t>
            </a:r>
            <a:endParaRPr lang="en-US" sz="13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pic>
        <p:nvPicPr>
          <p:cNvPr id="2" name="图片 1" descr="b41216caccb70c0f889b37d9be087f578950403820934dad1615cd8364f212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40275" y="1207135"/>
            <a:ext cx="6887845" cy="514286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670" y="1356995"/>
            <a:ext cx="2392680" cy="48444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3" name="Shape 0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1C44"/>
          </a:solidFill>
          <a:ln w="12700">
            <a:solidFill>
              <a:srgbClr val="001C44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4" name="Shape 1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0000">
              <a:alpha val="2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5" name="Text 2"/>
          <p:cNvSpPr>
            <a:spLocks noGrp="1"/>
          </p:cNvSpPr>
          <p:nvPr/>
        </p:nvSpPr>
        <p:spPr>
          <a:xfrm>
            <a:off x="329040" y="320040"/>
            <a:ext cx="840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FINTECH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26" name="Shape 3"/>
          <p:cNvSpPr>
            <a:spLocks noGrp="1"/>
          </p:cNvSpPr>
          <p:nvPr/>
        </p:nvSpPr>
        <p:spPr>
          <a:xfrm>
            <a:off x="182880" y="89604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27" name="Shape 4"/>
          <p:cNvSpPr>
            <a:spLocks noGrp="1"/>
          </p:cNvSpPr>
          <p:nvPr/>
        </p:nvSpPr>
        <p:spPr>
          <a:xfrm>
            <a:off x="0" y="1097280"/>
            <a:ext cx="1481040" cy="667080"/>
          </a:xfrm>
          <a:prstGeom prst="rect">
            <a:avLst/>
          </a:prstGeom>
          <a:solidFill>
            <a:srgbClr val="006C78">
              <a:alpha val="95000"/>
            </a:srgbClr>
          </a:solidFill>
          <a:ln w="12700">
            <a:solidFill>
              <a:srgbClr val="006C78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8" name="Shape 5"/>
          <p:cNvSpPr>
            <a:spLocks noGrp="1"/>
          </p:cNvSpPr>
          <p:nvPr/>
        </p:nvSpPr>
        <p:spPr>
          <a:xfrm>
            <a:off x="0" y="1097280"/>
            <a:ext cx="50040" cy="667080"/>
          </a:xfrm>
          <a:prstGeom prst="rect">
            <a:avLst/>
          </a:prstGeom>
          <a:solidFill>
            <a:srgbClr val="F2A900"/>
          </a:solidFill>
          <a:ln w="12700">
            <a:solidFill>
              <a:srgbClr val="F2A9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9" name="Text 6"/>
          <p:cNvSpPr>
            <a:spLocks noGrp="1"/>
          </p:cNvSpPr>
          <p:nvPr/>
        </p:nvSpPr>
        <p:spPr>
          <a:xfrm>
            <a:off x="164520" y="12528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fontScale="9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01</a:t>
            </a:r>
            <a:endParaRPr sz="1050" b="0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0" name="Text 7"/>
          <p:cNvSpPr>
            <a:spLocks noGrp="1"/>
          </p:cNvSpPr>
          <p:nvPr/>
        </p:nvSpPr>
        <p:spPr>
          <a:xfrm>
            <a:off x="493920" y="11613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Login</a:t>
            </a:r>
            <a:endParaRPr sz="1010" b="0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1" name="Text 8"/>
          <p:cNvSpPr>
            <a:spLocks noGrp="1"/>
          </p:cNvSpPr>
          <p:nvPr/>
        </p:nvSpPr>
        <p:spPr>
          <a:xfrm>
            <a:off x="164520" y="19476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fontScale="9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02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2" name="Text 9"/>
          <p:cNvSpPr>
            <a:spLocks noGrp="1"/>
          </p:cNvSpPr>
          <p:nvPr/>
        </p:nvSpPr>
        <p:spPr>
          <a:xfrm>
            <a:off x="493920" y="18561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Market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3" name="Text 10"/>
          <p:cNvSpPr>
            <a:spLocks noGrp="1"/>
          </p:cNvSpPr>
          <p:nvPr/>
        </p:nvSpPr>
        <p:spPr>
          <a:xfrm>
            <a:off x="164520" y="26427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fontScale="9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03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4" name="Text 11"/>
          <p:cNvSpPr>
            <a:spLocks noGrp="1"/>
          </p:cNvSpPr>
          <p:nvPr/>
        </p:nvSpPr>
        <p:spPr>
          <a:xfrm>
            <a:off x="493920" y="25513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Portfolio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5" name="Text 12"/>
          <p:cNvSpPr>
            <a:spLocks noGrp="1"/>
          </p:cNvSpPr>
          <p:nvPr/>
        </p:nvSpPr>
        <p:spPr>
          <a:xfrm>
            <a:off x="164520" y="33375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fontScale="9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04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6" name="Text 13"/>
          <p:cNvSpPr>
            <a:spLocks noGrp="1"/>
          </p:cNvSpPr>
          <p:nvPr/>
        </p:nvSpPr>
        <p:spPr>
          <a:xfrm>
            <a:off x="493920" y="32461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Admin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7" name="Shape 20"/>
          <p:cNvSpPr>
            <a:spLocks noGrp="1"/>
          </p:cNvSpPr>
          <p:nvPr/>
        </p:nvSpPr>
        <p:spPr>
          <a:xfrm>
            <a:off x="182880" y="634572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38" name="Text 21"/>
          <p:cNvSpPr>
            <a:spLocks noGrp="1"/>
          </p:cNvSpPr>
          <p:nvPr/>
        </p:nvSpPr>
        <p:spPr>
          <a:xfrm>
            <a:off x="1847160" y="311040"/>
            <a:ext cx="10039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01  </a:t>
            </a:r>
            <a:r>
              <a:rPr lang="en-US" altLang="zh-CN"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User Story 1 — Start from Login and prepare registration</a:t>
            </a:r>
            <a:endParaRPr lang="en-US" altLang="zh-CN" sz="27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9" name="Text 22"/>
          <p:cNvSpPr>
            <a:spLocks noGrp="1"/>
          </p:cNvSpPr>
          <p:nvPr/>
        </p:nvSpPr>
        <p:spPr>
          <a:xfrm>
            <a:off x="1847160" y="841320"/>
            <a:ext cx="10039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zh-CN" sz="14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The first page proves authentication scope, form gates and the hand-off into registration.</a:t>
            </a:r>
            <a:endParaRPr lang="en-US" altLang="zh-CN" sz="14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40" name="Shape 23"/>
          <p:cNvSpPr>
            <a:spLocks noGrp="1"/>
          </p:cNvSpPr>
          <p:nvPr/>
        </p:nvSpPr>
        <p:spPr>
          <a:xfrm>
            <a:off x="1847160" y="1152000"/>
            <a:ext cx="502560" cy="31680"/>
          </a:xfrm>
          <a:prstGeom prst="rect">
            <a:avLst/>
          </a:prstGeom>
          <a:solidFill>
            <a:srgbClr val="006C78"/>
          </a:solidFill>
          <a:ln w="10160">
            <a:solidFill>
              <a:srgbClr val="006C78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2960" rIns="90000" bIns="-12960" anchor="t">
            <a:noAutofit/>
          </a:bodyPr>
          <a:lstStyle/>
          <a:p/>
        </p:txBody>
      </p:sp>
      <p:sp>
        <p:nvSpPr>
          <p:cNvPr id="141" name="Shape 24"/>
          <p:cNvSpPr>
            <a:spLocks noGrp="1"/>
          </p:cNvSpPr>
          <p:nvPr/>
        </p:nvSpPr>
        <p:spPr>
          <a:xfrm>
            <a:off x="1846800" y="1179360"/>
            <a:ext cx="10022040" cy="360"/>
          </a:xfrm>
          <a:prstGeom prst="line">
            <a:avLst/>
          </a:prstGeom>
          <a:ln w="1016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42" name="Shape 25"/>
          <p:cNvSpPr>
            <a:spLocks noGrp="1"/>
          </p:cNvSpPr>
          <p:nvPr/>
        </p:nvSpPr>
        <p:spPr>
          <a:xfrm>
            <a:off x="1846800" y="6373080"/>
            <a:ext cx="10022040" cy="360"/>
          </a:xfrm>
          <a:prstGeom prst="line">
            <a:avLst/>
          </a:prstGeom>
          <a:ln w="889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43" name="Text 26"/>
          <p:cNvSpPr>
            <a:spLocks noGrp="1"/>
          </p:cNvSpPr>
          <p:nvPr/>
        </p:nvSpPr>
        <p:spPr>
          <a:xfrm>
            <a:off x="1847160" y="6473880"/>
            <a:ext cx="48459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8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 Fintech · M2 Functional Acceptance · Confidential</a:t>
            </a:r>
            <a:endParaRPr sz="8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44" name="Text 27"/>
          <p:cNvSpPr>
            <a:spLocks noGrp="1"/>
          </p:cNvSpPr>
          <p:nvPr/>
        </p:nvSpPr>
        <p:spPr>
          <a:xfrm>
            <a:off x="10991160" y="6446520"/>
            <a:ext cx="8956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</a:t>
            </a: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4</a:t>
            </a:r>
            <a:r>
              <a:rPr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 / </a:t>
            </a: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34</a:t>
            </a:r>
            <a:endParaRPr lang="en-US" sz="13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6" name="Rounded Rectangle 30"/>
          <p:cNvSpPr>
            <a:spLocks noGrp="1"/>
          </p:cNvSpPr>
          <p:nvPr/>
        </p:nvSpPr>
        <p:spPr>
          <a:xfrm>
            <a:off x="4658360" y="3975735"/>
            <a:ext cx="6953885" cy="1843405"/>
          </a:xfrm>
          <a:prstGeom prst="roundRect">
            <a:avLst>
              <a:gd name="adj" fmla="val 9499"/>
            </a:avLst>
          </a:prstGeom>
          <a:solidFill>
            <a:srgbClr val="FFFFFF"/>
          </a:solidFill>
          <a:ln>
            <a:solidFill>
              <a:srgbClr val="DA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/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3885" y="1357630"/>
            <a:ext cx="2392680" cy="4844415"/>
          </a:xfrm>
          <a:prstGeom prst="rect">
            <a:avLst/>
          </a:prstGeom>
        </p:spPr>
      </p:pic>
      <p:sp>
        <p:nvSpPr>
          <p:cNvPr id="108" name="Rounded Rectangle 30"/>
          <p:cNvSpPr>
            <a:spLocks noGrp="1"/>
          </p:cNvSpPr>
          <p:nvPr/>
        </p:nvSpPr>
        <p:spPr>
          <a:xfrm>
            <a:off x="2176145" y="1664335"/>
            <a:ext cx="6953885" cy="1965325"/>
          </a:xfrm>
          <a:prstGeom prst="roundRect">
            <a:avLst>
              <a:gd name="adj" fmla="val 9499"/>
            </a:avLst>
          </a:prstGeom>
          <a:solidFill>
            <a:srgbClr val="FFFFFF"/>
          </a:solidFill>
          <a:ln>
            <a:solidFill>
              <a:srgbClr val="DA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/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140" y="1332230"/>
            <a:ext cx="2416175" cy="489267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370070" y="1750060"/>
            <a:ext cx="46221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000"/>
              <a:t>Open the app on Login. Show account/email and password fields, toggle password visibility, demonstrate the required-field gate, explain the excluded SSO entries, then submit an existing account and show the in-progress state.</a:t>
            </a:r>
            <a:endParaRPr lang="en-US" altLang="zh-CN" sz="1000"/>
          </a:p>
        </p:txBody>
      </p:sp>
      <p:sp>
        <p:nvSpPr>
          <p:cNvPr id="75" name="TextBox 31"/>
          <p:cNvSpPr>
            <a:spLocks noGrp="1"/>
          </p:cNvSpPr>
          <p:nvPr/>
        </p:nvSpPr>
        <p:spPr>
          <a:xfrm>
            <a:off x="4370070" y="1398905"/>
            <a:ext cx="74422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F4B800"/>
                </a:solidFill>
                <a:latin typeface="Calibri"/>
                <a:ea typeface="Calibri"/>
                <a:cs typeface="Calibri"/>
              </a:rPr>
              <a:t>01</a:t>
            </a:r>
            <a:endParaRPr sz="2000" b="1" u="none">
              <a:solidFill>
                <a:srgbClr val="F4B8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Box 31"/>
          <p:cNvSpPr>
            <a:spLocks noGrp="1"/>
          </p:cNvSpPr>
          <p:nvPr/>
        </p:nvSpPr>
        <p:spPr>
          <a:xfrm>
            <a:off x="8589645" y="3695065"/>
            <a:ext cx="74422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2000" b="1" u="none">
                <a:solidFill>
                  <a:srgbClr val="F4B800"/>
                </a:solidFill>
                <a:latin typeface="Calibri"/>
                <a:ea typeface="Calibri"/>
                <a:cs typeface="Calibri"/>
              </a:rPr>
              <a:t>0</a:t>
            </a:r>
            <a:r>
              <a:rPr lang="en-US" sz="2000" b="1" u="none">
                <a:solidFill>
                  <a:srgbClr val="F4B800"/>
                </a:solidFill>
                <a:latin typeface="Calibri"/>
                <a:ea typeface="Calibri"/>
                <a:cs typeface="Calibri"/>
              </a:rPr>
              <a:t>2</a:t>
            </a:r>
            <a:endParaRPr lang="en-US" sz="2000" b="1" u="none">
              <a:solidFill>
                <a:srgbClr val="F4B8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835525" y="4061460"/>
            <a:ext cx="46221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000"/>
              <a:t>Tap Register New Account. Enter display name, redacted test email and password; show the disabled state below eight characters, then submit a valid form.</a:t>
            </a:r>
            <a:endParaRPr lang="en-US" altLang="zh-CN" sz="1000"/>
          </a:p>
        </p:txBody>
      </p:sp>
      <p:sp>
        <p:nvSpPr>
          <p:cNvPr id="12" name="Rounded Rectangle 30"/>
          <p:cNvSpPr>
            <a:spLocks noGrp="1"/>
          </p:cNvSpPr>
          <p:nvPr/>
        </p:nvSpPr>
        <p:spPr>
          <a:xfrm>
            <a:off x="4438650" y="2398395"/>
            <a:ext cx="4553585" cy="1080770"/>
          </a:xfrm>
          <a:prstGeom prst="roundRect">
            <a:avLst>
              <a:gd name="adj" fmla="val 6976"/>
            </a:avLst>
          </a:prstGeom>
          <a:solidFill>
            <a:srgbClr val="F5F7FD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/>
        </p:txBody>
      </p:sp>
      <p:sp>
        <p:nvSpPr>
          <p:cNvPr id="11" name="文本框 10"/>
          <p:cNvSpPr txBox="1"/>
          <p:nvPr/>
        </p:nvSpPr>
        <p:spPr>
          <a:xfrm>
            <a:off x="4483100" y="2439670"/>
            <a:ext cx="4500245" cy="9944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900" b="1">
                <a:solidFill>
                  <a:schemeClr val="tx1"/>
                </a:solidFill>
                <a:latin typeface="Georgia" panose="02040502050405090303" charset="0"/>
                <a:cs typeface="Georgia" panose="02040502050405090303" charset="0"/>
              </a:rPr>
              <a:t>AC Mapping:</a:t>
            </a:r>
            <a:endParaRPr lang="en-US" altLang="zh-CN" sz="900">
              <a:solidFill>
                <a:schemeClr val="tx1"/>
              </a:solidFill>
            </a:endParaRPr>
          </a:p>
          <a:p>
            <a:pPr marL="171450" indent="-1714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800">
                <a:solidFill>
                  <a:schemeClr val="tx1"/>
                </a:solidFill>
                <a:latin typeface="Georgia" panose="02040502050405090303" charset="0"/>
                <a:cs typeface="Georgia" panose="02040502050405090303" charset="0"/>
              </a:rPr>
              <a:t>Login is first and requires account/email plus a hidden password.</a:t>
            </a:r>
            <a:endParaRPr lang="en-US" altLang="zh-CN" sz="800">
              <a:solidFill>
                <a:schemeClr val="tx1"/>
              </a:solidFill>
              <a:latin typeface="Georgia" panose="02040502050405090303" charset="0"/>
              <a:cs typeface="Georgia" panose="02040502050405090303" charset="0"/>
            </a:endParaRPr>
          </a:p>
          <a:p>
            <a:pPr marL="171450" indent="-1714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800">
                <a:solidFill>
                  <a:schemeClr val="tx1"/>
                </a:solidFill>
                <a:latin typeface="Georgia" panose="02040502050405090303" charset="0"/>
                <a:cs typeface="Georgia" panose="02040502050405090303" charset="0"/>
              </a:rPr>
              <a:t>Password visibility and the Sign In gate preserve entered data.</a:t>
            </a:r>
            <a:endParaRPr lang="en-US" altLang="zh-CN" sz="800">
              <a:solidFill>
                <a:schemeClr val="tx1"/>
              </a:solidFill>
              <a:latin typeface="Georgia" panose="02040502050405090303" charset="0"/>
              <a:cs typeface="Georgia" panose="02040502050405090303" charset="0"/>
            </a:endParaRPr>
          </a:p>
          <a:p>
            <a:pPr marL="171450" indent="-1714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800">
                <a:solidFill>
                  <a:schemeClr val="tx1"/>
                </a:solidFill>
                <a:latin typeface="Georgia" panose="02040502050405090303" charset="0"/>
                <a:cs typeface="Georgia" panose="02040502050405090303" charset="0"/>
              </a:rPr>
              <a:t>Displayed SSO options remain outside the accepted path.</a:t>
            </a:r>
            <a:endParaRPr lang="en-US" altLang="zh-CN" sz="800">
              <a:solidFill>
                <a:schemeClr val="tx1"/>
              </a:solidFill>
              <a:latin typeface="Georgia" panose="02040502050405090303" charset="0"/>
              <a:cs typeface="Georgia" panose="02040502050405090303" charset="0"/>
            </a:endParaRPr>
          </a:p>
          <a:p>
            <a:pPr marL="171450" indent="-1714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800">
                <a:solidFill>
                  <a:schemeClr val="tx1"/>
                </a:solidFill>
                <a:latin typeface="Georgia" panose="02040502050405090303" charset="0"/>
                <a:cs typeface="Georgia" panose="02040502050405090303" charset="0"/>
              </a:rPr>
              <a:t>Existing credentials submit once with an in-progress state.</a:t>
            </a:r>
            <a:endParaRPr lang="en-US" altLang="zh-CN" sz="800">
              <a:solidFill>
                <a:schemeClr val="tx1"/>
              </a:solidFill>
              <a:latin typeface="Georgia" panose="02040502050405090303" charset="0"/>
              <a:cs typeface="Georgia" panose="02040502050405090303" charset="0"/>
            </a:endParaRPr>
          </a:p>
          <a:p>
            <a:pPr marL="171450" indent="-1714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800">
                <a:solidFill>
                  <a:schemeClr val="tx1"/>
                </a:solidFill>
                <a:latin typeface="Georgia" panose="02040502050405090303" charset="0"/>
                <a:cs typeface="Georgia" panose="02040502050405090303" charset="0"/>
              </a:rPr>
              <a:t>Evidence exposes no reusable secrets or personal data.</a:t>
            </a:r>
            <a:endParaRPr lang="en-US" altLang="zh-CN" sz="800">
              <a:solidFill>
                <a:schemeClr val="tx1"/>
              </a:solidFill>
              <a:latin typeface="Georgia" panose="02040502050405090303" charset="0"/>
              <a:cs typeface="Georgia" panose="02040502050405090303" charset="0"/>
            </a:endParaRPr>
          </a:p>
        </p:txBody>
      </p:sp>
      <p:sp>
        <p:nvSpPr>
          <p:cNvPr id="13" name="Rounded Rectangle 30"/>
          <p:cNvSpPr>
            <a:spLocks noGrp="1"/>
          </p:cNvSpPr>
          <p:nvPr/>
        </p:nvSpPr>
        <p:spPr>
          <a:xfrm>
            <a:off x="4791075" y="4820920"/>
            <a:ext cx="4553585" cy="863600"/>
          </a:xfrm>
          <a:prstGeom prst="roundRect">
            <a:avLst>
              <a:gd name="adj" fmla="val 6976"/>
            </a:avLst>
          </a:prstGeom>
          <a:solidFill>
            <a:srgbClr val="F5F7FD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/>
        </p:txBody>
      </p:sp>
      <p:sp>
        <p:nvSpPr>
          <p:cNvPr id="14" name="文本框 13"/>
          <p:cNvSpPr txBox="1"/>
          <p:nvPr/>
        </p:nvSpPr>
        <p:spPr>
          <a:xfrm>
            <a:off x="4835525" y="4872990"/>
            <a:ext cx="4500245" cy="7556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900" b="1">
                <a:solidFill>
                  <a:schemeClr val="tx1"/>
                </a:solidFill>
                <a:latin typeface="Georgia" panose="02040502050405090303" charset="0"/>
                <a:cs typeface="Georgia" panose="02040502050405090303" charset="0"/>
              </a:rPr>
              <a:t>AC Mapping:</a:t>
            </a:r>
            <a:endParaRPr lang="en-US" altLang="zh-CN" sz="900">
              <a:solidFill>
                <a:schemeClr val="tx1"/>
              </a:solidFill>
            </a:endParaRPr>
          </a:p>
          <a:p>
            <a:pPr marL="171450" indent="-1714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900">
                <a:solidFill>
                  <a:schemeClr val="tx1"/>
                </a:solidFill>
              </a:rPr>
              <a:t>Click Register New Account to open Create Account and provide the display…</a:t>
            </a:r>
            <a:endParaRPr lang="en-US" altLang="zh-CN" sz="900">
              <a:solidFill>
                <a:schemeClr val="tx1"/>
              </a:solidFill>
            </a:endParaRPr>
          </a:p>
          <a:p>
            <a:pPr marL="171450" indent="-1714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900">
                <a:solidFill>
                  <a:schemeClr val="tx1"/>
                </a:solidFill>
              </a:rPr>
              <a:t>Create Account is not available when the registration form is missing any…</a:t>
            </a:r>
            <a:endParaRPr lang="en-US" altLang="zh-CN" sz="900">
              <a:solidFill>
                <a:schemeClr val="tx1"/>
              </a:solidFill>
            </a:endParaRPr>
          </a:p>
          <a:p>
            <a:pPr marL="171450" indent="-1714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900">
                <a:solidFill>
                  <a:schemeClr val="tx1"/>
                </a:solidFill>
              </a:rPr>
              <a:t>Submitting a valid registration form creates one pending registration…</a:t>
            </a:r>
            <a:endParaRPr lang="en-US" altLang="zh-CN" sz="9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3" name="Shape 0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1C44"/>
          </a:solidFill>
          <a:ln w="12700">
            <a:solidFill>
              <a:srgbClr val="001C44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4" name="Shape 1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0000">
              <a:alpha val="2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5" name="Text 2"/>
          <p:cNvSpPr>
            <a:spLocks noGrp="1"/>
          </p:cNvSpPr>
          <p:nvPr/>
        </p:nvSpPr>
        <p:spPr>
          <a:xfrm>
            <a:off x="329040" y="320040"/>
            <a:ext cx="840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FINTECH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26" name="Shape 3"/>
          <p:cNvSpPr>
            <a:spLocks noGrp="1"/>
          </p:cNvSpPr>
          <p:nvPr/>
        </p:nvSpPr>
        <p:spPr>
          <a:xfrm>
            <a:off x="182880" y="89604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27" name="Shape 4"/>
          <p:cNvSpPr>
            <a:spLocks noGrp="1"/>
          </p:cNvSpPr>
          <p:nvPr/>
        </p:nvSpPr>
        <p:spPr>
          <a:xfrm>
            <a:off x="0" y="1097280"/>
            <a:ext cx="1481040" cy="667080"/>
          </a:xfrm>
          <a:prstGeom prst="rect">
            <a:avLst/>
          </a:prstGeom>
          <a:solidFill>
            <a:srgbClr val="006C78">
              <a:alpha val="95000"/>
            </a:srgbClr>
          </a:solidFill>
          <a:ln w="12700">
            <a:solidFill>
              <a:srgbClr val="006C78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8" name="Shape 5"/>
          <p:cNvSpPr>
            <a:spLocks noGrp="1"/>
          </p:cNvSpPr>
          <p:nvPr/>
        </p:nvSpPr>
        <p:spPr>
          <a:xfrm>
            <a:off x="0" y="1097280"/>
            <a:ext cx="50040" cy="667080"/>
          </a:xfrm>
          <a:prstGeom prst="rect">
            <a:avLst/>
          </a:prstGeom>
          <a:solidFill>
            <a:srgbClr val="F2A900"/>
          </a:solidFill>
          <a:ln w="12700">
            <a:solidFill>
              <a:srgbClr val="F2A9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9" name="Text 6"/>
          <p:cNvSpPr>
            <a:spLocks noGrp="1"/>
          </p:cNvSpPr>
          <p:nvPr/>
        </p:nvSpPr>
        <p:spPr>
          <a:xfrm>
            <a:off x="164520" y="12528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fontScale="9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01</a:t>
            </a:r>
            <a:endParaRPr sz="1050" b="0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0" name="Text 7"/>
          <p:cNvSpPr>
            <a:spLocks noGrp="1"/>
          </p:cNvSpPr>
          <p:nvPr/>
        </p:nvSpPr>
        <p:spPr>
          <a:xfrm>
            <a:off x="493920" y="11613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Login</a:t>
            </a:r>
            <a:endParaRPr sz="1010" b="0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1" name="Text 8"/>
          <p:cNvSpPr>
            <a:spLocks noGrp="1"/>
          </p:cNvSpPr>
          <p:nvPr/>
        </p:nvSpPr>
        <p:spPr>
          <a:xfrm>
            <a:off x="164520" y="19476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fontScale="9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02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2" name="Text 9"/>
          <p:cNvSpPr>
            <a:spLocks noGrp="1"/>
          </p:cNvSpPr>
          <p:nvPr/>
        </p:nvSpPr>
        <p:spPr>
          <a:xfrm>
            <a:off x="493920" y="18561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Market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3" name="Text 10"/>
          <p:cNvSpPr>
            <a:spLocks noGrp="1"/>
          </p:cNvSpPr>
          <p:nvPr/>
        </p:nvSpPr>
        <p:spPr>
          <a:xfrm>
            <a:off x="164520" y="26427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fontScale="9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03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4" name="Text 11"/>
          <p:cNvSpPr>
            <a:spLocks noGrp="1"/>
          </p:cNvSpPr>
          <p:nvPr/>
        </p:nvSpPr>
        <p:spPr>
          <a:xfrm>
            <a:off x="493920" y="25513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Portfolio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5" name="Text 12"/>
          <p:cNvSpPr>
            <a:spLocks noGrp="1"/>
          </p:cNvSpPr>
          <p:nvPr/>
        </p:nvSpPr>
        <p:spPr>
          <a:xfrm>
            <a:off x="164520" y="33375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fontScale="9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04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6" name="Text 13"/>
          <p:cNvSpPr>
            <a:spLocks noGrp="1"/>
          </p:cNvSpPr>
          <p:nvPr/>
        </p:nvSpPr>
        <p:spPr>
          <a:xfrm>
            <a:off x="493920" y="32461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Admin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7" name="Shape 20"/>
          <p:cNvSpPr>
            <a:spLocks noGrp="1"/>
          </p:cNvSpPr>
          <p:nvPr/>
        </p:nvSpPr>
        <p:spPr>
          <a:xfrm>
            <a:off x="182880" y="634572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38" name="Text 21"/>
          <p:cNvSpPr>
            <a:spLocks noGrp="1"/>
          </p:cNvSpPr>
          <p:nvPr/>
        </p:nvSpPr>
        <p:spPr>
          <a:xfrm>
            <a:off x="1847160" y="311040"/>
            <a:ext cx="10039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01  </a:t>
            </a:r>
            <a:r>
              <a:rPr lang="en-US" altLang="zh-CN"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User Story 1 — Verify the email and enter Markets</a:t>
            </a:r>
            <a:endParaRPr lang="en-US" altLang="zh-CN" sz="27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9" name="Text 22"/>
          <p:cNvSpPr>
            <a:spLocks noGrp="1"/>
          </p:cNvSpPr>
          <p:nvPr/>
        </p:nvSpPr>
        <p:spPr>
          <a:xfrm>
            <a:off x="1847160" y="841320"/>
            <a:ext cx="10039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zh-CN" sz="14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The second page proves email verification and the shared successful landing.</a:t>
            </a:r>
            <a:endParaRPr lang="en-US" altLang="zh-CN" sz="14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40" name="Shape 23"/>
          <p:cNvSpPr>
            <a:spLocks noGrp="1"/>
          </p:cNvSpPr>
          <p:nvPr/>
        </p:nvSpPr>
        <p:spPr>
          <a:xfrm>
            <a:off x="1847160" y="1152000"/>
            <a:ext cx="502560" cy="31680"/>
          </a:xfrm>
          <a:prstGeom prst="rect">
            <a:avLst/>
          </a:prstGeom>
          <a:solidFill>
            <a:srgbClr val="006C78"/>
          </a:solidFill>
          <a:ln w="10160">
            <a:solidFill>
              <a:srgbClr val="006C78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2960" rIns="90000" bIns="-12960" anchor="t">
            <a:noAutofit/>
          </a:bodyPr>
          <a:lstStyle/>
          <a:p/>
        </p:txBody>
      </p:sp>
      <p:sp>
        <p:nvSpPr>
          <p:cNvPr id="141" name="Shape 24"/>
          <p:cNvSpPr>
            <a:spLocks noGrp="1"/>
          </p:cNvSpPr>
          <p:nvPr/>
        </p:nvSpPr>
        <p:spPr>
          <a:xfrm>
            <a:off x="1846800" y="1179360"/>
            <a:ext cx="10022040" cy="360"/>
          </a:xfrm>
          <a:prstGeom prst="line">
            <a:avLst/>
          </a:prstGeom>
          <a:ln w="1016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42" name="Shape 25"/>
          <p:cNvSpPr>
            <a:spLocks noGrp="1"/>
          </p:cNvSpPr>
          <p:nvPr/>
        </p:nvSpPr>
        <p:spPr>
          <a:xfrm>
            <a:off x="1846800" y="6373080"/>
            <a:ext cx="10022040" cy="360"/>
          </a:xfrm>
          <a:prstGeom prst="line">
            <a:avLst/>
          </a:prstGeom>
          <a:ln w="889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43" name="Text 26"/>
          <p:cNvSpPr>
            <a:spLocks noGrp="1"/>
          </p:cNvSpPr>
          <p:nvPr/>
        </p:nvSpPr>
        <p:spPr>
          <a:xfrm>
            <a:off x="1847160" y="6473880"/>
            <a:ext cx="48459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8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 Fintech · M2 Functional Acceptance · Confidential</a:t>
            </a:r>
            <a:endParaRPr sz="8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44" name="Text 27"/>
          <p:cNvSpPr>
            <a:spLocks noGrp="1"/>
          </p:cNvSpPr>
          <p:nvPr/>
        </p:nvSpPr>
        <p:spPr>
          <a:xfrm>
            <a:off x="10991160" y="6446520"/>
            <a:ext cx="8956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</a:t>
            </a: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5</a:t>
            </a:r>
            <a:r>
              <a:rPr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 / </a:t>
            </a: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34</a:t>
            </a:r>
            <a:endParaRPr lang="en-US" sz="13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6" name="Rounded Rectangle 30"/>
          <p:cNvSpPr>
            <a:spLocks noGrp="1"/>
          </p:cNvSpPr>
          <p:nvPr/>
        </p:nvSpPr>
        <p:spPr>
          <a:xfrm>
            <a:off x="4658360" y="4156710"/>
            <a:ext cx="6953885" cy="1662430"/>
          </a:xfrm>
          <a:prstGeom prst="roundRect">
            <a:avLst>
              <a:gd name="adj" fmla="val 9499"/>
            </a:avLst>
          </a:prstGeom>
          <a:solidFill>
            <a:srgbClr val="FFFFFF"/>
          </a:solidFill>
          <a:ln>
            <a:solidFill>
              <a:srgbClr val="DA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/>
        </p:txBody>
      </p:sp>
      <p:sp>
        <p:nvSpPr>
          <p:cNvPr id="108" name="Rounded Rectangle 30"/>
          <p:cNvSpPr>
            <a:spLocks noGrp="1"/>
          </p:cNvSpPr>
          <p:nvPr/>
        </p:nvSpPr>
        <p:spPr>
          <a:xfrm>
            <a:off x="2176145" y="1948180"/>
            <a:ext cx="6953885" cy="1681480"/>
          </a:xfrm>
          <a:prstGeom prst="roundRect">
            <a:avLst>
              <a:gd name="adj" fmla="val 9499"/>
            </a:avLst>
          </a:prstGeom>
          <a:solidFill>
            <a:srgbClr val="FFFFFF"/>
          </a:solidFill>
          <a:ln>
            <a:solidFill>
              <a:srgbClr val="DA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/>
        </p:txBody>
      </p:sp>
      <p:sp>
        <p:nvSpPr>
          <p:cNvPr id="7" name="文本框 6"/>
          <p:cNvSpPr txBox="1"/>
          <p:nvPr/>
        </p:nvSpPr>
        <p:spPr>
          <a:xfrm>
            <a:off x="4370070" y="2066290"/>
            <a:ext cx="46221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000"/>
              <a:t>Confirm Verify Email opens after registration. Show the disabled state below six digits, enter a complete code, then tap Verify and Continue.</a:t>
            </a:r>
            <a:endParaRPr lang="en-US" altLang="zh-CN" sz="1000"/>
          </a:p>
        </p:txBody>
      </p:sp>
      <p:sp>
        <p:nvSpPr>
          <p:cNvPr id="75" name="TextBox 31"/>
          <p:cNvSpPr>
            <a:spLocks noGrp="1"/>
          </p:cNvSpPr>
          <p:nvPr/>
        </p:nvSpPr>
        <p:spPr>
          <a:xfrm>
            <a:off x="4360545" y="1673860"/>
            <a:ext cx="74422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F4B800"/>
                </a:solidFill>
                <a:latin typeface="Calibri"/>
                <a:ea typeface="Calibri"/>
                <a:cs typeface="Calibri"/>
              </a:rPr>
              <a:t>0</a:t>
            </a:r>
            <a:r>
              <a:rPr lang="en-US" sz="2000" b="1" u="none">
                <a:solidFill>
                  <a:srgbClr val="F4B800"/>
                </a:solidFill>
                <a:latin typeface="Calibri"/>
                <a:ea typeface="Calibri"/>
                <a:cs typeface="Calibri"/>
              </a:rPr>
              <a:t>3</a:t>
            </a:r>
            <a:endParaRPr lang="en-US" sz="2000" b="1" u="none">
              <a:solidFill>
                <a:srgbClr val="F4B8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Box 31"/>
          <p:cNvSpPr>
            <a:spLocks noGrp="1"/>
          </p:cNvSpPr>
          <p:nvPr/>
        </p:nvSpPr>
        <p:spPr>
          <a:xfrm>
            <a:off x="8589645" y="3877310"/>
            <a:ext cx="74422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2000" b="1" u="none">
                <a:solidFill>
                  <a:srgbClr val="F4B800"/>
                </a:solidFill>
                <a:latin typeface="Calibri"/>
                <a:ea typeface="Calibri"/>
                <a:cs typeface="Calibri"/>
              </a:rPr>
              <a:t>0</a:t>
            </a:r>
            <a:r>
              <a:rPr lang="en-US" sz="2000" b="1" u="none">
                <a:solidFill>
                  <a:srgbClr val="F4B800"/>
                </a:solidFill>
                <a:latin typeface="Calibri"/>
                <a:ea typeface="Calibri"/>
                <a:cs typeface="Calibri"/>
              </a:rPr>
              <a:t>4</a:t>
            </a:r>
            <a:endParaRPr lang="en-US" sz="2000" b="1" u="none">
              <a:solidFill>
                <a:srgbClr val="F4B8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810125" y="4277360"/>
            <a:ext cx="46221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000"/>
              <a:t>Confirm successful registration opens Markets. Repeat the accepted existing-account path and verify that both paths reach the same default landing.</a:t>
            </a:r>
            <a:endParaRPr lang="en-US" altLang="zh-CN" sz="1000"/>
          </a:p>
        </p:txBody>
      </p:sp>
      <p:sp>
        <p:nvSpPr>
          <p:cNvPr id="12" name="Rounded Rectangle 30"/>
          <p:cNvSpPr>
            <a:spLocks noGrp="1"/>
          </p:cNvSpPr>
          <p:nvPr/>
        </p:nvSpPr>
        <p:spPr>
          <a:xfrm>
            <a:off x="4438650" y="2724150"/>
            <a:ext cx="4553585" cy="755015"/>
          </a:xfrm>
          <a:prstGeom prst="roundRect">
            <a:avLst>
              <a:gd name="adj" fmla="val 6976"/>
            </a:avLst>
          </a:prstGeom>
          <a:solidFill>
            <a:srgbClr val="F5F7FD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/>
        </p:txBody>
      </p:sp>
      <p:sp>
        <p:nvSpPr>
          <p:cNvPr id="11" name="文本框 10"/>
          <p:cNvSpPr txBox="1"/>
          <p:nvPr/>
        </p:nvSpPr>
        <p:spPr>
          <a:xfrm>
            <a:off x="4491990" y="2798445"/>
            <a:ext cx="4500245" cy="5892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900" b="1">
                <a:solidFill>
                  <a:schemeClr val="tx1"/>
                </a:solidFill>
                <a:latin typeface="Georgia" panose="02040502050405090303" charset="0"/>
                <a:cs typeface="Georgia" panose="02040502050405090303" charset="0"/>
              </a:rPr>
              <a:t>AC Mapping:</a:t>
            </a:r>
            <a:endParaRPr lang="en-US" altLang="zh-CN" sz="900">
              <a:solidFill>
                <a:schemeClr val="tx1"/>
              </a:solidFill>
            </a:endParaRPr>
          </a:p>
          <a:p>
            <a:pPr marL="171450" indent="-1714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900">
                <a:solidFill>
                  <a:schemeClr val="tx1"/>
                </a:solidFill>
              </a:rPr>
              <a:t>Verify and Continue is not available when the verification code is less…</a:t>
            </a:r>
            <a:endParaRPr lang="en-US" altLang="zh-CN" sz="900">
              <a:solidFill>
                <a:schemeClr val="tx1"/>
              </a:solidFill>
            </a:endParaRPr>
          </a:p>
          <a:p>
            <a:pPr marL="171450" indent="-1714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900">
                <a:solidFill>
                  <a:schemeClr val="tx1"/>
                </a:solidFill>
              </a:rPr>
              <a:t>A correct code completes account creation and signs the user in…</a:t>
            </a:r>
            <a:endParaRPr lang="en-US" altLang="zh-CN" sz="900">
              <a:solidFill>
                <a:schemeClr val="tx1"/>
              </a:solidFill>
            </a:endParaRPr>
          </a:p>
        </p:txBody>
      </p:sp>
      <p:sp>
        <p:nvSpPr>
          <p:cNvPr id="13" name="Rounded Rectangle 30"/>
          <p:cNvSpPr>
            <a:spLocks noGrp="1"/>
          </p:cNvSpPr>
          <p:nvPr/>
        </p:nvSpPr>
        <p:spPr>
          <a:xfrm>
            <a:off x="4791075" y="4923790"/>
            <a:ext cx="4553585" cy="760730"/>
          </a:xfrm>
          <a:prstGeom prst="roundRect">
            <a:avLst>
              <a:gd name="adj" fmla="val 6976"/>
            </a:avLst>
          </a:prstGeom>
          <a:solidFill>
            <a:srgbClr val="F5F7FD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/>
        </p:txBody>
      </p:sp>
      <p:sp>
        <p:nvSpPr>
          <p:cNvPr id="14" name="文本框 13"/>
          <p:cNvSpPr txBox="1"/>
          <p:nvPr/>
        </p:nvSpPr>
        <p:spPr>
          <a:xfrm>
            <a:off x="4844415" y="5006340"/>
            <a:ext cx="4500245" cy="5892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900" b="1">
                <a:solidFill>
                  <a:schemeClr val="tx1"/>
                </a:solidFill>
                <a:latin typeface="Georgia" panose="02040502050405090303" charset="0"/>
                <a:cs typeface="Georgia" panose="02040502050405090303" charset="0"/>
              </a:rPr>
              <a:t>AC Mapping:</a:t>
            </a:r>
            <a:endParaRPr lang="en-US" altLang="zh-CN" sz="900">
              <a:solidFill>
                <a:schemeClr val="tx1"/>
              </a:solidFill>
            </a:endParaRPr>
          </a:p>
          <a:p>
            <a:pPr marL="171450" indent="-1714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900">
                <a:solidFill>
                  <a:schemeClr val="tx1"/>
                </a:solidFill>
              </a:rPr>
              <a:t>Newly registered users will enter the default Markets landing page.</a:t>
            </a:r>
            <a:endParaRPr lang="en-US" altLang="zh-CN" sz="900">
              <a:solidFill>
                <a:schemeClr val="tx1"/>
              </a:solidFill>
            </a:endParaRPr>
          </a:p>
          <a:p>
            <a:pPr marL="171450" indent="-1714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900">
                <a:solidFill>
                  <a:schemeClr val="tx1"/>
                </a:solidFill>
              </a:rPr>
              <a:t>Enter the default Markets landing page after successful user authentication.</a:t>
            </a:r>
            <a:endParaRPr lang="en-US" altLang="zh-CN" sz="900">
              <a:solidFill>
                <a:schemeClr val="tx1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3725" y="1363980"/>
            <a:ext cx="2412365" cy="488378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4200" y="1357630"/>
            <a:ext cx="2412365" cy="48850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7" name="Shape 0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1C44"/>
          </a:solidFill>
          <a:ln w="12700">
            <a:solidFill>
              <a:srgbClr val="001C44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08" name="Shape 1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0000">
              <a:alpha val="2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09" name="Text 2"/>
          <p:cNvSpPr>
            <a:spLocks noGrp="1"/>
          </p:cNvSpPr>
          <p:nvPr/>
        </p:nvSpPr>
        <p:spPr>
          <a:xfrm>
            <a:off x="329040" y="320040"/>
            <a:ext cx="840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FINTECH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0" name="Shape 3"/>
          <p:cNvSpPr>
            <a:spLocks noGrp="1"/>
          </p:cNvSpPr>
          <p:nvPr/>
        </p:nvSpPr>
        <p:spPr>
          <a:xfrm>
            <a:off x="182880" y="89604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411" name="Shape 4"/>
          <p:cNvSpPr>
            <a:spLocks noGrp="1"/>
          </p:cNvSpPr>
          <p:nvPr/>
        </p:nvSpPr>
        <p:spPr>
          <a:xfrm>
            <a:off x="0" y="1792080"/>
            <a:ext cx="1481040" cy="667080"/>
          </a:xfrm>
          <a:prstGeom prst="rect">
            <a:avLst/>
          </a:prstGeom>
          <a:solidFill>
            <a:srgbClr val="006C78">
              <a:alpha val="95000"/>
            </a:srgbClr>
          </a:solidFill>
          <a:ln w="12700">
            <a:solidFill>
              <a:srgbClr val="006C78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12" name="Shape 5"/>
          <p:cNvSpPr>
            <a:spLocks noGrp="1"/>
          </p:cNvSpPr>
          <p:nvPr/>
        </p:nvSpPr>
        <p:spPr>
          <a:xfrm>
            <a:off x="0" y="1792080"/>
            <a:ext cx="50040" cy="667080"/>
          </a:xfrm>
          <a:prstGeom prst="rect">
            <a:avLst/>
          </a:prstGeom>
          <a:solidFill>
            <a:srgbClr val="F2A900"/>
          </a:solidFill>
          <a:ln w="12700">
            <a:solidFill>
              <a:srgbClr val="F2A9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13" name="Text 6"/>
          <p:cNvSpPr>
            <a:spLocks noGrp="1"/>
          </p:cNvSpPr>
          <p:nvPr/>
        </p:nvSpPr>
        <p:spPr>
          <a:xfrm>
            <a:off x="164520" y="12528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01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4" name="Text 7"/>
          <p:cNvSpPr>
            <a:spLocks noGrp="1"/>
          </p:cNvSpPr>
          <p:nvPr/>
        </p:nvSpPr>
        <p:spPr>
          <a:xfrm>
            <a:off x="493920" y="11613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Login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5" name="Text 8"/>
          <p:cNvSpPr>
            <a:spLocks noGrp="1"/>
          </p:cNvSpPr>
          <p:nvPr/>
        </p:nvSpPr>
        <p:spPr>
          <a:xfrm>
            <a:off x="164520" y="19476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02</a:t>
            </a:r>
            <a:endParaRPr sz="1050" b="0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6" name="Text 9"/>
          <p:cNvSpPr>
            <a:spLocks noGrp="1"/>
          </p:cNvSpPr>
          <p:nvPr/>
        </p:nvSpPr>
        <p:spPr>
          <a:xfrm>
            <a:off x="493920" y="18561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Market</a:t>
            </a:r>
            <a:endParaRPr sz="1010" b="0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7" name="Text 10"/>
          <p:cNvSpPr>
            <a:spLocks noGrp="1"/>
          </p:cNvSpPr>
          <p:nvPr/>
        </p:nvSpPr>
        <p:spPr>
          <a:xfrm>
            <a:off x="164520" y="26427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03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8" name="Text 11"/>
          <p:cNvSpPr>
            <a:spLocks noGrp="1"/>
          </p:cNvSpPr>
          <p:nvPr/>
        </p:nvSpPr>
        <p:spPr>
          <a:xfrm>
            <a:off x="493920" y="25513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Portfolio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9" name="Text 12"/>
          <p:cNvSpPr>
            <a:spLocks noGrp="1"/>
          </p:cNvSpPr>
          <p:nvPr/>
        </p:nvSpPr>
        <p:spPr>
          <a:xfrm>
            <a:off x="164520" y="33375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04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0" name="Text 13"/>
          <p:cNvSpPr>
            <a:spLocks noGrp="1"/>
          </p:cNvSpPr>
          <p:nvPr/>
        </p:nvSpPr>
        <p:spPr>
          <a:xfrm>
            <a:off x="493920" y="32461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Admin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1" name="Shape 20"/>
          <p:cNvSpPr>
            <a:spLocks noGrp="1"/>
          </p:cNvSpPr>
          <p:nvPr/>
        </p:nvSpPr>
        <p:spPr>
          <a:xfrm>
            <a:off x="182880" y="634572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422" name="Text 21"/>
          <p:cNvSpPr>
            <a:spLocks noGrp="1"/>
          </p:cNvSpPr>
          <p:nvPr/>
        </p:nvSpPr>
        <p:spPr>
          <a:xfrm>
            <a:off x="1847160" y="311040"/>
            <a:ext cx="10039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02  Market</a:t>
            </a:r>
            <a:endParaRPr sz="27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3" name="Text 22"/>
          <p:cNvSpPr>
            <a:spLocks noGrp="1"/>
          </p:cNvSpPr>
          <p:nvPr/>
        </p:nvSpPr>
        <p:spPr>
          <a:xfrm>
            <a:off x="1847160" y="841320"/>
            <a:ext cx="10039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4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A complete research flow from market direction to ETF comparison and saving</a:t>
            </a:r>
            <a:endParaRPr sz="14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4" name="Shape 23"/>
          <p:cNvSpPr>
            <a:spLocks noGrp="1"/>
          </p:cNvSpPr>
          <p:nvPr/>
        </p:nvSpPr>
        <p:spPr>
          <a:xfrm>
            <a:off x="1847160" y="1152000"/>
            <a:ext cx="502560" cy="31680"/>
          </a:xfrm>
          <a:prstGeom prst="rect">
            <a:avLst/>
          </a:prstGeom>
          <a:solidFill>
            <a:srgbClr val="006C78"/>
          </a:solidFill>
          <a:ln w="10160">
            <a:solidFill>
              <a:srgbClr val="006C78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2960" rIns="90000" bIns="-12960" anchor="t">
            <a:noAutofit/>
          </a:bodyPr>
          <a:lstStyle/>
          <a:p/>
        </p:txBody>
      </p:sp>
      <p:sp>
        <p:nvSpPr>
          <p:cNvPr id="425" name="Shape 24"/>
          <p:cNvSpPr>
            <a:spLocks noGrp="1"/>
          </p:cNvSpPr>
          <p:nvPr/>
        </p:nvSpPr>
        <p:spPr>
          <a:xfrm>
            <a:off x="1846800" y="1179360"/>
            <a:ext cx="10022040" cy="360"/>
          </a:xfrm>
          <a:prstGeom prst="line">
            <a:avLst/>
          </a:prstGeom>
          <a:ln w="1016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426" name="Shape 25"/>
          <p:cNvSpPr>
            <a:spLocks noGrp="1"/>
          </p:cNvSpPr>
          <p:nvPr/>
        </p:nvSpPr>
        <p:spPr>
          <a:xfrm>
            <a:off x="1846800" y="6373080"/>
            <a:ext cx="10022040" cy="360"/>
          </a:xfrm>
          <a:prstGeom prst="line">
            <a:avLst/>
          </a:prstGeom>
          <a:ln w="889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427" name="Text 26"/>
          <p:cNvSpPr>
            <a:spLocks noGrp="1"/>
          </p:cNvSpPr>
          <p:nvPr/>
        </p:nvSpPr>
        <p:spPr>
          <a:xfrm>
            <a:off x="1847160" y="6473880"/>
            <a:ext cx="48459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8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 Fintech · M2 Functional Acceptance · Confidential</a:t>
            </a:r>
            <a:endParaRPr sz="8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8" name="Text 27"/>
          <p:cNvSpPr>
            <a:spLocks noGrp="1"/>
          </p:cNvSpPr>
          <p:nvPr/>
        </p:nvSpPr>
        <p:spPr>
          <a:xfrm>
            <a:off x="10991183" y="6446520"/>
            <a:ext cx="895636" cy="255556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</a:t>
            </a: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6</a:t>
            </a:r>
            <a:r>
              <a:rPr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 / </a:t>
            </a: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34</a:t>
            </a:r>
            <a:endParaRPr lang="en-US" sz="13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pic>
        <p:nvPicPr>
          <p:cNvPr id="2" name="图片 1" descr="018626a01425b7381deb254d456766ac3cf3772f3df5f8fa4aedb6d94fa8f3d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6745" y="1199515"/>
            <a:ext cx="6904355" cy="51562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025" y="1363980"/>
            <a:ext cx="2383155" cy="4824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3" name="Shape 0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1C44"/>
          </a:solidFill>
          <a:ln w="12700">
            <a:solidFill>
              <a:srgbClr val="001C44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4" name="Shape 1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0000">
              <a:alpha val="2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5" name="Text 2"/>
          <p:cNvSpPr>
            <a:spLocks noGrp="1"/>
          </p:cNvSpPr>
          <p:nvPr/>
        </p:nvSpPr>
        <p:spPr>
          <a:xfrm>
            <a:off x="329040" y="320040"/>
            <a:ext cx="840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FINTECH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26" name="Shape 3"/>
          <p:cNvSpPr>
            <a:spLocks noGrp="1"/>
          </p:cNvSpPr>
          <p:nvPr/>
        </p:nvSpPr>
        <p:spPr>
          <a:xfrm>
            <a:off x="182880" y="89604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27" name="Shape 4"/>
          <p:cNvSpPr>
            <a:spLocks noGrp="1"/>
          </p:cNvSpPr>
          <p:nvPr/>
        </p:nvSpPr>
        <p:spPr>
          <a:xfrm>
            <a:off x="0" y="1097280"/>
            <a:ext cx="1481040" cy="667080"/>
          </a:xfrm>
          <a:prstGeom prst="rect">
            <a:avLst/>
          </a:prstGeom>
          <a:solidFill>
            <a:srgbClr val="006C78">
              <a:alpha val="95000"/>
            </a:srgbClr>
          </a:solidFill>
          <a:ln w="12700">
            <a:solidFill>
              <a:srgbClr val="006C78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8" name="Shape 5"/>
          <p:cNvSpPr>
            <a:spLocks noGrp="1"/>
          </p:cNvSpPr>
          <p:nvPr/>
        </p:nvSpPr>
        <p:spPr>
          <a:xfrm>
            <a:off x="0" y="1097280"/>
            <a:ext cx="50040" cy="667080"/>
          </a:xfrm>
          <a:prstGeom prst="rect">
            <a:avLst/>
          </a:prstGeom>
          <a:solidFill>
            <a:srgbClr val="F2A900"/>
          </a:solidFill>
          <a:ln w="12700">
            <a:solidFill>
              <a:srgbClr val="F2A9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129" name="Text 6"/>
          <p:cNvSpPr>
            <a:spLocks noGrp="1"/>
          </p:cNvSpPr>
          <p:nvPr/>
        </p:nvSpPr>
        <p:spPr>
          <a:xfrm>
            <a:off x="164520" y="12528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fontScale="9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01</a:t>
            </a:r>
            <a:endParaRPr sz="1050" b="0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0" name="Text 7"/>
          <p:cNvSpPr>
            <a:spLocks noGrp="1"/>
          </p:cNvSpPr>
          <p:nvPr/>
        </p:nvSpPr>
        <p:spPr>
          <a:xfrm>
            <a:off x="493920" y="11613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Login</a:t>
            </a:r>
            <a:endParaRPr sz="1010" b="0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1" name="Text 8"/>
          <p:cNvSpPr>
            <a:spLocks noGrp="1"/>
          </p:cNvSpPr>
          <p:nvPr/>
        </p:nvSpPr>
        <p:spPr>
          <a:xfrm>
            <a:off x="164520" y="19476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fontScale="9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02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2" name="Text 9"/>
          <p:cNvSpPr>
            <a:spLocks noGrp="1"/>
          </p:cNvSpPr>
          <p:nvPr/>
        </p:nvSpPr>
        <p:spPr>
          <a:xfrm>
            <a:off x="493920" y="18561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Market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3" name="Text 10"/>
          <p:cNvSpPr>
            <a:spLocks noGrp="1"/>
          </p:cNvSpPr>
          <p:nvPr/>
        </p:nvSpPr>
        <p:spPr>
          <a:xfrm>
            <a:off x="164520" y="26427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fontScale="9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03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4" name="Text 11"/>
          <p:cNvSpPr>
            <a:spLocks noGrp="1"/>
          </p:cNvSpPr>
          <p:nvPr/>
        </p:nvSpPr>
        <p:spPr>
          <a:xfrm>
            <a:off x="493920" y="25513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Portfolio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5" name="Text 12"/>
          <p:cNvSpPr>
            <a:spLocks noGrp="1"/>
          </p:cNvSpPr>
          <p:nvPr/>
        </p:nvSpPr>
        <p:spPr>
          <a:xfrm>
            <a:off x="164520" y="33375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fontScale="9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04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6" name="Text 13"/>
          <p:cNvSpPr>
            <a:spLocks noGrp="1"/>
          </p:cNvSpPr>
          <p:nvPr/>
        </p:nvSpPr>
        <p:spPr>
          <a:xfrm>
            <a:off x="493920" y="32461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Admin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7" name="Shape 20"/>
          <p:cNvSpPr>
            <a:spLocks noGrp="1"/>
          </p:cNvSpPr>
          <p:nvPr/>
        </p:nvSpPr>
        <p:spPr>
          <a:xfrm>
            <a:off x="182880" y="634572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38" name="Text 21"/>
          <p:cNvSpPr>
            <a:spLocks noGrp="1"/>
          </p:cNvSpPr>
          <p:nvPr/>
        </p:nvSpPr>
        <p:spPr>
          <a:xfrm>
            <a:off x="1847160" y="311040"/>
            <a:ext cx="10039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fontScale="90000"/>
          </a:bodyPr>
          <a:lstStyle/>
          <a:p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01  </a:t>
            </a:r>
            <a:r>
              <a:rPr lang="en-US" altLang="zh-CN"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User Story 1 — Establish research direction from Market Intelligence</a:t>
            </a:r>
            <a:endParaRPr lang="en-US" altLang="zh-CN" sz="27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39" name="Text 22"/>
          <p:cNvSpPr>
            <a:spLocks noGrp="1"/>
          </p:cNvSpPr>
          <p:nvPr/>
        </p:nvSpPr>
        <p:spPr>
          <a:xfrm>
            <a:off x="1847160" y="841320"/>
            <a:ext cx="10039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zh-CN" sz="14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Daily breadth, signals and discovery rails produce the next sector research target.</a:t>
            </a:r>
            <a:endParaRPr lang="en-US" altLang="zh-CN" sz="14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40" name="Shape 23"/>
          <p:cNvSpPr>
            <a:spLocks noGrp="1"/>
          </p:cNvSpPr>
          <p:nvPr/>
        </p:nvSpPr>
        <p:spPr>
          <a:xfrm>
            <a:off x="1847160" y="1152000"/>
            <a:ext cx="502560" cy="31680"/>
          </a:xfrm>
          <a:prstGeom prst="rect">
            <a:avLst/>
          </a:prstGeom>
          <a:solidFill>
            <a:srgbClr val="006C78"/>
          </a:solidFill>
          <a:ln w="10160">
            <a:solidFill>
              <a:srgbClr val="006C78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2960" rIns="90000" bIns="-12960" anchor="t">
            <a:noAutofit/>
          </a:bodyPr>
          <a:lstStyle/>
          <a:p/>
        </p:txBody>
      </p:sp>
      <p:sp>
        <p:nvSpPr>
          <p:cNvPr id="141" name="Shape 24"/>
          <p:cNvSpPr>
            <a:spLocks noGrp="1"/>
          </p:cNvSpPr>
          <p:nvPr/>
        </p:nvSpPr>
        <p:spPr>
          <a:xfrm>
            <a:off x="1846800" y="1179360"/>
            <a:ext cx="10022040" cy="360"/>
          </a:xfrm>
          <a:prstGeom prst="line">
            <a:avLst/>
          </a:prstGeom>
          <a:ln w="1016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42" name="Shape 25"/>
          <p:cNvSpPr>
            <a:spLocks noGrp="1"/>
          </p:cNvSpPr>
          <p:nvPr/>
        </p:nvSpPr>
        <p:spPr>
          <a:xfrm>
            <a:off x="1846800" y="6373080"/>
            <a:ext cx="10022040" cy="360"/>
          </a:xfrm>
          <a:prstGeom prst="line">
            <a:avLst/>
          </a:prstGeom>
          <a:ln w="889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143" name="Text 26"/>
          <p:cNvSpPr>
            <a:spLocks noGrp="1"/>
          </p:cNvSpPr>
          <p:nvPr/>
        </p:nvSpPr>
        <p:spPr>
          <a:xfrm>
            <a:off x="1847160" y="6473880"/>
            <a:ext cx="48459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8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 Fintech · M2 Functional Acceptance · Confidential</a:t>
            </a:r>
            <a:endParaRPr sz="8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44" name="Text 27"/>
          <p:cNvSpPr>
            <a:spLocks noGrp="1"/>
          </p:cNvSpPr>
          <p:nvPr/>
        </p:nvSpPr>
        <p:spPr>
          <a:xfrm>
            <a:off x="10991160" y="6446520"/>
            <a:ext cx="8956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</a:t>
            </a: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7</a:t>
            </a:r>
            <a:r>
              <a:rPr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 / </a:t>
            </a: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34</a:t>
            </a:r>
            <a:endParaRPr lang="en-US" sz="13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108" name="Rounded Rectangle 30"/>
          <p:cNvSpPr>
            <a:spLocks noGrp="1"/>
          </p:cNvSpPr>
          <p:nvPr/>
        </p:nvSpPr>
        <p:spPr>
          <a:xfrm>
            <a:off x="2038350" y="1542415"/>
            <a:ext cx="2806700" cy="4657725"/>
          </a:xfrm>
          <a:prstGeom prst="roundRect">
            <a:avLst>
              <a:gd name="adj" fmla="val 9499"/>
            </a:avLst>
          </a:prstGeom>
          <a:solidFill>
            <a:srgbClr val="FFFFFF"/>
          </a:solidFill>
          <a:ln>
            <a:solidFill>
              <a:srgbClr val="DA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/>
        </p:txBody>
      </p:sp>
      <p:sp>
        <p:nvSpPr>
          <p:cNvPr id="7" name="文本框 6"/>
          <p:cNvSpPr txBox="1"/>
          <p:nvPr/>
        </p:nvSpPr>
        <p:spPr>
          <a:xfrm>
            <a:off x="3492500" y="1826260"/>
            <a:ext cx="1148715" cy="25692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000"/>
              <a:t>Open Market Intelligence, explain its research-only role, then scan sector blocks and the Rising / Flat / Falling breadth summary.</a:t>
            </a:r>
            <a:endParaRPr lang="en-US" altLang="zh-CN" sz="1000"/>
          </a:p>
        </p:txBody>
      </p:sp>
      <p:sp>
        <p:nvSpPr>
          <p:cNvPr id="75" name="TextBox 31"/>
          <p:cNvSpPr>
            <a:spLocks noGrp="1"/>
          </p:cNvSpPr>
          <p:nvPr/>
        </p:nvSpPr>
        <p:spPr>
          <a:xfrm>
            <a:off x="3492500" y="1306195"/>
            <a:ext cx="74422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F4B800"/>
                </a:solidFill>
                <a:latin typeface="Calibri"/>
                <a:ea typeface="Calibri"/>
                <a:cs typeface="Calibri"/>
              </a:rPr>
              <a:t>0</a:t>
            </a:r>
            <a:r>
              <a:rPr lang="en-US" sz="2000" b="1" u="none">
                <a:solidFill>
                  <a:srgbClr val="F4B800"/>
                </a:solidFill>
                <a:latin typeface="Calibri"/>
                <a:ea typeface="Calibri"/>
                <a:cs typeface="Calibri"/>
              </a:rPr>
              <a:t>3</a:t>
            </a:r>
            <a:endParaRPr lang="en-US" sz="2000" b="1" u="none">
              <a:solidFill>
                <a:srgbClr val="F4B8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Rounded Rectangle 30"/>
          <p:cNvSpPr>
            <a:spLocks noGrp="1"/>
          </p:cNvSpPr>
          <p:nvPr/>
        </p:nvSpPr>
        <p:spPr>
          <a:xfrm>
            <a:off x="2190115" y="4667885"/>
            <a:ext cx="2510155" cy="1369695"/>
          </a:xfrm>
          <a:prstGeom prst="roundRect">
            <a:avLst>
              <a:gd name="adj" fmla="val 6976"/>
            </a:avLst>
          </a:prstGeom>
          <a:solidFill>
            <a:srgbClr val="F5F7FD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/>
        </p:txBody>
      </p:sp>
      <p:sp>
        <p:nvSpPr>
          <p:cNvPr id="11" name="文本框 10"/>
          <p:cNvSpPr txBox="1"/>
          <p:nvPr/>
        </p:nvSpPr>
        <p:spPr>
          <a:xfrm>
            <a:off x="2247265" y="4667250"/>
            <a:ext cx="2411095" cy="13703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900" b="1">
                <a:solidFill>
                  <a:schemeClr val="tx1"/>
                </a:solidFill>
                <a:latin typeface="Georgia" panose="02040502050405090303" charset="0"/>
                <a:cs typeface="Georgia" panose="02040502050405090303" charset="0"/>
              </a:rPr>
              <a:t>AC Mapping:</a:t>
            </a:r>
            <a:endParaRPr lang="en-US" altLang="zh-CN" sz="900">
              <a:solidFill>
                <a:schemeClr val="tx1"/>
              </a:solidFill>
            </a:endParaRPr>
          </a:p>
          <a:p>
            <a:pPr marL="171450" indent="-17145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800">
                <a:solidFill>
                  <a:schemeClr val="tx1"/>
                </a:solidFill>
              </a:rPr>
              <a:t>Market Intelligence loads successfully and organizes research entries into…</a:t>
            </a:r>
            <a:endParaRPr lang="en-US" altLang="zh-CN" sz="800">
              <a:solidFill>
                <a:schemeClr val="tx1"/>
              </a:solidFill>
            </a:endParaRPr>
          </a:p>
          <a:p>
            <a:pPr marL="171450" indent="-17145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800">
                <a:solidFill>
                  <a:schemeClr val="tx1"/>
                </a:solidFill>
              </a:rPr>
              <a:t>Each visible color block in Sector Heatmap displays the sector/theme name…</a:t>
            </a:r>
            <a:endParaRPr lang="en-US" altLang="zh-CN" sz="800">
              <a:solidFill>
                <a:schemeClr val="tx1"/>
              </a:solidFill>
            </a:endParaRPr>
          </a:p>
          <a:p>
            <a:pPr marL="171450" indent="-17145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800">
                <a:solidFill>
                  <a:schemeClr val="tx1"/>
                </a:solidFill>
              </a:rPr>
              <a:t>Rising, Flat, Falling summary corresponds to the current heat map data.</a:t>
            </a:r>
            <a:endParaRPr lang="en-US" altLang="zh-CN" sz="800">
              <a:solidFill>
                <a:schemeClr val="tx1"/>
              </a:solidFill>
            </a:endParaRPr>
          </a:p>
          <a:p>
            <a:pPr marL="171450" indent="-17145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800">
                <a:solidFill>
                  <a:schemeClr val="tx1"/>
                </a:solidFill>
              </a:rPr>
              <a:t>The page does not represent market signals, sector performance…</a:t>
            </a:r>
            <a:endParaRPr lang="en-US" altLang="zh-CN" sz="800">
              <a:solidFill>
                <a:schemeClr val="tx1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1020" y="1301750"/>
            <a:ext cx="1603375" cy="3246120"/>
          </a:xfrm>
          <a:prstGeom prst="rect">
            <a:avLst/>
          </a:prstGeom>
        </p:spPr>
      </p:pic>
      <p:sp>
        <p:nvSpPr>
          <p:cNvPr id="9" name="Rounded Rectangle 30"/>
          <p:cNvSpPr>
            <a:spLocks noGrp="1"/>
          </p:cNvSpPr>
          <p:nvPr/>
        </p:nvSpPr>
        <p:spPr>
          <a:xfrm>
            <a:off x="5524500" y="1536065"/>
            <a:ext cx="2806700" cy="4657725"/>
          </a:xfrm>
          <a:prstGeom prst="roundRect">
            <a:avLst>
              <a:gd name="adj" fmla="val 9499"/>
            </a:avLst>
          </a:prstGeom>
          <a:solidFill>
            <a:srgbClr val="FFFFFF"/>
          </a:solidFill>
          <a:ln>
            <a:solidFill>
              <a:srgbClr val="DA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/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1930" y="1305560"/>
            <a:ext cx="1603375" cy="3246755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6943090" y="1826895"/>
            <a:ext cx="1148715" cy="25692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000"/>
              <a:t>Open an AI Market Signal with date, movement, analysis, related ETFs and sources; keep the delayed-data label visible on major indices.</a:t>
            </a:r>
            <a:endParaRPr lang="en-US" altLang="zh-CN" sz="1000"/>
          </a:p>
        </p:txBody>
      </p:sp>
      <p:sp>
        <p:nvSpPr>
          <p:cNvPr id="16" name="TextBox 31"/>
          <p:cNvSpPr>
            <a:spLocks noGrp="1"/>
          </p:cNvSpPr>
          <p:nvPr/>
        </p:nvSpPr>
        <p:spPr>
          <a:xfrm>
            <a:off x="6943090" y="1306830"/>
            <a:ext cx="74422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F4B800"/>
                </a:solidFill>
                <a:latin typeface="Calibri"/>
                <a:ea typeface="Calibri"/>
                <a:cs typeface="Calibri"/>
              </a:rPr>
              <a:t>0</a:t>
            </a:r>
            <a:r>
              <a:rPr lang="en-US" sz="2000" b="1" u="none">
                <a:solidFill>
                  <a:srgbClr val="F4B800"/>
                </a:solidFill>
                <a:latin typeface="Calibri"/>
                <a:ea typeface="Calibri"/>
                <a:cs typeface="Calibri"/>
              </a:rPr>
              <a:t>4</a:t>
            </a:r>
            <a:endParaRPr lang="en-US" sz="2000" b="1" u="none">
              <a:solidFill>
                <a:srgbClr val="F4B8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ounded Rectangle 30"/>
          <p:cNvSpPr>
            <a:spLocks noGrp="1"/>
          </p:cNvSpPr>
          <p:nvPr/>
        </p:nvSpPr>
        <p:spPr>
          <a:xfrm>
            <a:off x="5640705" y="4668520"/>
            <a:ext cx="2510155" cy="1369695"/>
          </a:xfrm>
          <a:prstGeom prst="roundRect">
            <a:avLst>
              <a:gd name="adj" fmla="val 6976"/>
            </a:avLst>
          </a:prstGeom>
          <a:solidFill>
            <a:srgbClr val="F5F7FD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/>
        </p:txBody>
      </p:sp>
      <p:sp>
        <p:nvSpPr>
          <p:cNvPr id="18" name="文本框 17"/>
          <p:cNvSpPr txBox="1"/>
          <p:nvPr/>
        </p:nvSpPr>
        <p:spPr>
          <a:xfrm>
            <a:off x="5697855" y="4716145"/>
            <a:ext cx="2411095" cy="1270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900" b="1">
                <a:solidFill>
                  <a:schemeClr val="tx1"/>
                </a:solidFill>
                <a:latin typeface="Georgia" panose="02040502050405090303" charset="0"/>
                <a:cs typeface="Georgia" panose="02040502050405090303" charset="0"/>
              </a:rPr>
              <a:t>AC Mapping:</a:t>
            </a:r>
            <a:endParaRPr lang="en-US" altLang="zh-CN" sz="900">
              <a:solidFill>
                <a:schemeClr val="tx1"/>
              </a:solidFill>
            </a:endParaRPr>
          </a:p>
          <a:p>
            <a:pPr marL="171450" indent="-17145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900">
                <a:solidFill>
                  <a:schemeClr val="tx1"/>
                </a:solidFill>
              </a:rPr>
              <a:t>AI Market Signals card shows signal date, detected changes…</a:t>
            </a:r>
            <a:endParaRPr lang="en-US" altLang="zh-CN" sz="900">
              <a:solidFill>
                <a:schemeClr val="tx1"/>
              </a:solidFill>
            </a:endParaRPr>
          </a:p>
          <a:p>
            <a:pPr marL="171450" indent="-17145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900">
                <a:solidFill>
                  <a:schemeClr val="tx1"/>
                </a:solidFill>
              </a:rPr>
              <a:t>Market Indices displays major indices and available change data…</a:t>
            </a:r>
            <a:endParaRPr lang="en-US" altLang="zh-CN" sz="900">
              <a:solidFill>
                <a:schemeClr val="tx1"/>
              </a:solidFill>
            </a:endParaRPr>
          </a:p>
        </p:txBody>
      </p:sp>
      <p:sp>
        <p:nvSpPr>
          <p:cNvPr id="19" name="Rounded Rectangle 30"/>
          <p:cNvSpPr>
            <a:spLocks noGrp="1"/>
          </p:cNvSpPr>
          <p:nvPr/>
        </p:nvSpPr>
        <p:spPr>
          <a:xfrm>
            <a:off x="9011285" y="1550035"/>
            <a:ext cx="2806700" cy="4657725"/>
          </a:xfrm>
          <a:prstGeom prst="roundRect">
            <a:avLst>
              <a:gd name="adj" fmla="val 9499"/>
            </a:avLst>
          </a:prstGeom>
          <a:solidFill>
            <a:srgbClr val="FFFFFF"/>
          </a:solidFill>
          <a:ln>
            <a:solidFill>
              <a:srgbClr val="DA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/>
        </p:txBody>
      </p:sp>
      <p:sp>
        <p:nvSpPr>
          <p:cNvPr id="21" name="文本框 20"/>
          <p:cNvSpPr txBox="1"/>
          <p:nvPr/>
        </p:nvSpPr>
        <p:spPr>
          <a:xfrm>
            <a:off x="10429875" y="1840865"/>
            <a:ext cx="1148715" cy="25692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000"/>
              <a:t>Switch Default / Hot sectors, inspect Recommended ETFs and View all, then open a sector to continue into Sector Detail.</a:t>
            </a:r>
            <a:endParaRPr lang="en-US" altLang="zh-CN" sz="1000"/>
          </a:p>
        </p:txBody>
      </p:sp>
      <p:sp>
        <p:nvSpPr>
          <p:cNvPr id="22" name="TextBox 31"/>
          <p:cNvSpPr>
            <a:spLocks noGrp="1"/>
          </p:cNvSpPr>
          <p:nvPr/>
        </p:nvSpPr>
        <p:spPr>
          <a:xfrm>
            <a:off x="10429875" y="1320800"/>
            <a:ext cx="74422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F4B800"/>
                </a:solidFill>
                <a:latin typeface="Calibri"/>
                <a:ea typeface="Calibri"/>
                <a:cs typeface="Calibri"/>
              </a:rPr>
              <a:t>0</a:t>
            </a:r>
            <a:r>
              <a:rPr lang="en-US" sz="2000" b="1" u="none">
                <a:solidFill>
                  <a:srgbClr val="F4B800"/>
                </a:solidFill>
                <a:latin typeface="Calibri"/>
                <a:ea typeface="Calibri"/>
                <a:cs typeface="Calibri"/>
              </a:rPr>
              <a:t>5</a:t>
            </a:r>
            <a:endParaRPr lang="en-US" sz="2000" b="1" u="none">
              <a:solidFill>
                <a:srgbClr val="F4B8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Rounded Rectangle 30"/>
          <p:cNvSpPr>
            <a:spLocks noGrp="1"/>
          </p:cNvSpPr>
          <p:nvPr/>
        </p:nvSpPr>
        <p:spPr>
          <a:xfrm>
            <a:off x="9127490" y="4682490"/>
            <a:ext cx="2510155" cy="1369695"/>
          </a:xfrm>
          <a:prstGeom prst="roundRect">
            <a:avLst>
              <a:gd name="adj" fmla="val 6976"/>
            </a:avLst>
          </a:prstGeom>
          <a:solidFill>
            <a:srgbClr val="F5F7FD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/>
        </p:txBody>
      </p:sp>
      <p:sp>
        <p:nvSpPr>
          <p:cNvPr id="24" name="文本框 23"/>
          <p:cNvSpPr txBox="1"/>
          <p:nvPr/>
        </p:nvSpPr>
        <p:spPr>
          <a:xfrm>
            <a:off x="9184640" y="4730115"/>
            <a:ext cx="2411095" cy="1270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900" b="1">
                <a:solidFill>
                  <a:schemeClr val="tx1"/>
                </a:solidFill>
                <a:latin typeface="Georgia" panose="02040502050405090303" charset="0"/>
                <a:cs typeface="Georgia" panose="02040502050405090303" charset="0"/>
              </a:rPr>
              <a:t>AC Mapping:</a:t>
            </a:r>
            <a:endParaRPr lang="en-US" altLang="zh-CN" sz="900">
              <a:solidFill>
                <a:schemeClr val="tx1"/>
              </a:solidFill>
            </a:endParaRPr>
          </a:p>
          <a:p>
            <a:pPr marL="171450" indent="-17145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800">
                <a:solidFill>
                  <a:schemeClr val="tx1"/>
                </a:solidFill>
              </a:rPr>
              <a:t>Market Discovery Rail supports continuing research from sectors, ETF movers…</a:t>
            </a:r>
            <a:endParaRPr lang="en-US" altLang="zh-CN" sz="800">
              <a:solidFill>
                <a:schemeClr val="tx1"/>
              </a:solidFill>
            </a:endParaRPr>
          </a:p>
          <a:p>
            <a:pPr marL="171450" indent="-17145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800">
                <a:solidFill>
                  <a:schemeClr val="tx1"/>
                </a:solidFill>
              </a:rPr>
              <a:t>The Default and Hot scopes in Sectors can be switched…</a:t>
            </a:r>
            <a:endParaRPr lang="en-US" altLang="zh-CN" sz="800">
              <a:solidFill>
                <a:schemeClr val="tx1"/>
              </a:solidFill>
            </a:endParaRPr>
          </a:p>
          <a:p>
            <a:pPr marL="171450" indent="-17145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800">
                <a:solidFill>
                  <a:schemeClr val="tx1"/>
                </a:solidFill>
              </a:rPr>
              <a:t>Recommended ETFs is a curated pool rather than the full ETF universe…</a:t>
            </a:r>
            <a:endParaRPr lang="en-US" altLang="zh-CN" sz="800">
              <a:solidFill>
                <a:schemeClr val="tx1"/>
              </a:solidFill>
            </a:endParaRPr>
          </a:p>
          <a:p>
            <a:pPr marL="171450" indent="-17145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sz="800">
                <a:solidFill>
                  <a:schemeClr val="tx1"/>
                </a:solidFill>
              </a:rPr>
              <a:t>After clicking on a sector, the Sector Detail matching the selected sector…</a:t>
            </a:r>
            <a:endParaRPr lang="en-US" altLang="zh-CN" sz="800">
              <a:solidFill>
                <a:schemeClr val="tx1"/>
              </a:solidFill>
            </a:endParaRPr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8080" y="1320800"/>
            <a:ext cx="1604010" cy="32473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7" name="Shape 0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1C44"/>
          </a:solidFill>
          <a:ln w="12700">
            <a:solidFill>
              <a:srgbClr val="001C44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08" name="Shape 1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0000">
              <a:alpha val="2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09" name="Text 2"/>
          <p:cNvSpPr>
            <a:spLocks noGrp="1"/>
          </p:cNvSpPr>
          <p:nvPr/>
        </p:nvSpPr>
        <p:spPr>
          <a:xfrm>
            <a:off x="329040" y="320040"/>
            <a:ext cx="840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FINTECH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0" name="Shape 3"/>
          <p:cNvSpPr>
            <a:spLocks noGrp="1"/>
          </p:cNvSpPr>
          <p:nvPr/>
        </p:nvSpPr>
        <p:spPr>
          <a:xfrm>
            <a:off x="182880" y="89604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411" name="Shape 4"/>
          <p:cNvSpPr>
            <a:spLocks noGrp="1"/>
          </p:cNvSpPr>
          <p:nvPr/>
        </p:nvSpPr>
        <p:spPr>
          <a:xfrm>
            <a:off x="0" y="2455020"/>
            <a:ext cx="1481040" cy="667080"/>
          </a:xfrm>
          <a:prstGeom prst="rect">
            <a:avLst/>
          </a:prstGeom>
          <a:solidFill>
            <a:srgbClr val="006C78">
              <a:alpha val="95000"/>
            </a:srgbClr>
          </a:solidFill>
          <a:ln w="12700">
            <a:solidFill>
              <a:srgbClr val="006C78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12" name="Shape 5"/>
          <p:cNvSpPr>
            <a:spLocks noGrp="1"/>
          </p:cNvSpPr>
          <p:nvPr/>
        </p:nvSpPr>
        <p:spPr>
          <a:xfrm>
            <a:off x="0" y="2455020"/>
            <a:ext cx="50040" cy="667080"/>
          </a:xfrm>
          <a:prstGeom prst="rect">
            <a:avLst/>
          </a:prstGeom>
          <a:solidFill>
            <a:srgbClr val="F2A900"/>
          </a:solidFill>
          <a:ln w="12700">
            <a:solidFill>
              <a:srgbClr val="F2A9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13" name="Text 6"/>
          <p:cNvSpPr>
            <a:spLocks noGrp="1"/>
          </p:cNvSpPr>
          <p:nvPr/>
        </p:nvSpPr>
        <p:spPr>
          <a:xfrm>
            <a:off x="164520" y="12528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01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4" name="Text 7"/>
          <p:cNvSpPr>
            <a:spLocks noGrp="1"/>
          </p:cNvSpPr>
          <p:nvPr/>
        </p:nvSpPr>
        <p:spPr>
          <a:xfrm>
            <a:off x="493920" y="11613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Login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5" name="Text 8"/>
          <p:cNvSpPr>
            <a:spLocks noGrp="1"/>
          </p:cNvSpPr>
          <p:nvPr/>
        </p:nvSpPr>
        <p:spPr>
          <a:xfrm>
            <a:off x="164520" y="19476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02</a:t>
            </a:r>
            <a:endParaRPr sz="1050" b="0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6" name="Text 9"/>
          <p:cNvSpPr>
            <a:spLocks noGrp="1"/>
          </p:cNvSpPr>
          <p:nvPr/>
        </p:nvSpPr>
        <p:spPr>
          <a:xfrm>
            <a:off x="493920" y="18561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Market</a:t>
            </a:r>
            <a:endParaRPr sz="1010" b="0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7" name="Text 10"/>
          <p:cNvSpPr>
            <a:spLocks noGrp="1"/>
          </p:cNvSpPr>
          <p:nvPr/>
        </p:nvSpPr>
        <p:spPr>
          <a:xfrm>
            <a:off x="164520" y="26427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03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8" name="Text 11"/>
          <p:cNvSpPr>
            <a:spLocks noGrp="1"/>
          </p:cNvSpPr>
          <p:nvPr/>
        </p:nvSpPr>
        <p:spPr>
          <a:xfrm>
            <a:off x="493920" y="25513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Portfolio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9" name="Text 12"/>
          <p:cNvSpPr>
            <a:spLocks noGrp="1"/>
          </p:cNvSpPr>
          <p:nvPr/>
        </p:nvSpPr>
        <p:spPr>
          <a:xfrm>
            <a:off x="164520" y="33375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04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0" name="Text 13"/>
          <p:cNvSpPr>
            <a:spLocks noGrp="1"/>
          </p:cNvSpPr>
          <p:nvPr/>
        </p:nvSpPr>
        <p:spPr>
          <a:xfrm>
            <a:off x="493920" y="32461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Admin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1" name="Shape 20"/>
          <p:cNvSpPr>
            <a:spLocks noGrp="1"/>
          </p:cNvSpPr>
          <p:nvPr/>
        </p:nvSpPr>
        <p:spPr>
          <a:xfrm>
            <a:off x="182880" y="634572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422" name="Text 21"/>
          <p:cNvSpPr>
            <a:spLocks noGrp="1"/>
          </p:cNvSpPr>
          <p:nvPr/>
        </p:nvSpPr>
        <p:spPr>
          <a:xfrm>
            <a:off x="1847160" y="311040"/>
            <a:ext cx="10039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</a:t>
            </a:r>
            <a:r>
              <a:rPr lang="en-US"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3 </a:t>
            </a:r>
            <a:r>
              <a:rPr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 </a:t>
            </a:r>
            <a:r>
              <a:rPr lang="en-US"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Portfolio</a:t>
            </a:r>
            <a:endParaRPr lang="en-US" sz="27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3" name="Text 22"/>
          <p:cNvSpPr>
            <a:spLocks noGrp="1"/>
          </p:cNvSpPr>
          <p:nvPr/>
        </p:nvSpPr>
        <p:spPr>
          <a:xfrm>
            <a:off x="1847160" y="841320"/>
            <a:ext cx="10039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zh-CN" sz="14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Five research workflows from templates and saved holdings to analysis and baseline review</a:t>
            </a:r>
            <a:endParaRPr lang="en-US" altLang="zh-CN" sz="14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4" name="Shape 23"/>
          <p:cNvSpPr>
            <a:spLocks noGrp="1"/>
          </p:cNvSpPr>
          <p:nvPr/>
        </p:nvSpPr>
        <p:spPr>
          <a:xfrm>
            <a:off x="1847160" y="1152000"/>
            <a:ext cx="502560" cy="31680"/>
          </a:xfrm>
          <a:prstGeom prst="rect">
            <a:avLst/>
          </a:prstGeom>
          <a:solidFill>
            <a:srgbClr val="006C78"/>
          </a:solidFill>
          <a:ln w="10160">
            <a:solidFill>
              <a:srgbClr val="006C78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2960" rIns="90000" bIns="-12960" anchor="t">
            <a:noAutofit/>
          </a:bodyPr>
          <a:lstStyle/>
          <a:p/>
        </p:txBody>
      </p:sp>
      <p:sp>
        <p:nvSpPr>
          <p:cNvPr id="425" name="Shape 24"/>
          <p:cNvSpPr>
            <a:spLocks noGrp="1"/>
          </p:cNvSpPr>
          <p:nvPr/>
        </p:nvSpPr>
        <p:spPr>
          <a:xfrm>
            <a:off x="1846800" y="1179360"/>
            <a:ext cx="10022040" cy="360"/>
          </a:xfrm>
          <a:prstGeom prst="line">
            <a:avLst/>
          </a:prstGeom>
          <a:ln w="1016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426" name="Shape 25"/>
          <p:cNvSpPr>
            <a:spLocks noGrp="1"/>
          </p:cNvSpPr>
          <p:nvPr/>
        </p:nvSpPr>
        <p:spPr>
          <a:xfrm>
            <a:off x="1846800" y="6373080"/>
            <a:ext cx="10022040" cy="360"/>
          </a:xfrm>
          <a:prstGeom prst="line">
            <a:avLst/>
          </a:prstGeom>
          <a:ln w="889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427" name="Text 26"/>
          <p:cNvSpPr>
            <a:spLocks noGrp="1"/>
          </p:cNvSpPr>
          <p:nvPr/>
        </p:nvSpPr>
        <p:spPr>
          <a:xfrm>
            <a:off x="1847160" y="6473880"/>
            <a:ext cx="48459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8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 Fintech · M2 Functional Acceptance · Confidential</a:t>
            </a:r>
            <a:endParaRPr sz="8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8" name="Text 27"/>
          <p:cNvSpPr>
            <a:spLocks noGrp="1"/>
          </p:cNvSpPr>
          <p:nvPr/>
        </p:nvSpPr>
        <p:spPr>
          <a:xfrm>
            <a:off x="10991183" y="6446520"/>
            <a:ext cx="895636" cy="255556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11</a:t>
            </a:r>
            <a:r>
              <a:rPr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 / </a:t>
            </a: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34</a:t>
            </a:r>
            <a:endParaRPr lang="en-US" sz="13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pic>
        <p:nvPicPr>
          <p:cNvPr id="4" name="图片 3" descr="a9cd7aeae6903707cd431a3a33cca29c3a9691d2b465be62a8cd4a22cd5f8e8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200" y="1193800"/>
            <a:ext cx="6934200" cy="517779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430" y="1300480"/>
            <a:ext cx="2431415" cy="49244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7" name="Shape 0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1C44"/>
          </a:solidFill>
          <a:ln w="12700">
            <a:solidFill>
              <a:srgbClr val="001C44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08" name="Shape 1"/>
          <p:cNvSpPr>
            <a:spLocks noGrp="1"/>
          </p:cNvSpPr>
          <p:nvPr/>
        </p:nvSpPr>
        <p:spPr>
          <a:xfrm>
            <a:off x="0" y="0"/>
            <a:ext cx="1481040" cy="6857640"/>
          </a:xfrm>
          <a:prstGeom prst="rect">
            <a:avLst/>
          </a:prstGeom>
          <a:solidFill>
            <a:srgbClr val="000000">
              <a:alpha val="2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09" name="Text 2"/>
          <p:cNvSpPr>
            <a:spLocks noGrp="1"/>
          </p:cNvSpPr>
          <p:nvPr/>
        </p:nvSpPr>
        <p:spPr>
          <a:xfrm>
            <a:off x="329040" y="320040"/>
            <a:ext cx="840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  <a:p>
            <a:pPr>
              <a:lnSpc>
                <a:spcPct val="100000"/>
              </a:lnSpc>
              <a:buNone/>
            </a:pPr>
            <a:r>
              <a:rPr sz="1150" b="1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FINTECH</a:t>
            </a:r>
            <a:endParaRPr sz="1150" b="1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0" name="Shape 3"/>
          <p:cNvSpPr>
            <a:spLocks noGrp="1"/>
          </p:cNvSpPr>
          <p:nvPr/>
        </p:nvSpPr>
        <p:spPr>
          <a:xfrm>
            <a:off x="182880" y="89604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411" name="Shape 4"/>
          <p:cNvSpPr>
            <a:spLocks noGrp="1"/>
          </p:cNvSpPr>
          <p:nvPr/>
        </p:nvSpPr>
        <p:spPr>
          <a:xfrm>
            <a:off x="0" y="3199240"/>
            <a:ext cx="1481040" cy="667080"/>
          </a:xfrm>
          <a:prstGeom prst="rect">
            <a:avLst/>
          </a:prstGeom>
          <a:solidFill>
            <a:srgbClr val="006C78">
              <a:alpha val="95000"/>
            </a:srgbClr>
          </a:solidFill>
          <a:ln w="12700">
            <a:solidFill>
              <a:srgbClr val="006C78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12" name="Shape 5"/>
          <p:cNvSpPr>
            <a:spLocks noGrp="1"/>
          </p:cNvSpPr>
          <p:nvPr/>
        </p:nvSpPr>
        <p:spPr>
          <a:xfrm>
            <a:off x="0" y="3199240"/>
            <a:ext cx="50040" cy="667080"/>
          </a:xfrm>
          <a:prstGeom prst="rect">
            <a:avLst/>
          </a:prstGeom>
          <a:solidFill>
            <a:srgbClr val="F2A900"/>
          </a:solidFill>
          <a:ln w="12700">
            <a:solidFill>
              <a:srgbClr val="F2A900">
                <a:alpha val="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13" name="Text 6"/>
          <p:cNvSpPr>
            <a:spLocks noGrp="1"/>
          </p:cNvSpPr>
          <p:nvPr/>
        </p:nvSpPr>
        <p:spPr>
          <a:xfrm>
            <a:off x="164520" y="12528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01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4" name="Text 7"/>
          <p:cNvSpPr>
            <a:spLocks noGrp="1"/>
          </p:cNvSpPr>
          <p:nvPr/>
        </p:nvSpPr>
        <p:spPr>
          <a:xfrm>
            <a:off x="493920" y="11613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Login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5" name="Text 8"/>
          <p:cNvSpPr>
            <a:spLocks noGrp="1"/>
          </p:cNvSpPr>
          <p:nvPr/>
        </p:nvSpPr>
        <p:spPr>
          <a:xfrm>
            <a:off x="164520" y="194760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02</a:t>
            </a:r>
            <a:endParaRPr sz="1050" b="0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6" name="Text 9"/>
          <p:cNvSpPr>
            <a:spLocks noGrp="1"/>
          </p:cNvSpPr>
          <p:nvPr/>
        </p:nvSpPr>
        <p:spPr>
          <a:xfrm>
            <a:off x="493920" y="185616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FFFFFF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Market</a:t>
            </a:r>
            <a:endParaRPr sz="1010" b="0" u="none">
              <a:solidFill>
                <a:srgbClr val="FFFFFF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7" name="Text 10"/>
          <p:cNvSpPr>
            <a:spLocks noGrp="1"/>
          </p:cNvSpPr>
          <p:nvPr/>
        </p:nvSpPr>
        <p:spPr>
          <a:xfrm>
            <a:off x="164520" y="26427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03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8" name="Text 11"/>
          <p:cNvSpPr>
            <a:spLocks noGrp="1"/>
          </p:cNvSpPr>
          <p:nvPr/>
        </p:nvSpPr>
        <p:spPr>
          <a:xfrm>
            <a:off x="493920" y="25513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Portfolio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19" name="Text 12"/>
          <p:cNvSpPr>
            <a:spLocks noGrp="1"/>
          </p:cNvSpPr>
          <p:nvPr/>
        </p:nvSpPr>
        <p:spPr>
          <a:xfrm>
            <a:off x="164520" y="3337560"/>
            <a:ext cx="22824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04</a:t>
            </a:r>
            <a:endParaRPr sz="105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0" name="Text 13"/>
          <p:cNvSpPr>
            <a:spLocks noGrp="1"/>
          </p:cNvSpPr>
          <p:nvPr/>
        </p:nvSpPr>
        <p:spPr>
          <a:xfrm>
            <a:off x="493920" y="3246120"/>
            <a:ext cx="8773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1010" b="0" u="none">
                <a:solidFill>
                  <a:srgbClr val="D2DAE8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Admin</a:t>
            </a:r>
            <a:endParaRPr sz="1010" b="0" u="none">
              <a:solidFill>
                <a:srgbClr val="D2DAE8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1" name="Shape 20"/>
          <p:cNvSpPr>
            <a:spLocks noGrp="1"/>
          </p:cNvSpPr>
          <p:nvPr/>
        </p:nvSpPr>
        <p:spPr>
          <a:xfrm>
            <a:off x="182880" y="6345720"/>
            <a:ext cx="1115280" cy="360"/>
          </a:xfrm>
          <a:prstGeom prst="line">
            <a:avLst/>
          </a:prstGeom>
          <a:ln w="8890">
            <a:solidFill>
              <a:srgbClr val="FFFFFF">
                <a:alpha val="75000"/>
              </a:srgbClr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422" name="Text 21"/>
          <p:cNvSpPr>
            <a:spLocks noGrp="1"/>
          </p:cNvSpPr>
          <p:nvPr/>
        </p:nvSpPr>
        <p:spPr>
          <a:xfrm>
            <a:off x="1847160" y="311040"/>
            <a:ext cx="10039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0</a:t>
            </a:r>
            <a:r>
              <a:rPr lang="en-US"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4</a:t>
            </a:r>
            <a:r>
              <a:rPr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  </a:t>
            </a:r>
            <a:r>
              <a:rPr lang="en-US" sz="27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Admin</a:t>
            </a:r>
            <a:endParaRPr lang="en-US" sz="27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3" name="Text 22"/>
          <p:cNvSpPr>
            <a:spLocks noGrp="1"/>
          </p:cNvSpPr>
          <p:nvPr/>
        </p:nvSpPr>
        <p:spPr>
          <a:xfrm>
            <a:off x="1847160" y="841320"/>
            <a:ext cx="10039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zh-CN" sz="14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Operational visibility plus a Web Admin → shared backend → iOS verification loop</a:t>
            </a:r>
            <a:endParaRPr lang="en-US" altLang="zh-CN" sz="14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4" name="Shape 23"/>
          <p:cNvSpPr>
            <a:spLocks noGrp="1"/>
          </p:cNvSpPr>
          <p:nvPr/>
        </p:nvSpPr>
        <p:spPr>
          <a:xfrm>
            <a:off x="1847160" y="1152000"/>
            <a:ext cx="502560" cy="31680"/>
          </a:xfrm>
          <a:prstGeom prst="rect">
            <a:avLst/>
          </a:prstGeom>
          <a:solidFill>
            <a:srgbClr val="006C78"/>
          </a:solidFill>
          <a:ln w="10160">
            <a:solidFill>
              <a:srgbClr val="006C78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2960" rIns="90000" bIns="-12960" anchor="t">
            <a:noAutofit/>
          </a:bodyPr>
          <a:lstStyle/>
          <a:p/>
        </p:txBody>
      </p:sp>
      <p:sp>
        <p:nvSpPr>
          <p:cNvPr id="425" name="Shape 24"/>
          <p:cNvSpPr>
            <a:spLocks noGrp="1"/>
          </p:cNvSpPr>
          <p:nvPr/>
        </p:nvSpPr>
        <p:spPr>
          <a:xfrm>
            <a:off x="1846800" y="1179360"/>
            <a:ext cx="10022040" cy="360"/>
          </a:xfrm>
          <a:prstGeom prst="line">
            <a:avLst/>
          </a:prstGeom>
          <a:ln w="1016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426" name="Shape 25"/>
          <p:cNvSpPr>
            <a:spLocks noGrp="1"/>
          </p:cNvSpPr>
          <p:nvPr/>
        </p:nvSpPr>
        <p:spPr>
          <a:xfrm>
            <a:off x="1846800" y="6373080"/>
            <a:ext cx="10022040" cy="360"/>
          </a:xfrm>
          <a:prstGeom prst="line">
            <a:avLst/>
          </a:prstGeom>
          <a:ln w="8890">
            <a:solidFill>
              <a:srgbClr val="95A7BF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44640" rIns="90000" bIns="-44640" anchor="t">
            <a:noAutofit/>
          </a:bodyPr>
          <a:lstStyle/>
          <a:p/>
        </p:txBody>
      </p:sp>
      <p:sp>
        <p:nvSpPr>
          <p:cNvPr id="427" name="Text 26"/>
          <p:cNvSpPr>
            <a:spLocks noGrp="1"/>
          </p:cNvSpPr>
          <p:nvPr/>
        </p:nvSpPr>
        <p:spPr>
          <a:xfrm>
            <a:off x="1847160" y="6473880"/>
            <a:ext cx="48459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sz="850" b="0" u="none">
                <a:solidFill>
                  <a:srgbClr val="4F638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SUNWAH Fintech · M2 Functional Acceptance · Confidential</a:t>
            </a:r>
            <a:endParaRPr sz="850" b="0" u="none">
              <a:solidFill>
                <a:srgbClr val="4F638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sp>
        <p:nvSpPr>
          <p:cNvPr id="428" name="Text 27"/>
          <p:cNvSpPr>
            <a:spLocks noGrp="1"/>
          </p:cNvSpPr>
          <p:nvPr/>
        </p:nvSpPr>
        <p:spPr>
          <a:xfrm>
            <a:off x="10991183" y="6446520"/>
            <a:ext cx="895636" cy="255556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29</a:t>
            </a:r>
            <a:r>
              <a:rPr sz="1300" b="1" u="none">
                <a:solidFill>
                  <a:srgbClr val="001B46"/>
                </a:solidFill>
                <a:latin typeface="Georgia" panose="02040502050405090303"/>
                <a:ea typeface="Georgia" panose="02040502050405090303"/>
                <a:cs typeface="Georgia" panose="02040502050405090303"/>
              </a:rPr>
              <a:t> / 10</a:t>
            </a:r>
            <a:endParaRPr sz="1300" b="1" u="none">
              <a:solidFill>
                <a:srgbClr val="001B46"/>
              </a:solidFill>
              <a:latin typeface="Georgia" panose="02040502050405090303"/>
              <a:ea typeface="Georgia" panose="02040502050405090303"/>
              <a:cs typeface="Georgia" panose="02040502050405090303"/>
            </a:endParaRPr>
          </a:p>
        </p:txBody>
      </p:sp>
      <p:pic>
        <p:nvPicPr>
          <p:cNvPr id="4" name="图片 3" descr="a9cd7aeae6903707cd431a3a33cca29c3a9691d2b465be62a8cd4a22cd5f8e8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5760" y="1205865"/>
            <a:ext cx="6885940" cy="514159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0910" y="1633220"/>
            <a:ext cx="3439160" cy="186944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910" y="4191000"/>
            <a:ext cx="3439795" cy="18599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imSun"/>
        <a:ea typeface=""/>
        <a:cs typeface=""/>
      </a:majorFont>
      <a:minorFont>
        <a:latin typeface="Georgia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imSun"/>
        <a:ea typeface=""/>
        <a:cs typeface=""/>
      </a:majorFont>
      <a:minorFont>
        <a:latin typeface="Georgia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4622</Words>
  <Application>WPS 演示</Application>
  <PresentationFormat>Converted Presentation</PresentationFormat>
  <Paragraphs>302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4" baseType="lpstr">
      <vt:lpstr>Arial</vt:lpstr>
      <vt:lpstr>宋体</vt:lpstr>
      <vt:lpstr>Wingdings</vt:lpstr>
      <vt:lpstr>Georgia</vt:lpstr>
      <vt:lpstr>Calibri</vt:lpstr>
      <vt:lpstr>Helvetica Neue</vt:lpstr>
      <vt:lpstr>Arial</vt:lpstr>
      <vt:lpstr>微软雅黑</vt:lpstr>
      <vt:lpstr>汉仪旗黑</vt:lpstr>
      <vt:lpstr>宋体</vt:lpstr>
      <vt:lpstr>Arial Unicode MS</vt:lpstr>
      <vt:lpstr>汉仪书宋二KW</vt:lpstr>
      <vt:lpstr>Georgia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herbit</cp:lastModifiedBy>
  <cp:revision>16</cp:revision>
  <dcterms:created xsi:type="dcterms:W3CDTF">2026-07-14T02:27:05Z</dcterms:created>
  <dcterms:modified xsi:type="dcterms:W3CDTF">2026-07-14T02:27:05Z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2052-12.1.26026.26026</vt:lpwstr>
  </property>
  <property fmtid="{D5CDD505-2E9C-101B-9397-08002B2CF9AE}" pid="3" name="ICV">
    <vt:lpwstr>69C97118D0E3A8556C9E556A4E04006B_43</vt:lpwstr>
  </property>
</Properties>
</file>